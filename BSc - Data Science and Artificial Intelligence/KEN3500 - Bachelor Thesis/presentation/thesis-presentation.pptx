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6" r:id="rId1"/>
  </p:sldMasterIdLst>
  <p:notesMasterIdLst>
    <p:notesMasterId r:id="rId27"/>
  </p:notesMasterIdLst>
  <p:sldIdLst>
    <p:sldId id="256" r:id="rId2"/>
    <p:sldId id="260" r:id="rId3"/>
    <p:sldId id="259" r:id="rId4"/>
    <p:sldId id="261" r:id="rId5"/>
    <p:sldId id="257" r:id="rId6"/>
    <p:sldId id="262" r:id="rId7"/>
    <p:sldId id="263" r:id="rId8"/>
    <p:sldId id="267" r:id="rId9"/>
    <p:sldId id="268" r:id="rId10"/>
    <p:sldId id="270" r:id="rId11"/>
    <p:sldId id="271" r:id="rId12"/>
    <p:sldId id="272" r:id="rId13"/>
    <p:sldId id="273" r:id="rId14"/>
    <p:sldId id="269" r:id="rId15"/>
    <p:sldId id="274" r:id="rId16"/>
    <p:sldId id="275" r:id="rId17"/>
    <p:sldId id="264" r:id="rId18"/>
    <p:sldId id="265" r:id="rId19"/>
    <p:sldId id="258" r:id="rId20"/>
    <p:sldId id="266" r:id="rId21"/>
    <p:sldId id="276" r:id="rId22"/>
    <p:sldId id="277" r:id="rId23"/>
    <p:sldId id="278" r:id="rId24"/>
    <p:sldId id="279" r:id="rId25"/>
    <p:sldId id="280" r:id="rId26"/>
  </p:sldIdLst>
  <p:sldSz cx="12192000" cy="6858000"/>
  <p:notesSz cx="6858000" cy="9144000"/>
  <p:defaultText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73C"/>
    <a:srgbClr val="39A639"/>
    <a:srgbClr val="2178B3"/>
    <a:srgbClr val="E2E8E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9" d="100"/>
          <a:sy n="79" d="100"/>
        </p:scale>
        <p:origin x="821"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diagrams/_rels/data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_rels/drawing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C9FE0AD-9F0C-4F8F-84EF-EB8412530E81}" type="doc">
      <dgm:prSet loTypeId="urn:microsoft.com/office/officeart/2018/5/layout/IconCircleLabelList" loCatId="icon" qsTypeId="urn:microsoft.com/office/officeart/2005/8/quickstyle/simple4" qsCatId="simple" csTypeId="urn:microsoft.com/office/officeart/2005/8/colors/colorful1" csCatId="colorful" phldr="1"/>
      <dgm:spPr/>
      <dgm:t>
        <a:bodyPr/>
        <a:lstStyle/>
        <a:p>
          <a:endParaRPr lang="en-US"/>
        </a:p>
      </dgm:t>
    </dgm:pt>
    <dgm:pt modelId="{417EF8A0-ECD9-4D85-9EB9-F5AD57060D30}">
      <dgm:prSet/>
      <dgm:spPr/>
      <dgm:t>
        <a:bodyPr/>
        <a:lstStyle/>
        <a:p>
          <a:pPr>
            <a:lnSpc>
              <a:spcPct val="100000"/>
            </a:lnSpc>
            <a:defRPr cap="all"/>
          </a:pPr>
          <a:r>
            <a:rPr lang="en-GB" dirty="0"/>
            <a:t>Introduction &amp; Motivation</a:t>
          </a:r>
          <a:endParaRPr lang="en-US" dirty="0"/>
        </a:p>
      </dgm:t>
    </dgm:pt>
    <dgm:pt modelId="{202F4988-E750-4DE0-9F61-039B902EA1DC}" type="parTrans" cxnId="{890CB2DA-6F43-4FC9-B1FF-D7E646785915}">
      <dgm:prSet/>
      <dgm:spPr/>
      <dgm:t>
        <a:bodyPr/>
        <a:lstStyle/>
        <a:p>
          <a:endParaRPr lang="en-US"/>
        </a:p>
      </dgm:t>
    </dgm:pt>
    <dgm:pt modelId="{19412A2A-90C7-4915-B721-A0A8A43A43AB}" type="sibTrans" cxnId="{890CB2DA-6F43-4FC9-B1FF-D7E646785915}">
      <dgm:prSet/>
      <dgm:spPr/>
      <dgm:t>
        <a:bodyPr/>
        <a:lstStyle/>
        <a:p>
          <a:endParaRPr lang="en-US"/>
        </a:p>
      </dgm:t>
    </dgm:pt>
    <dgm:pt modelId="{5D4BDD9D-A6E4-4588-9C77-508375F1DB13}">
      <dgm:prSet/>
      <dgm:spPr/>
      <dgm:t>
        <a:bodyPr/>
        <a:lstStyle/>
        <a:p>
          <a:pPr>
            <a:lnSpc>
              <a:spcPct val="100000"/>
            </a:lnSpc>
            <a:defRPr cap="all"/>
          </a:pPr>
          <a:r>
            <a:rPr lang="en-GB"/>
            <a:t>Research Questions</a:t>
          </a:r>
          <a:endParaRPr lang="en-US"/>
        </a:p>
      </dgm:t>
    </dgm:pt>
    <dgm:pt modelId="{BD89D872-B97B-48FB-95D7-49B4B4B1AD8C}" type="parTrans" cxnId="{F71A9B59-C1A0-4ACB-82FC-C36994FBC352}">
      <dgm:prSet/>
      <dgm:spPr/>
      <dgm:t>
        <a:bodyPr/>
        <a:lstStyle/>
        <a:p>
          <a:endParaRPr lang="en-US"/>
        </a:p>
      </dgm:t>
    </dgm:pt>
    <dgm:pt modelId="{79E457C3-C7D7-4C1D-AFFD-72B154841A36}" type="sibTrans" cxnId="{F71A9B59-C1A0-4ACB-82FC-C36994FBC352}">
      <dgm:prSet/>
      <dgm:spPr/>
      <dgm:t>
        <a:bodyPr/>
        <a:lstStyle/>
        <a:p>
          <a:endParaRPr lang="en-US"/>
        </a:p>
      </dgm:t>
    </dgm:pt>
    <dgm:pt modelId="{92373E4F-0DBE-4D50-AAB6-E1C905570E99}">
      <dgm:prSet/>
      <dgm:spPr/>
      <dgm:t>
        <a:bodyPr/>
        <a:lstStyle/>
        <a:p>
          <a:pPr>
            <a:lnSpc>
              <a:spcPct val="100000"/>
            </a:lnSpc>
            <a:defRPr cap="all"/>
          </a:pPr>
          <a:r>
            <a:rPr lang="en-GB" dirty="0"/>
            <a:t>Methods</a:t>
          </a:r>
          <a:endParaRPr lang="en-US" dirty="0"/>
        </a:p>
      </dgm:t>
    </dgm:pt>
    <dgm:pt modelId="{402BD3FE-DFC9-4C5F-988B-756E7B80FD78}" type="parTrans" cxnId="{7470C6C2-3474-489E-9B2E-3704644C4B75}">
      <dgm:prSet/>
      <dgm:spPr/>
      <dgm:t>
        <a:bodyPr/>
        <a:lstStyle/>
        <a:p>
          <a:endParaRPr lang="en-US"/>
        </a:p>
      </dgm:t>
    </dgm:pt>
    <dgm:pt modelId="{F55DEA14-2652-4AF3-A24A-4F86BDC9DD35}" type="sibTrans" cxnId="{7470C6C2-3474-489E-9B2E-3704644C4B75}">
      <dgm:prSet/>
      <dgm:spPr/>
      <dgm:t>
        <a:bodyPr/>
        <a:lstStyle/>
        <a:p>
          <a:endParaRPr lang="en-US"/>
        </a:p>
      </dgm:t>
    </dgm:pt>
    <dgm:pt modelId="{801FA7AF-F7E1-4423-9D7C-48C10B2A6241}">
      <dgm:prSet/>
      <dgm:spPr/>
      <dgm:t>
        <a:bodyPr/>
        <a:lstStyle/>
        <a:p>
          <a:pPr>
            <a:lnSpc>
              <a:spcPct val="100000"/>
            </a:lnSpc>
            <a:defRPr cap="all"/>
          </a:pPr>
          <a:r>
            <a:rPr lang="en-GB"/>
            <a:t>Experiments &amp; Results</a:t>
          </a:r>
          <a:endParaRPr lang="en-US"/>
        </a:p>
      </dgm:t>
    </dgm:pt>
    <dgm:pt modelId="{9A31DF95-A0B4-4611-A11E-948DE0FE54F6}" type="parTrans" cxnId="{6ABE97CE-F886-4F11-B735-75C50E4FEFAD}">
      <dgm:prSet/>
      <dgm:spPr/>
      <dgm:t>
        <a:bodyPr/>
        <a:lstStyle/>
        <a:p>
          <a:endParaRPr lang="en-US"/>
        </a:p>
      </dgm:t>
    </dgm:pt>
    <dgm:pt modelId="{CBAD6CB9-E2B4-4663-8C1B-E21494656AF9}" type="sibTrans" cxnId="{6ABE97CE-F886-4F11-B735-75C50E4FEFAD}">
      <dgm:prSet/>
      <dgm:spPr/>
      <dgm:t>
        <a:bodyPr/>
        <a:lstStyle/>
        <a:p>
          <a:endParaRPr lang="en-US"/>
        </a:p>
      </dgm:t>
    </dgm:pt>
    <dgm:pt modelId="{11EB8075-9E7C-4AB9-8C80-408038A3C725}">
      <dgm:prSet/>
      <dgm:spPr/>
      <dgm:t>
        <a:bodyPr/>
        <a:lstStyle/>
        <a:p>
          <a:pPr>
            <a:lnSpc>
              <a:spcPct val="100000"/>
            </a:lnSpc>
            <a:defRPr cap="all"/>
          </a:pPr>
          <a:r>
            <a:rPr lang="en-GB"/>
            <a:t>Conclusion</a:t>
          </a:r>
          <a:endParaRPr lang="en-US"/>
        </a:p>
      </dgm:t>
    </dgm:pt>
    <dgm:pt modelId="{5A444C46-6F9E-463B-B842-80412CD2FE00}" type="parTrans" cxnId="{1D837122-D98F-4471-AF08-9A2FE75C1BC3}">
      <dgm:prSet/>
      <dgm:spPr/>
      <dgm:t>
        <a:bodyPr/>
        <a:lstStyle/>
        <a:p>
          <a:endParaRPr lang="en-US"/>
        </a:p>
      </dgm:t>
    </dgm:pt>
    <dgm:pt modelId="{0CBA0B6B-9348-4742-B43C-4CC24FEEB17F}" type="sibTrans" cxnId="{1D837122-D98F-4471-AF08-9A2FE75C1BC3}">
      <dgm:prSet/>
      <dgm:spPr/>
      <dgm:t>
        <a:bodyPr/>
        <a:lstStyle/>
        <a:p>
          <a:endParaRPr lang="en-US"/>
        </a:p>
      </dgm:t>
    </dgm:pt>
    <dgm:pt modelId="{93FDEE81-31C8-4C36-AA0F-D50448D0FD36}" type="pres">
      <dgm:prSet presAssocID="{EC9FE0AD-9F0C-4F8F-84EF-EB8412530E81}" presName="root" presStyleCnt="0">
        <dgm:presLayoutVars>
          <dgm:dir/>
          <dgm:resizeHandles val="exact"/>
        </dgm:presLayoutVars>
      </dgm:prSet>
      <dgm:spPr/>
    </dgm:pt>
    <dgm:pt modelId="{94D55559-693E-4D53-967D-311A3415A18F}" type="pres">
      <dgm:prSet presAssocID="{417EF8A0-ECD9-4D85-9EB9-F5AD57060D30}" presName="compNode" presStyleCnt="0"/>
      <dgm:spPr/>
    </dgm:pt>
    <dgm:pt modelId="{916AEDC5-5D59-42E8-8F1B-3AFA4701AC3F}" type="pres">
      <dgm:prSet presAssocID="{417EF8A0-ECD9-4D85-9EB9-F5AD57060D30}" presName="iconBgRect" presStyleLbl="bgShp" presStyleIdx="0" presStyleCnt="5"/>
      <dgm:spPr/>
    </dgm:pt>
    <dgm:pt modelId="{859D52AE-646F-43EC-B5C2-8B226DC3161B}" type="pres">
      <dgm:prSet presAssocID="{417EF8A0-ECD9-4D85-9EB9-F5AD57060D30}"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Lightbulb"/>
        </a:ext>
      </dgm:extLst>
    </dgm:pt>
    <dgm:pt modelId="{07CAB445-2053-49F7-8CD4-B2668BD2BC83}" type="pres">
      <dgm:prSet presAssocID="{417EF8A0-ECD9-4D85-9EB9-F5AD57060D30}" presName="spaceRect" presStyleCnt="0"/>
      <dgm:spPr/>
    </dgm:pt>
    <dgm:pt modelId="{E4EA0C41-37F1-4FFA-A18F-F1BDADB4E4CB}" type="pres">
      <dgm:prSet presAssocID="{417EF8A0-ECD9-4D85-9EB9-F5AD57060D30}" presName="textRect" presStyleLbl="revTx" presStyleIdx="0" presStyleCnt="5">
        <dgm:presLayoutVars>
          <dgm:chMax val="1"/>
          <dgm:chPref val="1"/>
        </dgm:presLayoutVars>
      </dgm:prSet>
      <dgm:spPr/>
    </dgm:pt>
    <dgm:pt modelId="{1126A386-4111-4F58-AD7D-EF6B85EC1E7F}" type="pres">
      <dgm:prSet presAssocID="{19412A2A-90C7-4915-B721-A0A8A43A43AB}" presName="sibTrans" presStyleCnt="0"/>
      <dgm:spPr/>
    </dgm:pt>
    <dgm:pt modelId="{0C606203-EB8D-47DF-8124-AAB978854D5F}" type="pres">
      <dgm:prSet presAssocID="{5D4BDD9D-A6E4-4588-9C77-508375F1DB13}" presName="compNode" presStyleCnt="0"/>
      <dgm:spPr/>
    </dgm:pt>
    <dgm:pt modelId="{C2418FF4-5B88-485C-9751-DFA9E7A15E7C}" type="pres">
      <dgm:prSet presAssocID="{5D4BDD9D-A6E4-4588-9C77-508375F1DB13}" presName="iconBgRect" presStyleLbl="bgShp" presStyleIdx="1" presStyleCnt="5"/>
      <dgm:spPr/>
    </dgm:pt>
    <dgm:pt modelId="{9D8F2643-A162-40BC-8165-2DF0C79100E8}" type="pres">
      <dgm:prSet presAssocID="{5D4BDD9D-A6E4-4588-9C77-508375F1DB13}"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Help"/>
        </a:ext>
      </dgm:extLst>
    </dgm:pt>
    <dgm:pt modelId="{8EF99E09-C437-4E87-B7D6-7F1DC105C1F4}" type="pres">
      <dgm:prSet presAssocID="{5D4BDD9D-A6E4-4588-9C77-508375F1DB13}" presName="spaceRect" presStyleCnt="0"/>
      <dgm:spPr/>
    </dgm:pt>
    <dgm:pt modelId="{05EE544B-3879-439E-945C-05061847B4B8}" type="pres">
      <dgm:prSet presAssocID="{5D4BDD9D-A6E4-4588-9C77-508375F1DB13}" presName="textRect" presStyleLbl="revTx" presStyleIdx="1" presStyleCnt="5">
        <dgm:presLayoutVars>
          <dgm:chMax val="1"/>
          <dgm:chPref val="1"/>
        </dgm:presLayoutVars>
      </dgm:prSet>
      <dgm:spPr/>
    </dgm:pt>
    <dgm:pt modelId="{553224BE-0F2C-4363-9817-16621F5DE76A}" type="pres">
      <dgm:prSet presAssocID="{79E457C3-C7D7-4C1D-AFFD-72B154841A36}" presName="sibTrans" presStyleCnt="0"/>
      <dgm:spPr/>
    </dgm:pt>
    <dgm:pt modelId="{2A1A5241-1698-4072-8CA1-71EE7F55C0FA}" type="pres">
      <dgm:prSet presAssocID="{92373E4F-0DBE-4D50-AAB6-E1C905570E99}" presName="compNode" presStyleCnt="0"/>
      <dgm:spPr/>
    </dgm:pt>
    <dgm:pt modelId="{349F3741-C6FD-4FE8-986B-58D1AD819B16}" type="pres">
      <dgm:prSet presAssocID="{92373E4F-0DBE-4D50-AAB6-E1C905570E99}" presName="iconBgRect" presStyleLbl="bgShp" presStyleIdx="2" presStyleCnt="5"/>
      <dgm:spPr/>
    </dgm:pt>
    <dgm:pt modelId="{0A12E672-1CC2-4086-BC3E-71162B5E6860}" type="pres">
      <dgm:prSet presAssocID="{92373E4F-0DBE-4D50-AAB6-E1C905570E99}"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Gears"/>
        </a:ext>
      </dgm:extLst>
    </dgm:pt>
    <dgm:pt modelId="{2726102B-3DF7-4394-B15E-8BD0BB4542BE}" type="pres">
      <dgm:prSet presAssocID="{92373E4F-0DBE-4D50-AAB6-E1C905570E99}" presName="spaceRect" presStyleCnt="0"/>
      <dgm:spPr/>
    </dgm:pt>
    <dgm:pt modelId="{7D1B73B1-90A3-4232-B20C-688F9EAF00ED}" type="pres">
      <dgm:prSet presAssocID="{92373E4F-0DBE-4D50-AAB6-E1C905570E99}" presName="textRect" presStyleLbl="revTx" presStyleIdx="2" presStyleCnt="5">
        <dgm:presLayoutVars>
          <dgm:chMax val="1"/>
          <dgm:chPref val="1"/>
        </dgm:presLayoutVars>
      </dgm:prSet>
      <dgm:spPr/>
    </dgm:pt>
    <dgm:pt modelId="{28DF91A3-9A03-4AEC-B515-E766F96F167D}" type="pres">
      <dgm:prSet presAssocID="{F55DEA14-2652-4AF3-A24A-4F86BDC9DD35}" presName="sibTrans" presStyleCnt="0"/>
      <dgm:spPr/>
    </dgm:pt>
    <dgm:pt modelId="{B865637C-D751-46CA-B2F2-D43ECE8F42FB}" type="pres">
      <dgm:prSet presAssocID="{801FA7AF-F7E1-4423-9D7C-48C10B2A6241}" presName="compNode" presStyleCnt="0"/>
      <dgm:spPr/>
    </dgm:pt>
    <dgm:pt modelId="{F3E62291-F06E-48C1-B310-8B5BA74A2EA8}" type="pres">
      <dgm:prSet presAssocID="{801FA7AF-F7E1-4423-9D7C-48C10B2A6241}" presName="iconBgRect" presStyleLbl="bgShp" presStyleIdx="3" presStyleCnt="5"/>
      <dgm:spPr/>
    </dgm:pt>
    <dgm:pt modelId="{82465056-F2F9-4884-87E2-06EF4110B331}" type="pres">
      <dgm:prSet presAssocID="{801FA7AF-F7E1-4423-9D7C-48C10B2A6241}"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Test tubes"/>
        </a:ext>
      </dgm:extLst>
    </dgm:pt>
    <dgm:pt modelId="{3B16C6FB-CB99-4A86-9784-9D5F686B1136}" type="pres">
      <dgm:prSet presAssocID="{801FA7AF-F7E1-4423-9D7C-48C10B2A6241}" presName="spaceRect" presStyleCnt="0"/>
      <dgm:spPr/>
    </dgm:pt>
    <dgm:pt modelId="{46E6B5A8-517F-4B56-9E39-87D15FDDE70A}" type="pres">
      <dgm:prSet presAssocID="{801FA7AF-F7E1-4423-9D7C-48C10B2A6241}" presName="textRect" presStyleLbl="revTx" presStyleIdx="3" presStyleCnt="5">
        <dgm:presLayoutVars>
          <dgm:chMax val="1"/>
          <dgm:chPref val="1"/>
        </dgm:presLayoutVars>
      </dgm:prSet>
      <dgm:spPr/>
    </dgm:pt>
    <dgm:pt modelId="{C61C49E0-C39B-4519-99A1-E57B673DBA62}" type="pres">
      <dgm:prSet presAssocID="{CBAD6CB9-E2B4-4663-8C1B-E21494656AF9}" presName="sibTrans" presStyleCnt="0"/>
      <dgm:spPr/>
    </dgm:pt>
    <dgm:pt modelId="{1244CB40-E9E1-425E-8876-E7A25DC517F4}" type="pres">
      <dgm:prSet presAssocID="{11EB8075-9E7C-4AB9-8C80-408038A3C725}" presName="compNode" presStyleCnt="0"/>
      <dgm:spPr/>
    </dgm:pt>
    <dgm:pt modelId="{B595B6DA-B36B-4B75-B708-83034D428175}" type="pres">
      <dgm:prSet presAssocID="{11EB8075-9E7C-4AB9-8C80-408038A3C725}" presName="iconBgRect" presStyleLbl="bgShp" presStyleIdx="4" presStyleCnt="5"/>
      <dgm:spPr/>
    </dgm:pt>
    <dgm:pt modelId="{C17748D8-EBDF-4150-AE1E-9BEA5A0566A2}" type="pres">
      <dgm:prSet presAssocID="{11EB8075-9E7C-4AB9-8C80-408038A3C725}"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Gavel"/>
        </a:ext>
      </dgm:extLst>
    </dgm:pt>
    <dgm:pt modelId="{03216A12-98A9-421B-83B4-EF7C9CEDC791}" type="pres">
      <dgm:prSet presAssocID="{11EB8075-9E7C-4AB9-8C80-408038A3C725}" presName="spaceRect" presStyleCnt="0"/>
      <dgm:spPr/>
    </dgm:pt>
    <dgm:pt modelId="{4B4F6FEE-795D-4A2F-A553-9BC4106FA5AF}" type="pres">
      <dgm:prSet presAssocID="{11EB8075-9E7C-4AB9-8C80-408038A3C725}" presName="textRect" presStyleLbl="revTx" presStyleIdx="4" presStyleCnt="5">
        <dgm:presLayoutVars>
          <dgm:chMax val="1"/>
          <dgm:chPref val="1"/>
        </dgm:presLayoutVars>
      </dgm:prSet>
      <dgm:spPr/>
    </dgm:pt>
  </dgm:ptLst>
  <dgm:cxnLst>
    <dgm:cxn modelId="{3025CC09-D120-490B-A503-99EC93C2CA91}" type="presOf" srcId="{92373E4F-0DBE-4D50-AAB6-E1C905570E99}" destId="{7D1B73B1-90A3-4232-B20C-688F9EAF00ED}" srcOrd="0" destOrd="0" presId="urn:microsoft.com/office/officeart/2018/5/layout/IconCircleLabelList"/>
    <dgm:cxn modelId="{50277711-684D-472B-9A15-1D9BC5AEA7C2}" type="presOf" srcId="{417EF8A0-ECD9-4D85-9EB9-F5AD57060D30}" destId="{E4EA0C41-37F1-4FFA-A18F-F1BDADB4E4CB}" srcOrd="0" destOrd="0" presId="urn:microsoft.com/office/officeart/2018/5/layout/IconCircleLabelList"/>
    <dgm:cxn modelId="{98C5A91A-5E7A-40B5-8136-DE50C2A7FC0A}" type="presOf" srcId="{EC9FE0AD-9F0C-4F8F-84EF-EB8412530E81}" destId="{93FDEE81-31C8-4C36-AA0F-D50448D0FD36}" srcOrd="0" destOrd="0" presId="urn:microsoft.com/office/officeart/2018/5/layout/IconCircleLabelList"/>
    <dgm:cxn modelId="{1D837122-D98F-4471-AF08-9A2FE75C1BC3}" srcId="{EC9FE0AD-9F0C-4F8F-84EF-EB8412530E81}" destId="{11EB8075-9E7C-4AB9-8C80-408038A3C725}" srcOrd="4" destOrd="0" parTransId="{5A444C46-6F9E-463B-B842-80412CD2FE00}" sibTransId="{0CBA0B6B-9348-4742-B43C-4CC24FEEB17F}"/>
    <dgm:cxn modelId="{5FF45161-1A6D-43C2-A4ED-6DF7D8A3A653}" type="presOf" srcId="{801FA7AF-F7E1-4423-9D7C-48C10B2A6241}" destId="{46E6B5A8-517F-4B56-9E39-87D15FDDE70A}" srcOrd="0" destOrd="0" presId="urn:microsoft.com/office/officeart/2018/5/layout/IconCircleLabelList"/>
    <dgm:cxn modelId="{2CD0EC41-16A9-437A-B764-7C16BA2122A5}" type="presOf" srcId="{11EB8075-9E7C-4AB9-8C80-408038A3C725}" destId="{4B4F6FEE-795D-4A2F-A553-9BC4106FA5AF}" srcOrd="0" destOrd="0" presId="urn:microsoft.com/office/officeart/2018/5/layout/IconCircleLabelList"/>
    <dgm:cxn modelId="{F71A9B59-C1A0-4ACB-82FC-C36994FBC352}" srcId="{EC9FE0AD-9F0C-4F8F-84EF-EB8412530E81}" destId="{5D4BDD9D-A6E4-4588-9C77-508375F1DB13}" srcOrd="1" destOrd="0" parTransId="{BD89D872-B97B-48FB-95D7-49B4B4B1AD8C}" sibTransId="{79E457C3-C7D7-4C1D-AFFD-72B154841A36}"/>
    <dgm:cxn modelId="{C398E6B3-DFBF-4266-9FEC-52B94DDB9B38}" type="presOf" srcId="{5D4BDD9D-A6E4-4588-9C77-508375F1DB13}" destId="{05EE544B-3879-439E-945C-05061847B4B8}" srcOrd="0" destOrd="0" presId="urn:microsoft.com/office/officeart/2018/5/layout/IconCircleLabelList"/>
    <dgm:cxn modelId="{7470C6C2-3474-489E-9B2E-3704644C4B75}" srcId="{EC9FE0AD-9F0C-4F8F-84EF-EB8412530E81}" destId="{92373E4F-0DBE-4D50-AAB6-E1C905570E99}" srcOrd="2" destOrd="0" parTransId="{402BD3FE-DFC9-4C5F-988B-756E7B80FD78}" sibTransId="{F55DEA14-2652-4AF3-A24A-4F86BDC9DD35}"/>
    <dgm:cxn modelId="{6ABE97CE-F886-4F11-B735-75C50E4FEFAD}" srcId="{EC9FE0AD-9F0C-4F8F-84EF-EB8412530E81}" destId="{801FA7AF-F7E1-4423-9D7C-48C10B2A6241}" srcOrd="3" destOrd="0" parTransId="{9A31DF95-A0B4-4611-A11E-948DE0FE54F6}" sibTransId="{CBAD6CB9-E2B4-4663-8C1B-E21494656AF9}"/>
    <dgm:cxn modelId="{890CB2DA-6F43-4FC9-B1FF-D7E646785915}" srcId="{EC9FE0AD-9F0C-4F8F-84EF-EB8412530E81}" destId="{417EF8A0-ECD9-4D85-9EB9-F5AD57060D30}" srcOrd="0" destOrd="0" parTransId="{202F4988-E750-4DE0-9F61-039B902EA1DC}" sibTransId="{19412A2A-90C7-4915-B721-A0A8A43A43AB}"/>
    <dgm:cxn modelId="{E2667D33-D8AB-4D7C-B1F7-746E00A6A678}" type="presParOf" srcId="{93FDEE81-31C8-4C36-AA0F-D50448D0FD36}" destId="{94D55559-693E-4D53-967D-311A3415A18F}" srcOrd="0" destOrd="0" presId="urn:microsoft.com/office/officeart/2018/5/layout/IconCircleLabelList"/>
    <dgm:cxn modelId="{2D761E2D-69CB-41C5-A477-F32B2E54BA30}" type="presParOf" srcId="{94D55559-693E-4D53-967D-311A3415A18F}" destId="{916AEDC5-5D59-42E8-8F1B-3AFA4701AC3F}" srcOrd="0" destOrd="0" presId="urn:microsoft.com/office/officeart/2018/5/layout/IconCircleLabelList"/>
    <dgm:cxn modelId="{D96190F1-26C5-43E1-AD81-7CE3CD963D2A}" type="presParOf" srcId="{94D55559-693E-4D53-967D-311A3415A18F}" destId="{859D52AE-646F-43EC-B5C2-8B226DC3161B}" srcOrd="1" destOrd="0" presId="urn:microsoft.com/office/officeart/2018/5/layout/IconCircleLabelList"/>
    <dgm:cxn modelId="{664C1BA4-E12D-4E76-8AA5-2E4C981BD899}" type="presParOf" srcId="{94D55559-693E-4D53-967D-311A3415A18F}" destId="{07CAB445-2053-49F7-8CD4-B2668BD2BC83}" srcOrd="2" destOrd="0" presId="urn:microsoft.com/office/officeart/2018/5/layout/IconCircleLabelList"/>
    <dgm:cxn modelId="{0039E920-E5F9-4811-A7FB-F6F35643442C}" type="presParOf" srcId="{94D55559-693E-4D53-967D-311A3415A18F}" destId="{E4EA0C41-37F1-4FFA-A18F-F1BDADB4E4CB}" srcOrd="3" destOrd="0" presId="urn:microsoft.com/office/officeart/2018/5/layout/IconCircleLabelList"/>
    <dgm:cxn modelId="{9B4436C7-8923-4A6F-B612-49A7AF2C290A}" type="presParOf" srcId="{93FDEE81-31C8-4C36-AA0F-D50448D0FD36}" destId="{1126A386-4111-4F58-AD7D-EF6B85EC1E7F}" srcOrd="1" destOrd="0" presId="urn:microsoft.com/office/officeart/2018/5/layout/IconCircleLabelList"/>
    <dgm:cxn modelId="{B91BF49F-935F-4355-A017-A7204948B02E}" type="presParOf" srcId="{93FDEE81-31C8-4C36-AA0F-D50448D0FD36}" destId="{0C606203-EB8D-47DF-8124-AAB978854D5F}" srcOrd="2" destOrd="0" presId="urn:microsoft.com/office/officeart/2018/5/layout/IconCircleLabelList"/>
    <dgm:cxn modelId="{3426A98E-2EEA-4A39-BED4-CFEC3DFB34D4}" type="presParOf" srcId="{0C606203-EB8D-47DF-8124-AAB978854D5F}" destId="{C2418FF4-5B88-485C-9751-DFA9E7A15E7C}" srcOrd="0" destOrd="0" presId="urn:microsoft.com/office/officeart/2018/5/layout/IconCircleLabelList"/>
    <dgm:cxn modelId="{E0A756E8-59F9-420A-9266-973B9D47942B}" type="presParOf" srcId="{0C606203-EB8D-47DF-8124-AAB978854D5F}" destId="{9D8F2643-A162-40BC-8165-2DF0C79100E8}" srcOrd="1" destOrd="0" presId="urn:microsoft.com/office/officeart/2018/5/layout/IconCircleLabelList"/>
    <dgm:cxn modelId="{58590F49-FB3D-492E-B077-8D92CBA99FD3}" type="presParOf" srcId="{0C606203-EB8D-47DF-8124-AAB978854D5F}" destId="{8EF99E09-C437-4E87-B7D6-7F1DC105C1F4}" srcOrd="2" destOrd="0" presId="urn:microsoft.com/office/officeart/2018/5/layout/IconCircleLabelList"/>
    <dgm:cxn modelId="{0A4713BD-AF36-4C96-B126-3141C2BEC73D}" type="presParOf" srcId="{0C606203-EB8D-47DF-8124-AAB978854D5F}" destId="{05EE544B-3879-439E-945C-05061847B4B8}" srcOrd="3" destOrd="0" presId="urn:microsoft.com/office/officeart/2018/5/layout/IconCircleLabelList"/>
    <dgm:cxn modelId="{B89A26E1-7517-4887-A861-ACCFFADF37D1}" type="presParOf" srcId="{93FDEE81-31C8-4C36-AA0F-D50448D0FD36}" destId="{553224BE-0F2C-4363-9817-16621F5DE76A}" srcOrd="3" destOrd="0" presId="urn:microsoft.com/office/officeart/2018/5/layout/IconCircleLabelList"/>
    <dgm:cxn modelId="{735CF55E-55D0-4902-83A6-02779E3851F2}" type="presParOf" srcId="{93FDEE81-31C8-4C36-AA0F-D50448D0FD36}" destId="{2A1A5241-1698-4072-8CA1-71EE7F55C0FA}" srcOrd="4" destOrd="0" presId="urn:microsoft.com/office/officeart/2018/5/layout/IconCircleLabelList"/>
    <dgm:cxn modelId="{6098D77C-D866-4946-8CA7-8D86D2657B70}" type="presParOf" srcId="{2A1A5241-1698-4072-8CA1-71EE7F55C0FA}" destId="{349F3741-C6FD-4FE8-986B-58D1AD819B16}" srcOrd="0" destOrd="0" presId="urn:microsoft.com/office/officeart/2018/5/layout/IconCircleLabelList"/>
    <dgm:cxn modelId="{2C57E74E-A2D7-41E2-9639-5F732AF33E4F}" type="presParOf" srcId="{2A1A5241-1698-4072-8CA1-71EE7F55C0FA}" destId="{0A12E672-1CC2-4086-BC3E-71162B5E6860}" srcOrd="1" destOrd="0" presId="urn:microsoft.com/office/officeart/2018/5/layout/IconCircleLabelList"/>
    <dgm:cxn modelId="{3270471D-957B-4886-BC79-C6251AB855C0}" type="presParOf" srcId="{2A1A5241-1698-4072-8CA1-71EE7F55C0FA}" destId="{2726102B-3DF7-4394-B15E-8BD0BB4542BE}" srcOrd="2" destOrd="0" presId="urn:microsoft.com/office/officeart/2018/5/layout/IconCircleLabelList"/>
    <dgm:cxn modelId="{33095955-087D-4A9D-B315-FEC0D2E5DB11}" type="presParOf" srcId="{2A1A5241-1698-4072-8CA1-71EE7F55C0FA}" destId="{7D1B73B1-90A3-4232-B20C-688F9EAF00ED}" srcOrd="3" destOrd="0" presId="urn:microsoft.com/office/officeart/2018/5/layout/IconCircleLabelList"/>
    <dgm:cxn modelId="{BF7C5E7B-CCA0-4663-A83B-840624F4CF27}" type="presParOf" srcId="{93FDEE81-31C8-4C36-AA0F-D50448D0FD36}" destId="{28DF91A3-9A03-4AEC-B515-E766F96F167D}" srcOrd="5" destOrd="0" presId="urn:microsoft.com/office/officeart/2018/5/layout/IconCircleLabelList"/>
    <dgm:cxn modelId="{0CE0F4BB-593D-480E-9F02-87E0CE8B4510}" type="presParOf" srcId="{93FDEE81-31C8-4C36-AA0F-D50448D0FD36}" destId="{B865637C-D751-46CA-B2F2-D43ECE8F42FB}" srcOrd="6" destOrd="0" presId="urn:microsoft.com/office/officeart/2018/5/layout/IconCircleLabelList"/>
    <dgm:cxn modelId="{15F2BD00-6F14-43FC-8EC0-FBF1A9EFAEB5}" type="presParOf" srcId="{B865637C-D751-46CA-B2F2-D43ECE8F42FB}" destId="{F3E62291-F06E-48C1-B310-8B5BA74A2EA8}" srcOrd="0" destOrd="0" presId="urn:microsoft.com/office/officeart/2018/5/layout/IconCircleLabelList"/>
    <dgm:cxn modelId="{66902C1D-C257-4BB7-A4E7-882A57A618A1}" type="presParOf" srcId="{B865637C-D751-46CA-B2F2-D43ECE8F42FB}" destId="{82465056-F2F9-4884-87E2-06EF4110B331}" srcOrd="1" destOrd="0" presId="urn:microsoft.com/office/officeart/2018/5/layout/IconCircleLabelList"/>
    <dgm:cxn modelId="{A3BED51F-D087-4D6C-B636-D1F6A4960004}" type="presParOf" srcId="{B865637C-D751-46CA-B2F2-D43ECE8F42FB}" destId="{3B16C6FB-CB99-4A86-9784-9D5F686B1136}" srcOrd="2" destOrd="0" presId="urn:microsoft.com/office/officeart/2018/5/layout/IconCircleLabelList"/>
    <dgm:cxn modelId="{4B5818B1-C3D2-4C7F-B344-E2ADF42A93BE}" type="presParOf" srcId="{B865637C-D751-46CA-B2F2-D43ECE8F42FB}" destId="{46E6B5A8-517F-4B56-9E39-87D15FDDE70A}" srcOrd="3" destOrd="0" presId="urn:microsoft.com/office/officeart/2018/5/layout/IconCircleLabelList"/>
    <dgm:cxn modelId="{B270CA20-EE49-460E-BE17-0A74DC0A8F50}" type="presParOf" srcId="{93FDEE81-31C8-4C36-AA0F-D50448D0FD36}" destId="{C61C49E0-C39B-4519-99A1-E57B673DBA62}" srcOrd="7" destOrd="0" presId="urn:microsoft.com/office/officeart/2018/5/layout/IconCircleLabelList"/>
    <dgm:cxn modelId="{8D0399B1-F084-496A-85D1-B97969E491E7}" type="presParOf" srcId="{93FDEE81-31C8-4C36-AA0F-D50448D0FD36}" destId="{1244CB40-E9E1-425E-8876-E7A25DC517F4}" srcOrd="8" destOrd="0" presId="urn:microsoft.com/office/officeart/2018/5/layout/IconCircleLabelList"/>
    <dgm:cxn modelId="{7E1F3A58-A218-415A-B408-00565194730A}" type="presParOf" srcId="{1244CB40-E9E1-425E-8876-E7A25DC517F4}" destId="{B595B6DA-B36B-4B75-B708-83034D428175}" srcOrd="0" destOrd="0" presId="urn:microsoft.com/office/officeart/2018/5/layout/IconCircleLabelList"/>
    <dgm:cxn modelId="{D741B6F6-2BA7-408E-B043-7639BAACE8B5}" type="presParOf" srcId="{1244CB40-E9E1-425E-8876-E7A25DC517F4}" destId="{C17748D8-EBDF-4150-AE1E-9BEA5A0566A2}" srcOrd="1" destOrd="0" presId="urn:microsoft.com/office/officeart/2018/5/layout/IconCircleLabelList"/>
    <dgm:cxn modelId="{D23FBFF1-484C-4AF4-8297-AB3D7B295340}" type="presParOf" srcId="{1244CB40-E9E1-425E-8876-E7A25DC517F4}" destId="{03216A12-98A9-421B-83B4-EF7C9CEDC791}" srcOrd="2" destOrd="0" presId="urn:microsoft.com/office/officeart/2018/5/layout/IconCircleLabelList"/>
    <dgm:cxn modelId="{38132E1C-0B4F-4F01-A1C2-9DB0759DDEF2}" type="presParOf" srcId="{1244CB40-E9E1-425E-8876-E7A25DC517F4}" destId="{4B4F6FEE-795D-4A2F-A553-9BC4106FA5AF}"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6AEDC5-5D59-42E8-8F1B-3AFA4701AC3F}">
      <dsp:nvSpPr>
        <dsp:cNvPr id="0" name=""/>
        <dsp:cNvSpPr/>
      </dsp:nvSpPr>
      <dsp:spPr>
        <a:xfrm>
          <a:off x="308744" y="1131012"/>
          <a:ext cx="953244" cy="953244"/>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859D52AE-646F-43EC-B5C2-8B226DC3161B}">
      <dsp:nvSpPr>
        <dsp:cNvPr id="0" name=""/>
        <dsp:cNvSpPr/>
      </dsp:nvSpPr>
      <dsp:spPr>
        <a:xfrm>
          <a:off x="511895" y="1334162"/>
          <a:ext cx="546943" cy="54694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E4EA0C41-37F1-4FFA-A18F-F1BDADB4E4CB}">
      <dsp:nvSpPr>
        <dsp:cNvPr id="0" name=""/>
        <dsp:cNvSpPr/>
      </dsp:nvSpPr>
      <dsp:spPr>
        <a:xfrm>
          <a:off x="4019" y="2381168"/>
          <a:ext cx="1562695" cy="6250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GB" sz="1600" kern="1200" dirty="0"/>
            <a:t>Introduction &amp; Motivation</a:t>
          </a:r>
          <a:endParaRPr lang="en-US" sz="1600" kern="1200" dirty="0"/>
        </a:p>
      </dsp:txBody>
      <dsp:txXfrm>
        <a:off x="4019" y="2381168"/>
        <a:ext cx="1562695" cy="625078"/>
      </dsp:txXfrm>
    </dsp:sp>
    <dsp:sp modelId="{C2418FF4-5B88-485C-9751-DFA9E7A15E7C}">
      <dsp:nvSpPr>
        <dsp:cNvPr id="0" name=""/>
        <dsp:cNvSpPr/>
      </dsp:nvSpPr>
      <dsp:spPr>
        <a:xfrm>
          <a:off x="2144911" y="1131012"/>
          <a:ext cx="953244" cy="953244"/>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9D8F2643-A162-40BC-8165-2DF0C79100E8}">
      <dsp:nvSpPr>
        <dsp:cNvPr id="0" name=""/>
        <dsp:cNvSpPr/>
      </dsp:nvSpPr>
      <dsp:spPr>
        <a:xfrm>
          <a:off x="2348062" y="1334162"/>
          <a:ext cx="546943" cy="54694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05EE544B-3879-439E-945C-05061847B4B8}">
      <dsp:nvSpPr>
        <dsp:cNvPr id="0" name=""/>
        <dsp:cNvSpPr/>
      </dsp:nvSpPr>
      <dsp:spPr>
        <a:xfrm>
          <a:off x="1840186" y="2381168"/>
          <a:ext cx="1562695" cy="6250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GB" sz="1600" kern="1200"/>
            <a:t>Research Questions</a:t>
          </a:r>
          <a:endParaRPr lang="en-US" sz="1600" kern="1200"/>
        </a:p>
      </dsp:txBody>
      <dsp:txXfrm>
        <a:off x="1840186" y="2381168"/>
        <a:ext cx="1562695" cy="625078"/>
      </dsp:txXfrm>
    </dsp:sp>
    <dsp:sp modelId="{349F3741-C6FD-4FE8-986B-58D1AD819B16}">
      <dsp:nvSpPr>
        <dsp:cNvPr id="0" name=""/>
        <dsp:cNvSpPr/>
      </dsp:nvSpPr>
      <dsp:spPr>
        <a:xfrm>
          <a:off x="3981078" y="1131012"/>
          <a:ext cx="953244" cy="953244"/>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0A12E672-1CC2-4086-BC3E-71162B5E6860}">
      <dsp:nvSpPr>
        <dsp:cNvPr id="0" name=""/>
        <dsp:cNvSpPr/>
      </dsp:nvSpPr>
      <dsp:spPr>
        <a:xfrm>
          <a:off x="4184229" y="1334162"/>
          <a:ext cx="546943" cy="54694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7D1B73B1-90A3-4232-B20C-688F9EAF00ED}">
      <dsp:nvSpPr>
        <dsp:cNvPr id="0" name=""/>
        <dsp:cNvSpPr/>
      </dsp:nvSpPr>
      <dsp:spPr>
        <a:xfrm>
          <a:off x="3676353" y="2381168"/>
          <a:ext cx="1562695" cy="6250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GB" sz="1600" kern="1200" dirty="0"/>
            <a:t>Methods</a:t>
          </a:r>
          <a:endParaRPr lang="en-US" sz="1600" kern="1200" dirty="0"/>
        </a:p>
      </dsp:txBody>
      <dsp:txXfrm>
        <a:off x="3676353" y="2381168"/>
        <a:ext cx="1562695" cy="625078"/>
      </dsp:txXfrm>
    </dsp:sp>
    <dsp:sp modelId="{F3E62291-F06E-48C1-B310-8B5BA74A2EA8}">
      <dsp:nvSpPr>
        <dsp:cNvPr id="0" name=""/>
        <dsp:cNvSpPr/>
      </dsp:nvSpPr>
      <dsp:spPr>
        <a:xfrm>
          <a:off x="5817245" y="1131012"/>
          <a:ext cx="953244" cy="953244"/>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82465056-F2F9-4884-87E2-06EF4110B331}">
      <dsp:nvSpPr>
        <dsp:cNvPr id="0" name=""/>
        <dsp:cNvSpPr/>
      </dsp:nvSpPr>
      <dsp:spPr>
        <a:xfrm>
          <a:off x="6020396" y="1334162"/>
          <a:ext cx="546943" cy="54694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46E6B5A8-517F-4B56-9E39-87D15FDDE70A}">
      <dsp:nvSpPr>
        <dsp:cNvPr id="0" name=""/>
        <dsp:cNvSpPr/>
      </dsp:nvSpPr>
      <dsp:spPr>
        <a:xfrm>
          <a:off x="5512520" y="2381168"/>
          <a:ext cx="1562695" cy="6250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GB" sz="1600" kern="1200"/>
            <a:t>Experiments &amp; Results</a:t>
          </a:r>
          <a:endParaRPr lang="en-US" sz="1600" kern="1200"/>
        </a:p>
      </dsp:txBody>
      <dsp:txXfrm>
        <a:off x="5512520" y="2381168"/>
        <a:ext cx="1562695" cy="625078"/>
      </dsp:txXfrm>
    </dsp:sp>
    <dsp:sp modelId="{B595B6DA-B36B-4B75-B708-83034D428175}">
      <dsp:nvSpPr>
        <dsp:cNvPr id="0" name=""/>
        <dsp:cNvSpPr/>
      </dsp:nvSpPr>
      <dsp:spPr>
        <a:xfrm>
          <a:off x="7653412" y="1131012"/>
          <a:ext cx="953244" cy="953244"/>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C17748D8-EBDF-4150-AE1E-9BEA5A0566A2}">
      <dsp:nvSpPr>
        <dsp:cNvPr id="0" name=""/>
        <dsp:cNvSpPr/>
      </dsp:nvSpPr>
      <dsp:spPr>
        <a:xfrm>
          <a:off x="7856563" y="1334162"/>
          <a:ext cx="546943" cy="546943"/>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4B4F6FEE-795D-4A2F-A553-9BC4106FA5AF}">
      <dsp:nvSpPr>
        <dsp:cNvPr id="0" name=""/>
        <dsp:cNvSpPr/>
      </dsp:nvSpPr>
      <dsp:spPr>
        <a:xfrm>
          <a:off x="7348687" y="2381168"/>
          <a:ext cx="1562695" cy="6250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GB" sz="1600" kern="1200"/>
            <a:t>Conclusion</a:t>
          </a:r>
          <a:endParaRPr lang="en-US" sz="1600" kern="1200"/>
        </a:p>
      </dsp:txBody>
      <dsp:txXfrm>
        <a:off x="7348687" y="2381168"/>
        <a:ext cx="1562695" cy="625078"/>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LID4096"/>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0D6AC7-D3EB-4D77-AA01-23D3EF05AD36}" type="datetimeFigureOut">
              <a:rPr lang="LID4096" smtClean="0"/>
              <a:t>06/23/2024</a:t>
            </a:fld>
            <a:endParaRPr lang="LID4096"/>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LID4096"/>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LID4096"/>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78AE1A-4B04-4201-BCED-4B5C78A29054}" type="slidenum">
              <a:rPr lang="LID4096" smtClean="0"/>
              <a:t>‹#›</a:t>
            </a:fld>
            <a:endParaRPr lang="LID4096"/>
          </a:p>
        </p:txBody>
      </p:sp>
    </p:spTree>
    <p:extLst>
      <p:ext uri="{BB962C8B-B14F-4D97-AF65-F5344CB8AC3E}">
        <p14:creationId xmlns:p14="http://schemas.microsoft.com/office/powerpoint/2010/main" val="15333592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effectLst/>
                <a:latin typeface="gg sans"/>
              </a:rPr>
              <a:t>Hello, my name is Thomas, and I am going to talk about my thesis, which is about "Online Polycube Packing with Deep Reinforcement Learning"</a:t>
            </a:r>
            <a:endParaRPr lang="LID4096" dirty="0"/>
          </a:p>
        </p:txBody>
      </p:sp>
      <p:sp>
        <p:nvSpPr>
          <p:cNvPr id="4" name="Slide Number Placeholder 3"/>
          <p:cNvSpPr>
            <a:spLocks noGrp="1"/>
          </p:cNvSpPr>
          <p:nvPr>
            <p:ph type="sldNum" sz="quarter" idx="5"/>
          </p:nvPr>
        </p:nvSpPr>
        <p:spPr/>
        <p:txBody>
          <a:bodyPr/>
          <a:lstStyle/>
          <a:p>
            <a:fld id="{CF78AE1A-4B04-4201-BCED-4B5C78A29054}" type="slidenum">
              <a:rPr lang="LID4096" smtClean="0"/>
              <a:t>1</a:t>
            </a:fld>
            <a:endParaRPr lang="LID4096"/>
          </a:p>
        </p:txBody>
      </p:sp>
    </p:spTree>
    <p:extLst>
      <p:ext uri="{BB962C8B-B14F-4D97-AF65-F5344CB8AC3E}">
        <p14:creationId xmlns:p14="http://schemas.microsoft.com/office/powerpoint/2010/main" val="8267231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effectLst/>
                <a:latin typeface="gg sans"/>
              </a:rPr>
              <a:t>I am first going to introduce the problem and talk about the motivation behind researching it. I am then going to go through the research questions, the methods used, the experiments and results, and finally we'll end with a conclusion.</a:t>
            </a:r>
            <a:endParaRPr lang="LID4096" dirty="0"/>
          </a:p>
        </p:txBody>
      </p:sp>
      <p:sp>
        <p:nvSpPr>
          <p:cNvPr id="4" name="Slide Number Placeholder 3"/>
          <p:cNvSpPr>
            <a:spLocks noGrp="1"/>
          </p:cNvSpPr>
          <p:nvPr>
            <p:ph type="sldNum" sz="quarter" idx="5"/>
          </p:nvPr>
        </p:nvSpPr>
        <p:spPr/>
        <p:txBody>
          <a:bodyPr/>
          <a:lstStyle/>
          <a:p>
            <a:fld id="{CF78AE1A-4B04-4201-BCED-4B5C78A29054}" type="slidenum">
              <a:rPr lang="LID4096" smtClean="0"/>
              <a:t>2</a:t>
            </a:fld>
            <a:endParaRPr lang="LID4096"/>
          </a:p>
        </p:txBody>
      </p:sp>
    </p:spTree>
    <p:extLst>
      <p:ext uri="{BB962C8B-B14F-4D97-AF65-F5344CB8AC3E}">
        <p14:creationId xmlns:p14="http://schemas.microsoft.com/office/powerpoint/2010/main" val="13338140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effectLst/>
                <a:latin typeface="gg sans"/>
              </a:rPr>
              <a:t>First of all, let's introduce the problem: online polycube packing is part of the general family of </a:t>
            </a:r>
            <a:r>
              <a:rPr lang="en-GB" b="1" i="1" dirty="0">
                <a:effectLst/>
                <a:latin typeface="inherit"/>
              </a:rPr>
              <a:t>packing problems</a:t>
            </a:r>
            <a:r>
              <a:rPr lang="en-GB" b="0" i="0" dirty="0">
                <a:effectLst/>
                <a:latin typeface="gg sans"/>
              </a:rPr>
              <a:t>. These are optimization problems where the goal is to pack as many items as possible into a container with a fixed capacity. The most studied problem in this category is that of 3D packing problems, where items are given as either </a:t>
            </a:r>
            <a:r>
              <a:rPr lang="en-GB" b="1" i="1" dirty="0">
                <a:effectLst/>
                <a:latin typeface="inherit"/>
              </a:rPr>
              <a:t>regular 3D shapes</a:t>
            </a:r>
            <a:r>
              <a:rPr lang="en-GB" b="0" i="0" dirty="0">
                <a:effectLst/>
                <a:latin typeface="gg sans"/>
              </a:rPr>
              <a:t> such as cubes, or </a:t>
            </a:r>
            <a:r>
              <a:rPr lang="en-GB" b="1" i="1" dirty="0">
                <a:effectLst/>
                <a:latin typeface="inherit"/>
              </a:rPr>
              <a:t>irregular 3D shapes</a:t>
            </a:r>
            <a:r>
              <a:rPr lang="en-GB" b="0" i="0" dirty="0">
                <a:effectLst/>
                <a:latin typeface="gg sans"/>
              </a:rPr>
              <a:t> such as full 3D models. The polycube packing problems uses, as the name suggests, </a:t>
            </a:r>
            <a:r>
              <a:rPr lang="en-GB" b="1" i="1" dirty="0" err="1">
                <a:effectLst/>
                <a:latin typeface="inherit"/>
              </a:rPr>
              <a:t>polycubes</a:t>
            </a:r>
            <a:r>
              <a:rPr lang="en-GB" b="0" i="0" dirty="0">
                <a:effectLst/>
                <a:latin typeface="gg sans"/>
              </a:rPr>
              <a:t> as items. </a:t>
            </a:r>
            <a:r>
              <a:rPr lang="en-GB" b="0" i="0" dirty="0" err="1">
                <a:effectLst/>
                <a:latin typeface="gg sans"/>
              </a:rPr>
              <a:t>Polycubes</a:t>
            </a:r>
            <a:r>
              <a:rPr lang="en-GB" b="0" i="0" dirty="0">
                <a:effectLst/>
                <a:latin typeface="gg sans"/>
              </a:rPr>
              <a:t> are connected sets of unit cubes in three-dimensional space. Complexity-wise, they lay somewhere in between regular and irregular shapes, which makes packing </a:t>
            </a:r>
            <a:r>
              <a:rPr lang="en-GB" b="0" i="0" dirty="0" err="1">
                <a:effectLst/>
                <a:latin typeface="gg sans"/>
              </a:rPr>
              <a:t>polycubes</a:t>
            </a:r>
            <a:r>
              <a:rPr lang="en-GB" b="0" i="0" dirty="0">
                <a:effectLst/>
                <a:latin typeface="gg sans"/>
              </a:rPr>
              <a:t> an interesting problem to study.</a:t>
            </a:r>
            <a:endParaRPr lang="LID4096" dirty="0"/>
          </a:p>
        </p:txBody>
      </p:sp>
      <p:sp>
        <p:nvSpPr>
          <p:cNvPr id="4" name="Slide Number Placeholder 3"/>
          <p:cNvSpPr>
            <a:spLocks noGrp="1"/>
          </p:cNvSpPr>
          <p:nvPr>
            <p:ph type="sldNum" sz="quarter" idx="5"/>
          </p:nvPr>
        </p:nvSpPr>
        <p:spPr/>
        <p:txBody>
          <a:bodyPr/>
          <a:lstStyle/>
          <a:p>
            <a:fld id="{CF78AE1A-4B04-4201-BCED-4B5C78A29054}" type="slidenum">
              <a:rPr lang="LID4096" smtClean="0"/>
              <a:t>3</a:t>
            </a:fld>
            <a:endParaRPr lang="LID4096"/>
          </a:p>
        </p:txBody>
      </p:sp>
    </p:spTree>
    <p:extLst>
      <p:ext uri="{BB962C8B-B14F-4D97-AF65-F5344CB8AC3E}">
        <p14:creationId xmlns:p14="http://schemas.microsoft.com/office/powerpoint/2010/main" val="7192432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effectLst/>
                <a:latin typeface="gg sans"/>
              </a:rPr>
              <a:t>Now, an online problem means that instead of just getting a set of </a:t>
            </a:r>
            <a:r>
              <a:rPr lang="en-GB" b="0" i="0" dirty="0" err="1">
                <a:effectLst/>
                <a:latin typeface="gg sans"/>
              </a:rPr>
              <a:t>polycubes</a:t>
            </a:r>
            <a:r>
              <a:rPr lang="en-GB" b="0" i="0" dirty="0">
                <a:effectLst/>
                <a:latin typeface="gg sans"/>
              </a:rPr>
              <a:t> and finding the optimal packing, we get the </a:t>
            </a:r>
            <a:r>
              <a:rPr lang="en-GB" b="0" i="0" dirty="0" err="1">
                <a:effectLst/>
                <a:latin typeface="gg sans"/>
              </a:rPr>
              <a:t>polycubes</a:t>
            </a:r>
            <a:r>
              <a:rPr lang="en-GB" b="0" i="0" dirty="0">
                <a:effectLst/>
                <a:latin typeface="gg sans"/>
              </a:rPr>
              <a:t> one by one, and have to make decisions without knowing which polycube comes next. Traditionally, online problems have been solved using heuristics, but more recently learning-based approaches like deep reinforcement learning have been shown to perform better in a range of problems. Deep reinforcement learning has been shown to work very well for packing regular shapes, but standard reinforcement learning algorithms struggle a lot with packing irregular shapes, due to the increased complexity of the problem. The solution to this has been to restrict the action space of the learning algorithm using heuristics, narrowing the possible actions down to only the most promising ones.</a:t>
            </a:r>
            <a:endParaRPr lang="LID4096" dirty="0"/>
          </a:p>
        </p:txBody>
      </p:sp>
      <p:sp>
        <p:nvSpPr>
          <p:cNvPr id="4" name="Slide Number Placeholder 3"/>
          <p:cNvSpPr>
            <a:spLocks noGrp="1"/>
          </p:cNvSpPr>
          <p:nvPr>
            <p:ph type="sldNum" sz="quarter" idx="5"/>
          </p:nvPr>
        </p:nvSpPr>
        <p:spPr/>
        <p:txBody>
          <a:bodyPr/>
          <a:lstStyle/>
          <a:p>
            <a:fld id="{CF78AE1A-4B04-4201-BCED-4B5C78A29054}" type="slidenum">
              <a:rPr lang="LID4096" smtClean="0"/>
              <a:t>4</a:t>
            </a:fld>
            <a:endParaRPr lang="LID4096"/>
          </a:p>
        </p:txBody>
      </p:sp>
    </p:spTree>
    <p:extLst>
      <p:ext uri="{BB962C8B-B14F-4D97-AF65-F5344CB8AC3E}">
        <p14:creationId xmlns:p14="http://schemas.microsoft.com/office/powerpoint/2010/main" val="12473957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effectLst/>
                <a:latin typeface="gg sans"/>
              </a:rPr>
              <a:t>The research questions are as follows:</a:t>
            </a:r>
          </a:p>
          <a:p>
            <a:r>
              <a:rPr lang="en-GB" b="0" i="0" dirty="0">
                <a:effectLst/>
                <a:latin typeface="gg sans"/>
              </a:rPr>
              <a:t>First of all, can online polycube packing be solved using deep reinforcement learning?</a:t>
            </a:r>
          </a:p>
          <a:p>
            <a:r>
              <a:rPr lang="en-GB" b="0" i="0" dirty="0">
                <a:effectLst/>
                <a:latin typeface="gg sans"/>
              </a:rPr>
              <a:t>Next, how does the performance of deep reinforcement learning compare to traditional heuristics?</a:t>
            </a:r>
          </a:p>
          <a:p>
            <a:r>
              <a:rPr lang="en-GB" b="0" i="0" dirty="0">
                <a:effectLst/>
                <a:latin typeface="gg sans"/>
              </a:rPr>
              <a:t>And finally, can the performance of deep reinforcement learning be improved by using heuristics to restrict the action space?</a:t>
            </a:r>
            <a:endParaRPr lang="LID4096" dirty="0"/>
          </a:p>
        </p:txBody>
      </p:sp>
      <p:sp>
        <p:nvSpPr>
          <p:cNvPr id="4" name="Slide Number Placeholder 3"/>
          <p:cNvSpPr>
            <a:spLocks noGrp="1"/>
          </p:cNvSpPr>
          <p:nvPr>
            <p:ph type="sldNum" sz="quarter" idx="5"/>
          </p:nvPr>
        </p:nvSpPr>
        <p:spPr/>
        <p:txBody>
          <a:bodyPr/>
          <a:lstStyle/>
          <a:p>
            <a:fld id="{CF78AE1A-4B04-4201-BCED-4B5C78A29054}" type="slidenum">
              <a:rPr lang="LID4096" smtClean="0"/>
              <a:t>5</a:t>
            </a:fld>
            <a:endParaRPr lang="LID4096"/>
          </a:p>
        </p:txBody>
      </p:sp>
    </p:spTree>
    <p:extLst>
      <p:ext uri="{BB962C8B-B14F-4D97-AF65-F5344CB8AC3E}">
        <p14:creationId xmlns:p14="http://schemas.microsoft.com/office/powerpoint/2010/main" val="3260004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effectLst/>
                <a:latin typeface="gg sans"/>
              </a:rPr>
              <a:t>Before we talk more about deep reinforcement learning, I think it would be helpful to first describe the online polycube packing problem as a Markov Decision Process, as that will help us understand what a reinforcement learning agent would actually look like for this problem. A Markov Decision Process consists of the following elements:</a:t>
            </a:r>
          </a:p>
          <a:p>
            <a:r>
              <a:rPr lang="en-GB" b="0" i="0" dirty="0">
                <a:effectLst/>
                <a:latin typeface="gg sans"/>
              </a:rPr>
              <a:t>First of all: the </a:t>
            </a:r>
            <a:r>
              <a:rPr lang="en-GB" b="1" i="1" dirty="0">
                <a:effectLst/>
                <a:latin typeface="inherit"/>
              </a:rPr>
              <a:t>set of states</a:t>
            </a:r>
            <a:r>
              <a:rPr lang="en-GB" b="0" i="0" dirty="0">
                <a:effectLst/>
                <a:latin typeface="gg sans"/>
              </a:rPr>
              <a:t>. We can define a state for our problem as a tuple of the current container, and the current polycube to be packed.</a:t>
            </a:r>
          </a:p>
          <a:p>
            <a:r>
              <a:rPr lang="en-GB" b="0" i="0" dirty="0">
                <a:effectLst/>
                <a:latin typeface="gg sans"/>
              </a:rPr>
              <a:t>Next is the </a:t>
            </a:r>
            <a:r>
              <a:rPr lang="en-GB" b="1" i="1" dirty="0">
                <a:effectLst/>
                <a:latin typeface="inherit"/>
              </a:rPr>
              <a:t>set of actions</a:t>
            </a:r>
            <a:r>
              <a:rPr lang="en-GB" b="0" i="0" dirty="0">
                <a:effectLst/>
                <a:latin typeface="gg sans"/>
              </a:rPr>
              <a:t>. An action in this context is a tuple consisting of a position inside the container where the polycube would be placed, together with the orientation of the polycube.</a:t>
            </a:r>
          </a:p>
          <a:p>
            <a:r>
              <a:rPr lang="en-GB" b="0" i="0" dirty="0">
                <a:effectLst/>
                <a:latin typeface="gg sans"/>
              </a:rPr>
              <a:t>After that comes the </a:t>
            </a:r>
            <a:r>
              <a:rPr lang="en-GB" b="1" i="1" dirty="0">
                <a:effectLst/>
                <a:latin typeface="inherit"/>
              </a:rPr>
              <a:t>transition probability function</a:t>
            </a:r>
            <a:r>
              <a:rPr lang="en-GB" b="0" i="0" dirty="0">
                <a:effectLst/>
                <a:latin typeface="gg sans"/>
              </a:rPr>
              <a:t>, but since the next polycube to be packed is not known beforehand, this function is fully stochastic, and thus irrelevant to our problem.</a:t>
            </a:r>
          </a:p>
          <a:p>
            <a:r>
              <a:rPr lang="en-GB" b="0" i="0" dirty="0">
                <a:effectLst/>
                <a:latin typeface="gg sans"/>
              </a:rPr>
              <a:t>Finally, we have the </a:t>
            </a:r>
            <a:r>
              <a:rPr lang="en-GB" b="1" i="1" dirty="0">
                <a:effectLst/>
                <a:latin typeface="inherit"/>
              </a:rPr>
              <a:t>reward function</a:t>
            </a:r>
            <a:r>
              <a:rPr lang="en-GB" b="0" i="0" dirty="0">
                <a:effectLst/>
                <a:latin typeface="gg sans"/>
              </a:rPr>
              <a:t>. This is equal to the number of </a:t>
            </a:r>
            <a:r>
              <a:rPr lang="en-GB" b="0" i="0" dirty="0" err="1">
                <a:effectLst/>
                <a:latin typeface="gg sans"/>
              </a:rPr>
              <a:t>polycubes</a:t>
            </a:r>
            <a:r>
              <a:rPr lang="en-GB" b="0" i="0" dirty="0">
                <a:effectLst/>
                <a:latin typeface="gg sans"/>
              </a:rPr>
              <a:t> packed at the end of the episode, as that is the metric that we want to optimize.</a:t>
            </a:r>
            <a:endParaRPr lang="LID4096" dirty="0"/>
          </a:p>
        </p:txBody>
      </p:sp>
      <p:sp>
        <p:nvSpPr>
          <p:cNvPr id="4" name="Slide Number Placeholder 3"/>
          <p:cNvSpPr>
            <a:spLocks noGrp="1"/>
          </p:cNvSpPr>
          <p:nvPr>
            <p:ph type="sldNum" sz="quarter" idx="5"/>
          </p:nvPr>
        </p:nvSpPr>
        <p:spPr/>
        <p:txBody>
          <a:bodyPr/>
          <a:lstStyle/>
          <a:p>
            <a:fld id="{CF78AE1A-4B04-4201-BCED-4B5C78A29054}" type="slidenum">
              <a:rPr lang="LID4096" smtClean="0"/>
              <a:t>6</a:t>
            </a:fld>
            <a:endParaRPr lang="LID4096"/>
          </a:p>
        </p:txBody>
      </p:sp>
    </p:spTree>
    <p:extLst>
      <p:ext uri="{BB962C8B-B14F-4D97-AF65-F5344CB8AC3E}">
        <p14:creationId xmlns:p14="http://schemas.microsoft.com/office/powerpoint/2010/main" val="4553589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effectLst/>
                <a:latin typeface="gg sans"/>
              </a:rPr>
              <a:t>Now, since we are dealing with quite a large state and action space in a stochastic environment, we restrict our choice of deep reinforcement learning algorithm to on-policy, model-free algorithms. One of the most popular algorithms in this category is </a:t>
            </a:r>
            <a:r>
              <a:rPr lang="en-GB" b="1" i="1" dirty="0">
                <a:effectLst/>
                <a:latin typeface="inherit"/>
              </a:rPr>
              <a:t>Proximal Policy Optimization</a:t>
            </a:r>
            <a:r>
              <a:rPr lang="en-GB" b="0" i="0" dirty="0">
                <a:effectLst/>
                <a:latin typeface="gg sans"/>
              </a:rPr>
              <a:t>, PPO for short. PPO roughly works by interacting with the environment in batches, and then updating its policy using stochastic gradient ascent at the end of each batch. PPO outperforms most other policy gradient methods in a range of environments, and is known for its balance between sample efficiency, complexity and ease of use.</a:t>
            </a:r>
            <a:endParaRPr lang="LID4096" dirty="0"/>
          </a:p>
        </p:txBody>
      </p:sp>
      <p:sp>
        <p:nvSpPr>
          <p:cNvPr id="4" name="Slide Number Placeholder 3"/>
          <p:cNvSpPr>
            <a:spLocks noGrp="1"/>
          </p:cNvSpPr>
          <p:nvPr>
            <p:ph type="sldNum" sz="quarter" idx="5"/>
          </p:nvPr>
        </p:nvSpPr>
        <p:spPr/>
        <p:txBody>
          <a:bodyPr/>
          <a:lstStyle/>
          <a:p>
            <a:fld id="{CF78AE1A-4B04-4201-BCED-4B5C78A29054}" type="slidenum">
              <a:rPr lang="LID4096" smtClean="0"/>
              <a:t>7</a:t>
            </a:fld>
            <a:endParaRPr lang="LID4096"/>
          </a:p>
        </p:txBody>
      </p:sp>
    </p:spTree>
    <p:extLst>
      <p:ext uri="{BB962C8B-B14F-4D97-AF65-F5344CB8AC3E}">
        <p14:creationId xmlns:p14="http://schemas.microsoft.com/office/powerpoint/2010/main" val="42842555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effectLst/>
                <a:latin typeface="gg sans"/>
              </a:rPr>
              <a:t>For the experiments, we will be benchmarking three different PPO agents against a greedy agent that uses an optimal combination of packing heuristics. The three PPO agents are: </a:t>
            </a:r>
          </a:p>
          <a:p>
            <a:r>
              <a:rPr lang="en-GB" b="1" i="1" dirty="0">
                <a:effectLst/>
                <a:latin typeface="inherit"/>
              </a:rPr>
              <a:t>PPO-D</a:t>
            </a:r>
            <a:r>
              <a:rPr lang="en-GB" b="0" i="0" dirty="0">
                <a:effectLst/>
                <a:latin typeface="gg sans"/>
              </a:rPr>
              <a:t>: a PPO agent that uses the default hyperparameters, as provided by the original paper. </a:t>
            </a:r>
          </a:p>
          <a:p>
            <a:r>
              <a:rPr lang="en-GB" b="1" i="1" dirty="0">
                <a:effectLst/>
                <a:latin typeface="inherit"/>
              </a:rPr>
              <a:t>PPO-O</a:t>
            </a:r>
            <a:r>
              <a:rPr lang="en-GB" b="0" i="0" dirty="0">
                <a:effectLst/>
                <a:latin typeface="gg sans"/>
              </a:rPr>
              <a:t>: a PPO agent that uses optimized hyperparameters, tuned on a small container. </a:t>
            </a:r>
          </a:p>
          <a:p>
            <a:r>
              <a:rPr lang="en-GB" b="1" i="1" dirty="0">
                <a:effectLst/>
                <a:latin typeface="inherit"/>
              </a:rPr>
              <a:t>PPO-H</a:t>
            </a:r>
            <a:r>
              <a:rPr lang="en-GB" b="0" i="0" dirty="0">
                <a:effectLst/>
                <a:latin typeface="gg sans"/>
              </a:rPr>
              <a:t>: a PPO agent that uses optimized hyperparameters, as well as heuristics to restrict the action space during training.</a:t>
            </a:r>
          </a:p>
          <a:p>
            <a:r>
              <a:rPr lang="en-GB" b="0" i="0" dirty="0">
                <a:effectLst/>
                <a:latin typeface="gg sans"/>
              </a:rPr>
              <a:t>Because training and evaluating all of these agents is very computationally expensive, the experiments were only performed on 4 different container sizes, which you can see here at the bottom.</a:t>
            </a:r>
            <a:endParaRPr lang="LID4096" dirty="0"/>
          </a:p>
        </p:txBody>
      </p:sp>
      <p:sp>
        <p:nvSpPr>
          <p:cNvPr id="4" name="Slide Number Placeholder 3"/>
          <p:cNvSpPr>
            <a:spLocks noGrp="1"/>
          </p:cNvSpPr>
          <p:nvPr>
            <p:ph type="sldNum" sz="quarter" idx="5"/>
          </p:nvPr>
        </p:nvSpPr>
        <p:spPr/>
        <p:txBody>
          <a:bodyPr/>
          <a:lstStyle/>
          <a:p>
            <a:fld id="{CF78AE1A-4B04-4201-BCED-4B5C78A29054}" type="slidenum">
              <a:rPr lang="LID4096" smtClean="0"/>
              <a:t>8</a:t>
            </a:fld>
            <a:endParaRPr lang="LID4096"/>
          </a:p>
        </p:txBody>
      </p:sp>
    </p:spTree>
    <p:extLst>
      <p:ext uri="{BB962C8B-B14F-4D97-AF65-F5344CB8AC3E}">
        <p14:creationId xmlns:p14="http://schemas.microsoft.com/office/powerpoint/2010/main" val="27657105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effectLst/>
                <a:latin typeface="gg sans"/>
              </a:rPr>
              <a:t>The first experiment is related to training the different PPO agents. All agents are trained for a fixed number of steps, where each step corresponds to a single polycube being placed. The agents are trained until convergence, which is determined by monitoring the step-by-step mean reward, which tells us how well the agent is performing, and the entropy loss, which tells us how much the agent is still exploring.</a:t>
            </a:r>
            <a:endParaRPr lang="LID4096" dirty="0"/>
          </a:p>
        </p:txBody>
      </p:sp>
      <p:sp>
        <p:nvSpPr>
          <p:cNvPr id="4" name="Slide Number Placeholder 3"/>
          <p:cNvSpPr>
            <a:spLocks noGrp="1"/>
          </p:cNvSpPr>
          <p:nvPr>
            <p:ph type="sldNum" sz="quarter" idx="5"/>
          </p:nvPr>
        </p:nvSpPr>
        <p:spPr/>
        <p:txBody>
          <a:bodyPr/>
          <a:lstStyle/>
          <a:p>
            <a:fld id="{CF78AE1A-4B04-4201-BCED-4B5C78A29054}" type="slidenum">
              <a:rPr lang="LID4096" smtClean="0"/>
              <a:t>9</a:t>
            </a:fld>
            <a:endParaRPr lang="LID4096"/>
          </a:p>
        </p:txBody>
      </p:sp>
    </p:spTree>
    <p:extLst>
      <p:ext uri="{BB962C8B-B14F-4D97-AF65-F5344CB8AC3E}">
        <p14:creationId xmlns:p14="http://schemas.microsoft.com/office/powerpoint/2010/main" val="11932761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effectLst/>
                <a:latin typeface="gg sans"/>
              </a:rPr>
              <a:t>Let's first take a look at the mean reward over time on a 3x3x3 container. Here you can see PPO-D in blue, PPO-O in green and PPO-H in orange, And as you can see they all converge to the same mean reward, but PPO-D is the slowest to converge. Inherently it makes sense that PPO-H is able to converge faster than PPO-D, as restricting the action space to only the most promising actions should be faster than having to learn those promising actions from scratch, but what is interesting is that PPO-O is able to match the convergence rate of PPO-H.</a:t>
            </a:r>
            <a:endParaRPr lang="LID4096" dirty="0"/>
          </a:p>
        </p:txBody>
      </p:sp>
      <p:sp>
        <p:nvSpPr>
          <p:cNvPr id="4" name="Slide Number Placeholder 3"/>
          <p:cNvSpPr>
            <a:spLocks noGrp="1"/>
          </p:cNvSpPr>
          <p:nvPr>
            <p:ph type="sldNum" sz="quarter" idx="5"/>
          </p:nvPr>
        </p:nvSpPr>
        <p:spPr/>
        <p:txBody>
          <a:bodyPr/>
          <a:lstStyle/>
          <a:p>
            <a:fld id="{CF78AE1A-4B04-4201-BCED-4B5C78A29054}" type="slidenum">
              <a:rPr lang="LID4096" smtClean="0"/>
              <a:t>10</a:t>
            </a:fld>
            <a:endParaRPr lang="LID4096"/>
          </a:p>
        </p:txBody>
      </p:sp>
    </p:spTree>
    <p:extLst>
      <p:ext uri="{BB962C8B-B14F-4D97-AF65-F5344CB8AC3E}">
        <p14:creationId xmlns:p14="http://schemas.microsoft.com/office/powerpoint/2010/main" val="11262510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effectLst/>
                <a:latin typeface="gg sans"/>
              </a:rPr>
              <a:t>The same thing can be seen when we look at the mean reward for the 5x3x3 container. This suggests that restricting the action space using heuristics is not as successful here as with packing irregular shapes.</a:t>
            </a:r>
            <a:endParaRPr lang="LID4096" dirty="0"/>
          </a:p>
        </p:txBody>
      </p:sp>
      <p:sp>
        <p:nvSpPr>
          <p:cNvPr id="4" name="Slide Number Placeholder 3"/>
          <p:cNvSpPr>
            <a:spLocks noGrp="1"/>
          </p:cNvSpPr>
          <p:nvPr>
            <p:ph type="sldNum" sz="quarter" idx="5"/>
          </p:nvPr>
        </p:nvSpPr>
        <p:spPr/>
        <p:txBody>
          <a:bodyPr/>
          <a:lstStyle/>
          <a:p>
            <a:fld id="{CF78AE1A-4B04-4201-BCED-4B5C78A29054}" type="slidenum">
              <a:rPr lang="LID4096" smtClean="0"/>
              <a:t>11</a:t>
            </a:fld>
            <a:endParaRPr lang="LID4096"/>
          </a:p>
        </p:txBody>
      </p:sp>
    </p:spTree>
    <p:extLst>
      <p:ext uri="{BB962C8B-B14F-4D97-AF65-F5344CB8AC3E}">
        <p14:creationId xmlns:p14="http://schemas.microsoft.com/office/powerpoint/2010/main" val="5379166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effectLst/>
                <a:latin typeface="gg sans"/>
              </a:rPr>
              <a:t>When looking at the larger container sizes, we can see that, despite the slower convergence rate, PPO-D eventually converges to a higher mean reward than the other agents. This suggests that a faster convergence rate does not necessarily lead to a better policy, and that the hyperparameters used for PPO-O and PPO-H are suboptimal for larger container sizes. Since these hyperparameters were tuned on a small container, it is possible that these hyperparameters are overfitted to the smaller container size, but this is purely speculative.</a:t>
            </a:r>
            <a:endParaRPr lang="LID4096" dirty="0"/>
          </a:p>
        </p:txBody>
      </p:sp>
      <p:sp>
        <p:nvSpPr>
          <p:cNvPr id="4" name="Slide Number Placeholder 3"/>
          <p:cNvSpPr>
            <a:spLocks noGrp="1"/>
          </p:cNvSpPr>
          <p:nvPr>
            <p:ph type="sldNum" sz="quarter" idx="5"/>
          </p:nvPr>
        </p:nvSpPr>
        <p:spPr/>
        <p:txBody>
          <a:bodyPr/>
          <a:lstStyle/>
          <a:p>
            <a:fld id="{CF78AE1A-4B04-4201-BCED-4B5C78A29054}" type="slidenum">
              <a:rPr lang="LID4096" smtClean="0"/>
              <a:t>12</a:t>
            </a:fld>
            <a:endParaRPr lang="LID4096"/>
          </a:p>
        </p:txBody>
      </p:sp>
    </p:spTree>
    <p:extLst>
      <p:ext uri="{BB962C8B-B14F-4D97-AF65-F5344CB8AC3E}">
        <p14:creationId xmlns:p14="http://schemas.microsoft.com/office/powerpoint/2010/main" val="12251958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effectLst/>
                <a:latin typeface="gg sans"/>
              </a:rPr>
              <a:t>Lastly, when we look at the entropy loss, we can see that the graph looks roughly the same for all container sizes. We can see that the entropy loss of PPO-D is consistently lower than that of the other agents, which suggests that it is less "confident" in its policy. This could either mean that PPO-D is able to learn a less exploitative policy than the other agents, or that the other agents are converging too quickly to local optima. But once again, this is purely speculative.</a:t>
            </a:r>
            <a:endParaRPr lang="LID4096" dirty="0"/>
          </a:p>
        </p:txBody>
      </p:sp>
      <p:sp>
        <p:nvSpPr>
          <p:cNvPr id="4" name="Slide Number Placeholder 3"/>
          <p:cNvSpPr>
            <a:spLocks noGrp="1"/>
          </p:cNvSpPr>
          <p:nvPr>
            <p:ph type="sldNum" sz="quarter" idx="5"/>
          </p:nvPr>
        </p:nvSpPr>
        <p:spPr/>
        <p:txBody>
          <a:bodyPr/>
          <a:lstStyle/>
          <a:p>
            <a:fld id="{CF78AE1A-4B04-4201-BCED-4B5C78A29054}" type="slidenum">
              <a:rPr lang="LID4096" smtClean="0"/>
              <a:t>13</a:t>
            </a:fld>
            <a:endParaRPr lang="LID4096"/>
          </a:p>
        </p:txBody>
      </p:sp>
    </p:spTree>
    <p:extLst>
      <p:ext uri="{BB962C8B-B14F-4D97-AF65-F5344CB8AC3E}">
        <p14:creationId xmlns:p14="http://schemas.microsoft.com/office/powerpoint/2010/main" val="15842111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effectLst/>
                <a:latin typeface="gg sans"/>
              </a:rPr>
              <a:t>The second experiment is related to the actual performance of the PPO agents. To evaluate this, all PPO agents were run head-to-head with the greedy agent on 10,000 polycube sequences, with the number of </a:t>
            </a:r>
            <a:r>
              <a:rPr lang="en-GB" b="0" i="0" dirty="0" err="1">
                <a:effectLst/>
                <a:latin typeface="gg sans"/>
              </a:rPr>
              <a:t>polycubes</a:t>
            </a:r>
            <a:r>
              <a:rPr lang="en-GB" b="0" i="0" dirty="0">
                <a:effectLst/>
                <a:latin typeface="gg sans"/>
              </a:rPr>
              <a:t> packed and the time taken to pack them recorded for each sequence.</a:t>
            </a:r>
            <a:endParaRPr lang="LID4096" dirty="0"/>
          </a:p>
        </p:txBody>
      </p:sp>
      <p:sp>
        <p:nvSpPr>
          <p:cNvPr id="4" name="Slide Number Placeholder 3"/>
          <p:cNvSpPr>
            <a:spLocks noGrp="1"/>
          </p:cNvSpPr>
          <p:nvPr>
            <p:ph type="sldNum" sz="quarter" idx="5"/>
          </p:nvPr>
        </p:nvSpPr>
        <p:spPr/>
        <p:txBody>
          <a:bodyPr/>
          <a:lstStyle/>
          <a:p>
            <a:fld id="{CF78AE1A-4B04-4201-BCED-4B5C78A29054}" type="slidenum">
              <a:rPr lang="LID4096" smtClean="0"/>
              <a:t>14</a:t>
            </a:fld>
            <a:endParaRPr lang="LID4096"/>
          </a:p>
        </p:txBody>
      </p:sp>
    </p:spTree>
    <p:extLst>
      <p:ext uri="{BB962C8B-B14F-4D97-AF65-F5344CB8AC3E}">
        <p14:creationId xmlns:p14="http://schemas.microsoft.com/office/powerpoint/2010/main" val="17471892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effectLst/>
                <a:latin typeface="gg sans"/>
              </a:rPr>
              <a:t>I am only going to go through the results from the 4x4x4 container, but it should be noted that all other container sizes have roughly the same results as this one. The first two rows here are PPO-D head-to-head with PPO-O and PPO-H respectively, and you can see that PPO-D has indeed learned a better policy than the other agents, as it is able to outperform both of them. In the last row, we compare the performance of PPO-D with that of the greedy agent, and we see that the greedy agent is able to outperform PPO-D by a difference of about 1000 sequences. This means that, even though the PPO agents are able to solve the online polycube packing problem, they are not able to match the performance of the greedy agent.</a:t>
            </a:r>
            <a:endParaRPr lang="LID4096" dirty="0"/>
          </a:p>
        </p:txBody>
      </p:sp>
      <p:sp>
        <p:nvSpPr>
          <p:cNvPr id="4" name="Slide Number Placeholder 3"/>
          <p:cNvSpPr>
            <a:spLocks noGrp="1"/>
          </p:cNvSpPr>
          <p:nvPr>
            <p:ph type="sldNum" sz="quarter" idx="5"/>
          </p:nvPr>
        </p:nvSpPr>
        <p:spPr/>
        <p:txBody>
          <a:bodyPr/>
          <a:lstStyle/>
          <a:p>
            <a:fld id="{CF78AE1A-4B04-4201-BCED-4B5C78A29054}" type="slidenum">
              <a:rPr lang="LID4096" smtClean="0"/>
              <a:t>15</a:t>
            </a:fld>
            <a:endParaRPr lang="LID4096"/>
          </a:p>
        </p:txBody>
      </p:sp>
    </p:spTree>
    <p:extLst>
      <p:ext uri="{BB962C8B-B14F-4D97-AF65-F5344CB8AC3E}">
        <p14:creationId xmlns:p14="http://schemas.microsoft.com/office/powerpoint/2010/main" val="9265071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effectLst/>
                <a:latin typeface="gg sans"/>
              </a:rPr>
              <a:t>The last set of results is related to the mean time taken to pack a single polycube. Here we can see that, especially for larger container sizes, all PPO agents are consistently faster than the greedy agent. This is as expected, as the heuristics have to do a lot more computations to find the optimal placement of the current polycube, whereas the PPO agents use a neural network that is very quick even for large container sizes.</a:t>
            </a:r>
            <a:endParaRPr lang="LID4096" dirty="0"/>
          </a:p>
        </p:txBody>
      </p:sp>
      <p:sp>
        <p:nvSpPr>
          <p:cNvPr id="4" name="Slide Number Placeholder 3"/>
          <p:cNvSpPr>
            <a:spLocks noGrp="1"/>
          </p:cNvSpPr>
          <p:nvPr>
            <p:ph type="sldNum" sz="quarter" idx="5"/>
          </p:nvPr>
        </p:nvSpPr>
        <p:spPr/>
        <p:txBody>
          <a:bodyPr/>
          <a:lstStyle/>
          <a:p>
            <a:fld id="{CF78AE1A-4B04-4201-BCED-4B5C78A29054}" type="slidenum">
              <a:rPr lang="LID4096" smtClean="0"/>
              <a:t>16</a:t>
            </a:fld>
            <a:endParaRPr lang="LID4096"/>
          </a:p>
        </p:txBody>
      </p:sp>
    </p:spTree>
    <p:extLst>
      <p:ext uri="{BB962C8B-B14F-4D97-AF65-F5344CB8AC3E}">
        <p14:creationId xmlns:p14="http://schemas.microsoft.com/office/powerpoint/2010/main" val="33003468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effectLst/>
                <a:latin typeface="gg sans"/>
              </a:rPr>
              <a:t>To conclude, let's link these results back to the original research questions.</a:t>
            </a:r>
          </a:p>
          <a:p>
            <a:pPr marL="0" indent="0">
              <a:buFont typeface="Wingdings" panose="05000000000000000000" pitchFamily="2" charset="2"/>
              <a:buNone/>
            </a:pPr>
            <a:r>
              <a:rPr lang="en-GB" b="1" i="1" dirty="0">
                <a:effectLst/>
                <a:latin typeface="gg sans"/>
              </a:rPr>
              <a:t>-- slide –-</a:t>
            </a:r>
          </a:p>
          <a:p>
            <a:r>
              <a:rPr lang="en-GB" b="0" i="0" dirty="0">
                <a:effectLst/>
                <a:latin typeface="gg sans"/>
              </a:rPr>
              <a:t>The results show that deep reinforcement learning is a valid approach for solving the online polycube packing problem, but more research is needed to improve the overall performance. Deep reinforcement learning is consistently faster than the heuristics, but it is on average not able to pack as many </a:t>
            </a:r>
            <a:r>
              <a:rPr lang="en-GB" b="0" i="0" dirty="0" err="1">
                <a:effectLst/>
                <a:latin typeface="gg sans"/>
              </a:rPr>
              <a:t>polycubes</a:t>
            </a:r>
            <a:r>
              <a:rPr lang="en-GB" b="0" i="0" dirty="0">
                <a:effectLst/>
                <a:latin typeface="gg sans"/>
              </a:rPr>
              <a:t>. Finally, restricting the action space using heuristics does not seem to improve the performance of deep reinforcement learning in any meaningful way.</a:t>
            </a:r>
            <a:endParaRPr lang="LID4096" dirty="0"/>
          </a:p>
        </p:txBody>
      </p:sp>
      <p:sp>
        <p:nvSpPr>
          <p:cNvPr id="4" name="Slide Number Placeholder 3"/>
          <p:cNvSpPr>
            <a:spLocks noGrp="1"/>
          </p:cNvSpPr>
          <p:nvPr>
            <p:ph type="sldNum" sz="quarter" idx="5"/>
          </p:nvPr>
        </p:nvSpPr>
        <p:spPr/>
        <p:txBody>
          <a:bodyPr/>
          <a:lstStyle/>
          <a:p>
            <a:fld id="{CF78AE1A-4B04-4201-BCED-4B5C78A29054}" type="slidenum">
              <a:rPr lang="LID4096" smtClean="0"/>
              <a:t>17</a:t>
            </a:fld>
            <a:endParaRPr lang="LID4096"/>
          </a:p>
        </p:txBody>
      </p:sp>
    </p:spTree>
    <p:extLst>
      <p:ext uri="{BB962C8B-B14F-4D97-AF65-F5344CB8AC3E}">
        <p14:creationId xmlns:p14="http://schemas.microsoft.com/office/powerpoint/2010/main" val="3623381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effectLst/>
                <a:latin typeface="gg sans"/>
              </a:rPr>
              <a:t>As for the limitations of this research, I would say the main limitation is the computational cost associated with researching this problem. If I'd have to give a direction for future research, I would go that direction and suggest to repeat the experiments on larger container sizes or with more sophisticated hyperparameter tuning, to see if these results hold.</a:t>
            </a:r>
            <a:endParaRPr lang="LID4096" dirty="0"/>
          </a:p>
        </p:txBody>
      </p:sp>
      <p:sp>
        <p:nvSpPr>
          <p:cNvPr id="4" name="Slide Number Placeholder 3"/>
          <p:cNvSpPr>
            <a:spLocks noGrp="1"/>
          </p:cNvSpPr>
          <p:nvPr>
            <p:ph type="sldNum" sz="quarter" idx="5"/>
          </p:nvPr>
        </p:nvSpPr>
        <p:spPr/>
        <p:txBody>
          <a:bodyPr/>
          <a:lstStyle/>
          <a:p>
            <a:fld id="{CF78AE1A-4B04-4201-BCED-4B5C78A29054}" type="slidenum">
              <a:rPr lang="LID4096" smtClean="0"/>
              <a:t>18</a:t>
            </a:fld>
            <a:endParaRPr lang="LID4096"/>
          </a:p>
        </p:txBody>
      </p:sp>
    </p:spTree>
    <p:extLst>
      <p:ext uri="{BB962C8B-B14F-4D97-AF65-F5344CB8AC3E}">
        <p14:creationId xmlns:p14="http://schemas.microsoft.com/office/powerpoint/2010/main" val="18949352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1A6A15-6E39-4FFA-B5DC-89EB633E6DC2}"/>
              </a:ext>
            </a:extLst>
          </p:cNvPr>
          <p:cNvSpPr>
            <a:spLocks noGrp="1"/>
          </p:cNvSpPr>
          <p:nvPr>
            <p:ph type="ctrTitle"/>
          </p:nvPr>
        </p:nvSpPr>
        <p:spPr>
          <a:xfrm>
            <a:off x="1638300" y="1371600"/>
            <a:ext cx="8127574" cy="2736443"/>
          </a:xfrm>
        </p:spPr>
        <p:txBody>
          <a:bodyPr anchor="b">
            <a:normAutofit/>
          </a:bodyPr>
          <a:lstStyle>
            <a:lvl1pPr algn="l">
              <a:defRPr sz="4400"/>
            </a:lvl1pPr>
          </a:lstStyle>
          <a:p>
            <a:r>
              <a:rPr lang="en-US" dirty="0"/>
              <a:t>Click to edit Master title style</a:t>
            </a:r>
          </a:p>
        </p:txBody>
      </p:sp>
      <p:sp>
        <p:nvSpPr>
          <p:cNvPr id="3" name="Subtitle 2">
            <a:extLst>
              <a:ext uri="{FF2B5EF4-FFF2-40B4-BE49-F238E27FC236}">
                <a16:creationId xmlns:a16="http://schemas.microsoft.com/office/drawing/2014/main" id="{9A169311-3201-45EC-B973-82EC27DA529A}"/>
              </a:ext>
            </a:extLst>
          </p:cNvPr>
          <p:cNvSpPr>
            <a:spLocks noGrp="1"/>
          </p:cNvSpPr>
          <p:nvPr>
            <p:ph type="subTitle" idx="1"/>
          </p:nvPr>
        </p:nvSpPr>
        <p:spPr>
          <a:xfrm>
            <a:off x="1638300" y="4299358"/>
            <a:ext cx="8127574" cy="1187042"/>
          </a:xfrm>
        </p:spPr>
        <p:txBody>
          <a:bodyPr>
            <a:normAutofit/>
          </a:bodyPr>
          <a:lstStyle>
            <a:lvl1pPr marL="0" indent="0" algn="l">
              <a:buNone/>
              <a:defRPr sz="1800" cap="all" spc="2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629AE4B9-EDEF-4A2C-B464-332C5C624F1D}"/>
              </a:ext>
            </a:extLst>
          </p:cNvPr>
          <p:cNvSpPr>
            <a:spLocks noGrp="1"/>
          </p:cNvSpPr>
          <p:nvPr>
            <p:ph type="dt" sz="half" idx="10"/>
          </p:nvPr>
        </p:nvSpPr>
        <p:spPr/>
        <p:txBody>
          <a:bodyPr/>
          <a:lstStyle/>
          <a:p>
            <a:fld id="{42E5A8D0-DB4C-4CE5-867C-64E0FB3C1E3B}" type="datetime1">
              <a:rPr lang="en-US" smtClean="0"/>
              <a:t>6/23/2024</a:t>
            </a:fld>
            <a:endParaRPr lang="en-US"/>
          </a:p>
        </p:txBody>
      </p:sp>
      <p:sp>
        <p:nvSpPr>
          <p:cNvPr id="5" name="Footer Placeholder 4">
            <a:extLst>
              <a:ext uri="{FF2B5EF4-FFF2-40B4-BE49-F238E27FC236}">
                <a16:creationId xmlns:a16="http://schemas.microsoft.com/office/drawing/2014/main" id="{62B4C951-4861-4549-8E72-CEECA89E4D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2E1401-5637-41BC-AC21-891056450A28}"/>
              </a:ext>
            </a:extLst>
          </p:cNvPr>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7999706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B3747-9ADB-4FCC-89CE-6E84D13475D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DAEC9C6-5D7D-4249-8820-D4C99D0AE825}"/>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421F35F7-46A1-40A9-ACD7-C4923992674A}"/>
              </a:ext>
            </a:extLst>
          </p:cNvPr>
          <p:cNvSpPr>
            <a:spLocks noGrp="1"/>
          </p:cNvSpPr>
          <p:nvPr>
            <p:ph type="dt" sz="half" idx="10"/>
          </p:nvPr>
        </p:nvSpPr>
        <p:spPr/>
        <p:txBody>
          <a:bodyPr/>
          <a:lstStyle/>
          <a:p>
            <a:fld id="{5C396A35-3D93-4652-B17E-481D65497F95}" type="datetime1">
              <a:rPr lang="en-US" smtClean="0"/>
              <a:t>6/23/2024</a:t>
            </a:fld>
            <a:endParaRPr lang="en-US"/>
          </a:p>
        </p:txBody>
      </p:sp>
      <p:sp>
        <p:nvSpPr>
          <p:cNvPr id="5" name="Footer Placeholder 4">
            <a:extLst>
              <a:ext uri="{FF2B5EF4-FFF2-40B4-BE49-F238E27FC236}">
                <a16:creationId xmlns:a16="http://schemas.microsoft.com/office/drawing/2014/main" id="{FA345637-B780-4999-A87D-0039BC5A94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D9777F-E471-4CC5-B27B-137CB061E28E}"/>
              </a:ext>
            </a:extLst>
          </p:cNvPr>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36098651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DCB1D-064E-46DE-B533-7CDA331EEB61}"/>
              </a:ext>
            </a:extLst>
          </p:cNvPr>
          <p:cNvSpPr>
            <a:spLocks noGrp="1"/>
          </p:cNvSpPr>
          <p:nvPr>
            <p:ph type="title"/>
          </p:nvPr>
        </p:nvSpPr>
        <p:spPr>
          <a:xfrm>
            <a:off x="1638300" y="2748406"/>
            <a:ext cx="8115300" cy="2737994"/>
          </a:xfrm>
        </p:spPr>
        <p:txBody>
          <a:bodyPr anchor="b">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5FD222C0-D002-4A94-BAFF-FD1A1CCA64CE}"/>
              </a:ext>
            </a:extLst>
          </p:cNvPr>
          <p:cNvSpPr>
            <a:spLocks noGrp="1"/>
          </p:cNvSpPr>
          <p:nvPr>
            <p:ph type="body" idx="1"/>
          </p:nvPr>
        </p:nvSpPr>
        <p:spPr>
          <a:xfrm>
            <a:off x="1638300" y="1371600"/>
            <a:ext cx="8115300" cy="1333272"/>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353E7D7E-EC9F-4AA5-A559-EF556C6AD5EE}"/>
              </a:ext>
            </a:extLst>
          </p:cNvPr>
          <p:cNvSpPr>
            <a:spLocks noGrp="1"/>
          </p:cNvSpPr>
          <p:nvPr>
            <p:ph type="dt" sz="half" idx="10"/>
          </p:nvPr>
        </p:nvSpPr>
        <p:spPr/>
        <p:txBody>
          <a:bodyPr/>
          <a:lstStyle/>
          <a:p>
            <a:fld id="{6196DAE9-D543-4E52-B738-AE075250FB2C}" type="datetime1">
              <a:rPr lang="en-US" smtClean="0"/>
              <a:t>6/23/2024</a:t>
            </a:fld>
            <a:endParaRPr lang="en-US"/>
          </a:p>
        </p:txBody>
      </p:sp>
      <p:sp>
        <p:nvSpPr>
          <p:cNvPr id="5" name="Footer Placeholder 4">
            <a:extLst>
              <a:ext uri="{FF2B5EF4-FFF2-40B4-BE49-F238E27FC236}">
                <a16:creationId xmlns:a16="http://schemas.microsoft.com/office/drawing/2014/main" id="{2677A8EE-88C1-400C-A23F-656DC76B95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C245A4-F9C6-44E9-929F-78C657C8B651}"/>
              </a:ext>
            </a:extLst>
          </p:cNvPr>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29084778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DF34F-B65E-4FA0-87E8-8890F482B383}"/>
              </a:ext>
            </a:extLst>
          </p:cNvPr>
          <p:cNvSpPr>
            <a:spLocks noGrp="1"/>
          </p:cNvSpPr>
          <p:nvPr>
            <p:ph type="title"/>
          </p:nvPr>
        </p:nvSpPr>
        <p:spPr>
          <a:xfrm>
            <a:off x="1638299" y="685800"/>
            <a:ext cx="9382348" cy="1371600"/>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D625A67-10CA-4531-93E1-39892C087E0B}"/>
              </a:ext>
            </a:extLst>
          </p:cNvPr>
          <p:cNvSpPr>
            <a:spLocks noGrp="1"/>
          </p:cNvSpPr>
          <p:nvPr>
            <p:ph sz="half" idx="1"/>
          </p:nvPr>
        </p:nvSpPr>
        <p:spPr>
          <a:xfrm>
            <a:off x="1638297" y="2057400"/>
            <a:ext cx="4553103" cy="41250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A622BE36-0CAF-4D92-9AC2-9249276B96F2}"/>
              </a:ext>
            </a:extLst>
          </p:cNvPr>
          <p:cNvSpPr>
            <a:spLocks noGrp="1"/>
          </p:cNvSpPr>
          <p:nvPr>
            <p:ph sz="half" idx="2"/>
          </p:nvPr>
        </p:nvSpPr>
        <p:spPr>
          <a:xfrm>
            <a:off x="6477000" y="2057400"/>
            <a:ext cx="4543647" cy="41250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3C36479-3B04-43BD-9B59-DBF6CA2BF814}"/>
              </a:ext>
            </a:extLst>
          </p:cNvPr>
          <p:cNvSpPr>
            <a:spLocks noGrp="1"/>
          </p:cNvSpPr>
          <p:nvPr>
            <p:ph type="dt" sz="half" idx="10"/>
          </p:nvPr>
        </p:nvSpPr>
        <p:spPr/>
        <p:txBody>
          <a:bodyPr/>
          <a:lstStyle/>
          <a:p>
            <a:fld id="{E8E1AF70-F177-43E2-AF0A-02BE9581B9D7}" type="datetime1">
              <a:rPr lang="en-US" smtClean="0"/>
              <a:t>6/23/2024</a:t>
            </a:fld>
            <a:endParaRPr lang="en-US"/>
          </a:p>
        </p:txBody>
      </p:sp>
      <p:sp>
        <p:nvSpPr>
          <p:cNvPr id="6" name="Footer Placeholder 5">
            <a:extLst>
              <a:ext uri="{FF2B5EF4-FFF2-40B4-BE49-F238E27FC236}">
                <a16:creationId xmlns:a16="http://schemas.microsoft.com/office/drawing/2014/main" id="{0CFD4449-57DB-41D2-B49E-694E7C13FA7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E60CC2C-E50B-47D2-B62F-D5C4C9CDA7E8}"/>
              </a:ext>
            </a:extLst>
          </p:cNvPr>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24828758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48530B-D0F2-4FC4-A10F-1E54EF82C877}"/>
              </a:ext>
            </a:extLst>
          </p:cNvPr>
          <p:cNvSpPr>
            <a:spLocks noGrp="1"/>
          </p:cNvSpPr>
          <p:nvPr>
            <p:ph type="title"/>
          </p:nvPr>
        </p:nvSpPr>
        <p:spPr>
          <a:xfrm>
            <a:off x="1638300" y="755118"/>
            <a:ext cx="9378304" cy="1222765"/>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1868865C-9D06-4FA3-BA3D-7187BB41B576}"/>
              </a:ext>
            </a:extLst>
          </p:cNvPr>
          <p:cNvSpPr>
            <a:spLocks noGrp="1"/>
          </p:cNvSpPr>
          <p:nvPr>
            <p:ph type="body" idx="1"/>
          </p:nvPr>
        </p:nvSpPr>
        <p:spPr>
          <a:xfrm>
            <a:off x="1638300" y="2034147"/>
            <a:ext cx="4529391" cy="681591"/>
          </a:xfrm>
        </p:spPr>
        <p:txBody>
          <a:bodyPr anchor="b">
            <a:normAutofit/>
          </a:bodyPr>
          <a:lstStyle>
            <a:lvl1pPr marL="0" indent="0">
              <a:buNone/>
              <a:defRPr sz="1800" b="1" cap="all" spc="2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3F656570-8F97-4B7E-A805-96925AC4781F}"/>
              </a:ext>
            </a:extLst>
          </p:cNvPr>
          <p:cNvSpPr>
            <a:spLocks noGrp="1"/>
          </p:cNvSpPr>
          <p:nvPr>
            <p:ph sz="half" idx="2"/>
          </p:nvPr>
        </p:nvSpPr>
        <p:spPr>
          <a:xfrm>
            <a:off x="1638300" y="2748405"/>
            <a:ext cx="4529391" cy="344125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4057EF54-F63F-4730-99EE-0E472578F512}"/>
              </a:ext>
            </a:extLst>
          </p:cNvPr>
          <p:cNvSpPr>
            <a:spLocks noGrp="1"/>
          </p:cNvSpPr>
          <p:nvPr>
            <p:ph type="body" sz="quarter" idx="3"/>
          </p:nvPr>
        </p:nvSpPr>
        <p:spPr>
          <a:xfrm>
            <a:off x="6487213" y="2034147"/>
            <a:ext cx="4529391" cy="681591"/>
          </a:xfrm>
        </p:spPr>
        <p:txBody>
          <a:bodyPr anchor="b">
            <a:normAutofit/>
          </a:bodyPr>
          <a:lstStyle>
            <a:lvl1pPr marL="0" indent="0">
              <a:buNone/>
              <a:defRPr sz="1800" b="1" cap="all" spc="2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5908453E-B012-4889-9F49-E1351532ADF2}"/>
              </a:ext>
            </a:extLst>
          </p:cNvPr>
          <p:cNvSpPr>
            <a:spLocks noGrp="1"/>
          </p:cNvSpPr>
          <p:nvPr>
            <p:ph sz="quarter" idx="4"/>
          </p:nvPr>
        </p:nvSpPr>
        <p:spPr>
          <a:xfrm>
            <a:off x="6487213" y="2748405"/>
            <a:ext cx="4529391" cy="344125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E89FC47A-8514-4C98-B1BE-FF6CC666C580}"/>
              </a:ext>
            </a:extLst>
          </p:cNvPr>
          <p:cNvSpPr>
            <a:spLocks noGrp="1"/>
          </p:cNvSpPr>
          <p:nvPr>
            <p:ph type="dt" sz="half" idx="10"/>
          </p:nvPr>
        </p:nvSpPr>
        <p:spPr/>
        <p:txBody>
          <a:bodyPr/>
          <a:lstStyle/>
          <a:p>
            <a:fld id="{28FFC2EA-00F5-433C-B43E-9466ED413A48}" type="datetime1">
              <a:rPr lang="en-US" smtClean="0"/>
              <a:t>6/23/2024</a:t>
            </a:fld>
            <a:endParaRPr lang="en-US"/>
          </a:p>
        </p:txBody>
      </p:sp>
      <p:sp>
        <p:nvSpPr>
          <p:cNvPr id="8" name="Footer Placeholder 7">
            <a:extLst>
              <a:ext uri="{FF2B5EF4-FFF2-40B4-BE49-F238E27FC236}">
                <a16:creationId xmlns:a16="http://schemas.microsoft.com/office/drawing/2014/main" id="{CED4301A-D375-4163-9488-27A9CDC6FD3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EED6105-4A37-4D4B-9BE8-715FB732C924}"/>
              </a:ext>
            </a:extLst>
          </p:cNvPr>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18372238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3007F-6649-4D23-8869-C1CC29D0096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88B85A1-41F9-4BC1-9C40-3E5D5C0425BF}"/>
              </a:ext>
            </a:extLst>
          </p:cNvPr>
          <p:cNvSpPr>
            <a:spLocks noGrp="1"/>
          </p:cNvSpPr>
          <p:nvPr>
            <p:ph type="dt" sz="half" idx="10"/>
          </p:nvPr>
        </p:nvSpPr>
        <p:spPr/>
        <p:txBody>
          <a:bodyPr/>
          <a:lstStyle/>
          <a:p>
            <a:fld id="{1DFB302C-9F81-41C0-BC1C-6374FD17C9F1}" type="datetime1">
              <a:rPr lang="en-US" smtClean="0"/>
              <a:t>6/23/2024</a:t>
            </a:fld>
            <a:endParaRPr lang="en-US"/>
          </a:p>
        </p:txBody>
      </p:sp>
      <p:sp>
        <p:nvSpPr>
          <p:cNvPr id="4" name="Footer Placeholder 3">
            <a:extLst>
              <a:ext uri="{FF2B5EF4-FFF2-40B4-BE49-F238E27FC236}">
                <a16:creationId xmlns:a16="http://schemas.microsoft.com/office/drawing/2014/main" id="{97B23774-EAA9-47ED-87EF-EE2B29A2580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2526550-DD4D-45E2-8916-8314C5D0680D}"/>
              </a:ext>
            </a:extLst>
          </p:cNvPr>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31869773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B35FACD-1A4D-49F3-8EA8-21B5C1A6A258}"/>
              </a:ext>
            </a:extLst>
          </p:cNvPr>
          <p:cNvSpPr>
            <a:spLocks noGrp="1"/>
          </p:cNvSpPr>
          <p:nvPr>
            <p:ph type="dt" sz="half" idx="10"/>
          </p:nvPr>
        </p:nvSpPr>
        <p:spPr/>
        <p:txBody>
          <a:bodyPr/>
          <a:lstStyle/>
          <a:p>
            <a:fld id="{BBBC0EAE-7F20-4598-B5AB-5D021FC6EFC6}" type="datetime1">
              <a:rPr lang="en-US" smtClean="0"/>
              <a:t>6/23/2024</a:t>
            </a:fld>
            <a:endParaRPr lang="en-US"/>
          </a:p>
        </p:txBody>
      </p:sp>
      <p:sp>
        <p:nvSpPr>
          <p:cNvPr id="3" name="Footer Placeholder 2">
            <a:extLst>
              <a:ext uri="{FF2B5EF4-FFF2-40B4-BE49-F238E27FC236}">
                <a16:creationId xmlns:a16="http://schemas.microsoft.com/office/drawing/2014/main" id="{C4FFD9DD-0E4E-4C36-AF85-B3EAD7FE613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6E6F4C8-14FA-4405-85EE-ABF53FB0377C}"/>
              </a:ext>
            </a:extLst>
          </p:cNvPr>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8534208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E7C28-5DEE-493D-ABAD-38E4F2D75924}"/>
              </a:ext>
            </a:extLst>
          </p:cNvPr>
          <p:cNvSpPr>
            <a:spLocks noGrp="1"/>
          </p:cNvSpPr>
          <p:nvPr>
            <p:ph type="title"/>
          </p:nvPr>
        </p:nvSpPr>
        <p:spPr>
          <a:xfrm>
            <a:off x="1225621" y="1085481"/>
            <a:ext cx="3651180" cy="1657719"/>
          </a:xfrm>
        </p:spPr>
        <p:txBody>
          <a:bodyPr anchor="t"/>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1A5E79C5-E567-4F12-96B8-8BBEAE3D8B9F}"/>
              </a:ext>
            </a:extLst>
          </p:cNvPr>
          <p:cNvSpPr>
            <a:spLocks noGrp="1"/>
          </p:cNvSpPr>
          <p:nvPr>
            <p:ph idx="1"/>
          </p:nvPr>
        </p:nvSpPr>
        <p:spPr>
          <a:xfrm>
            <a:off x="5676900" y="1132676"/>
            <a:ext cx="5289480" cy="4728374"/>
          </a:xfrm>
        </p:spPr>
        <p:txBody>
          <a:bodyPr/>
          <a:lstStyle>
            <a:lvl1pPr>
              <a:lnSpc>
                <a:spcPct val="110000"/>
              </a:lnSpc>
              <a:defRPr sz="3200"/>
            </a:lvl1pPr>
            <a:lvl2pPr>
              <a:lnSpc>
                <a:spcPct val="110000"/>
              </a:lnSpc>
              <a:defRPr sz="2800"/>
            </a:lvl2pPr>
            <a:lvl3pPr>
              <a:lnSpc>
                <a:spcPct val="110000"/>
              </a:lnSpc>
              <a:defRPr sz="2400"/>
            </a:lvl3pPr>
            <a:lvl4pPr>
              <a:lnSpc>
                <a:spcPct val="110000"/>
              </a:lnSpc>
              <a:defRPr sz="2000"/>
            </a:lvl4pPr>
            <a:lvl5pPr>
              <a:lnSpc>
                <a:spcPct val="110000"/>
              </a:lnSpc>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5733DF7F-0B5C-40CE-A65F-779FA7EFBF1C}"/>
              </a:ext>
            </a:extLst>
          </p:cNvPr>
          <p:cNvSpPr>
            <a:spLocks noGrp="1"/>
          </p:cNvSpPr>
          <p:nvPr>
            <p:ph type="body" sz="half" idx="2"/>
          </p:nvPr>
        </p:nvSpPr>
        <p:spPr>
          <a:xfrm>
            <a:off x="1225621" y="2748406"/>
            <a:ext cx="3651180" cy="311264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4022248C-1826-4833-9592-383B5873AECA}"/>
              </a:ext>
            </a:extLst>
          </p:cNvPr>
          <p:cNvSpPr>
            <a:spLocks noGrp="1"/>
          </p:cNvSpPr>
          <p:nvPr>
            <p:ph type="dt" sz="half" idx="10"/>
          </p:nvPr>
        </p:nvSpPr>
        <p:spPr/>
        <p:txBody>
          <a:bodyPr/>
          <a:lstStyle/>
          <a:p>
            <a:fld id="{0CC79208-56F3-496D-A744-DF23932BF96B}" type="datetime1">
              <a:rPr lang="en-US" smtClean="0"/>
              <a:t>6/23/2024</a:t>
            </a:fld>
            <a:endParaRPr lang="en-US"/>
          </a:p>
        </p:txBody>
      </p:sp>
      <p:sp>
        <p:nvSpPr>
          <p:cNvPr id="6" name="Footer Placeholder 5">
            <a:extLst>
              <a:ext uri="{FF2B5EF4-FFF2-40B4-BE49-F238E27FC236}">
                <a16:creationId xmlns:a16="http://schemas.microsoft.com/office/drawing/2014/main" id="{E80219DC-2646-42AD-897A-EB765DCBE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F238D7-4EEA-475B-B1CA-C44B89BEA304}"/>
              </a:ext>
            </a:extLst>
          </p:cNvPr>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3202383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D65BE-C907-4660-A586-71C6A1D101EC}"/>
              </a:ext>
            </a:extLst>
          </p:cNvPr>
          <p:cNvSpPr>
            <a:spLocks noGrp="1"/>
          </p:cNvSpPr>
          <p:nvPr>
            <p:ph type="title"/>
          </p:nvPr>
        </p:nvSpPr>
        <p:spPr>
          <a:xfrm>
            <a:off x="1219200" y="1085481"/>
            <a:ext cx="3657600" cy="1657719"/>
          </a:xfrm>
        </p:spPr>
        <p:txBody>
          <a:bodyPr anchor="t"/>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A044C8A9-67DF-419C-B2FC-3A879CCEF393}"/>
              </a:ext>
            </a:extLst>
          </p:cNvPr>
          <p:cNvSpPr>
            <a:spLocks noGrp="1"/>
          </p:cNvSpPr>
          <p:nvPr>
            <p:ph type="pic" idx="1"/>
          </p:nvPr>
        </p:nvSpPr>
        <p:spPr>
          <a:xfrm>
            <a:off x="5676900" y="1061885"/>
            <a:ext cx="5331069" cy="477556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EDA94A1-3058-402A-9C3F-2F210D91D990}"/>
              </a:ext>
            </a:extLst>
          </p:cNvPr>
          <p:cNvSpPr>
            <a:spLocks noGrp="1"/>
          </p:cNvSpPr>
          <p:nvPr>
            <p:ph type="body" sz="half" idx="2"/>
          </p:nvPr>
        </p:nvSpPr>
        <p:spPr>
          <a:xfrm>
            <a:off x="1219200" y="2748406"/>
            <a:ext cx="3657600" cy="311264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1BC3CA50-C8D8-4F83-B2F6-BCE825866405}"/>
              </a:ext>
            </a:extLst>
          </p:cNvPr>
          <p:cNvSpPr>
            <a:spLocks noGrp="1"/>
          </p:cNvSpPr>
          <p:nvPr>
            <p:ph type="dt" sz="half" idx="10"/>
          </p:nvPr>
        </p:nvSpPr>
        <p:spPr/>
        <p:txBody>
          <a:bodyPr/>
          <a:lstStyle/>
          <a:p>
            <a:fld id="{3681055D-0E68-468F-847C-0E10561637C3}" type="datetime1">
              <a:rPr lang="en-US" smtClean="0"/>
              <a:t>6/23/2024</a:t>
            </a:fld>
            <a:endParaRPr lang="en-US"/>
          </a:p>
        </p:txBody>
      </p:sp>
      <p:sp>
        <p:nvSpPr>
          <p:cNvPr id="6" name="Footer Placeholder 5">
            <a:extLst>
              <a:ext uri="{FF2B5EF4-FFF2-40B4-BE49-F238E27FC236}">
                <a16:creationId xmlns:a16="http://schemas.microsoft.com/office/drawing/2014/main" id="{057E5BE3-7B02-4281-BD90-C1FAAF63680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FE256D-ACD5-438F-BA6F-605E5260E2E6}"/>
              </a:ext>
            </a:extLst>
          </p:cNvPr>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32508137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AD0E6-AD36-493C-9DC3-5ACC2059EC93}"/>
              </a:ext>
            </a:extLst>
          </p:cNvPr>
          <p:cNvSpPr>
            <a:spLocks noGrp="1"/>
          </p:cNvSpPr>
          <p:nvPr>
            <p:ph type="title"/>
          </p:nvPr>
        </p:nvSpPr>
        <p:spPr>
          <a:xfrm>
            <a:off x="1638299" y="685800"/>
            <a:ext cx="8915402" cy="1371600"/>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10B8558-FA83-4F6C-A6D1-2DF9D3F74BD6}"/>
              </a:ext>
            </a:extLst>
          </p:cNvPr>
          <p:cNvSpPr>
            <a:spLocks noGrp="1"/>
          </p:cNvSpPr>
          <p:nvPr>
            <p:ph type="body" orient="vert" idx="1"/>
          </p:nvPr>
        </p:nvSpPr>
        <p:spPr>
          <a:xfrm>
            <a:off x="1638299" y="2057399"/>
            <a:ext cx="8915401" cy="4114801"/>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6DE619-0CC6-4480-ABDE-277D36BDFCBB}"/>
              </a:ext>
            </a:extLst>
          </p:cNvPr>
          <p:cNvSpPr>
            <a:spLocks noGrp="1"/>
          </p:cNvSpPr>
          <p:nvPr>
            <p:ph type="dt" sz="half" idx="10"/>
          </p:nvPr>
        </p:nvSpPr>
        <p:spPr/>
        <p:txBody>
          <a:bodyPr/>
          <a:lstStyle/>
          <a:p>
            <a:fld id="{228E6238-66F5-4576-9234-8B3577B5011A}" type="datetime1">
              <a:rPr lang="en-US" smtClean="0"/>
              <a:t>6/23/2024</a:t>
            </a:fld>
            <a:endParaRPr lang="en-US"/>
          </a:p>
        </p:txBody>
      </p:sp>
      <p:sp>
        <p:nvSpPr>
          <p:cNvPr id="5" name="Footer Placeholder 4">
            <a:extLst>
              <a:ext uri="{FF2B5EF4-FFF2-40B4-BE49-F238E27FC236}">
                <a16:creationId xmlns:a16="http://schemas.microsoft.com/office/drawing/2014/main" id="{140791E6-BE35-4ECA-8AD1-E8EC09B856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F94606-B928-42D6-85CC-9576F60E3B5C}"/>
              </a:ext>
            </a:extLst>
          </p:cNvPr>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13027711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7F18D8A-5002-491C-922A-E9624E2DBD6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65882C6-2BE9-4E25-B8BB-A2346A2B0B6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7BEFF9-B3BC-4C07-BF6C-2E3C91B54B78}"/>
              </a:ext>
            </a:extLst>
          </p:cNvPr>
          <p:cNvSpPr>
            <a:spLocks noGrp="1"/>
          </p:cNvSpPr>
          <p:nvPr>
            <p:ph type="dt" sz="half" idx="10"/>
          </p:nvPr>
        </p:nvSpPr>
        <p:spPr/>
        <p:txBody>
          <a:bodyPr/>
          <a:lstStyle/>
          <a:p>
            <a:fld id="{D4F3AC9D-FFFE-4268-A737-ACE76CE9928E}" type="datetime1">
              <a:rPr lang="en-US" smtClean="0"/>
              <a:t>6/23/2024</a:t>
            </a:fld>
            <a:endParaRPr lang="en-US"/>
          </a:p>
        </p:txBody>
      </p:sp>
      <p:sp>
        <p:nvSpPr>
          <p:cNvPr id="5" name="Footer Placeholder 4">
            <a:extLst>
              <a:ext uri="{FF2B5EF4-FFF2-40B4-BE49-F238E27FC236}">
                <a16:creationId xmlns:a16="http://schemas.microsoft.com/office/drawing/2014/main" id="{CE0F4CF6-CDF1-4AFD-8319-71FD4FED4F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01A026-57F4-47F7-B4F0-E0D48E01268E}"/>
              </a:ext>
            </a:extLst>
          </p:cNvPr>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30047612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F31A689-589E-4A73-9313-EF44F7E4E6BA}"/>
              </a:ext>
            </a:extLst>
          </p:cNvPr>
          <p:cNvSpPr>
            <a:spLocks noGrp="1"/>
          </p:cNvSpPr>
          <p:nvPr>
            <p:ph type="title"/>
          </p:nvPr>
        </p:nvSpPr>
        <p:spPr>
          <a:xfrm>
            <a:off x="1638299" y="685800"/>
            <a:ext cx="8915402" cy="13716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CB2B11B8-9E77-4144-B9C1-FD164D9A11A6}"/>
              </a:ext>
            </a:extLst>
          </p:cNvPr>
          <p:cNvSpPr>
            <a:spLocks noGrp="1"/>
          </p:cNvSpPr>
          <p:nvPr>
            <p:ph type="body" idx="1"/>
          </p:nvPr>
        </p:nvSpPr>
        <p:spPr>
          <a:xfrm>
            <a:off x="1638300" y="2057400"/>
            <a:ext cx="8915402" cy="4137259"/>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AD06E4CC-CF79-4C8D-9E5F-1BB517435A6F}"/>
              </a:ext>
            </a:extLst>
          </p:cNvPr>
          <p:cNvSpPr>
            <a:spLocks noGrp="1"/>
          </p:cNvSpPr>
          <p:nvPr>
            <p:ph type="dt" sz="half" idx="2"/>
          </p:nvPr>
        </p:nvSpPr>
        <p:spPr>
          <a:xfrm rot="5400000">
            <a:off x="-1001475" y="1517536"/>
            <a:ext cx="2801123" cy="365125"/>
          </a:xfrm>
          <a:prstGeom prst="rect">
            <a:avLst/>
          </a:prstGeom>
        </p:spPr>
        <p:txBody>
          <a:bodyPr vert="horz" lIns="91440" tIns="45720" rIns="91440" bIns="45720" rtlCol="0" anchor="ctr"/>
          <a:lstStyle>
            <a:lvl1pPr algn="l">
              <a:defRPr sz="800" cap="all" spc="100" baseline="0">
                <a:solidFill>
                  <a:schemeClr val="tx1"/>
                </a:solidFill>
              </a:defRPr>
            </a:lvl1pPr>
          </a:lstStyle>
          <a:p>
            <a:fld id="{DEED3A06-2559-4998-859A-459A8F920E06}" type="datetime1">
              <a:rPr lang="en-US" smtClean="0"/>
              <a:t>6/23/2024</a:t>
            </a:fld>
            <a:endParaRPr lang="en-US"/>
          </a:p>
        </p:txBody>
      </p:sp>
      <p:sp>
        <p:nvSpPr>
          <p:cNvPr id="5" name="Footer Placeholder 4">
            <a:extLst>
              <a:ext uri="{FF2B5EF4-FFF2-40B4-BE49-F238E27FC236}">
                <a16:creationId xmlns:a16="http://schemas.microsoft.com/office/drawing/2014/main" id="{E3D79449-05F6-4BC7-95DF-F04E1F161498}"/>
              </a:ext>
            </a:extLst>
          </p:cNvPr>
          <p:cNvSpPr>
            <a:spLocks noGrp="1"/>
          </p:cNvSpPr>
          <p:nvPr>
            <p:ph type="ftr" sz="quarter" idx="3"/>
          </p:nvPr>
        </p:nvSpPr>
        <p:spPr>
          <a:xfrm rot="5400000">
            <a:off x="10118764" y="4237870"/>
            <a:ext cx="3344053" cy="365125"/>
          </a:xfrm>
          <a:prstGeom prst="rect">
            <a:avLst/>
          </a:prstGeom>
        </p:spPr>
        <p:txBody>
          <a:bodyPr vert="horz" lIns="91440" tIns="45720" rIns="91440" bIns="45720" rtlCol="0" anchor="ctr"/>
          <a:lstStyle>
            <a:lvl1pPr algn="r">
              <a:defRPr sz="800" cap="all" spc="1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E9317FE5-2D1F-4ECC-9460-08145C3BB933}"/>
              </a:ext>
            </a:extLst>
          </p:cNvPr>
          <p:cNvSpPr>
            <a:spLocks noGrp="1"/>
          </p:cNvSpPr>
          <p:nvPr>
            <p:ph type="sldNum" sz="quarter" idx="4"/>
          </p:nvPr>
        </p:nvSpPr>
        <p:spPr>
          <a:xfrm>
            <a:off x="11228877" y="6319138"/>
            <a:ext cx="710647" cy="365125"/>
          </a:xfrm>
          <a:prstGeom prst="rect">
            <a:avLst/>
          </a:prstGeom>
        </p:spPr>
        <p:txBody>
          <a:bodyPr vert="horz" lIns="91440" tIns="45720" rIns="91440" bIns="45720" rtlCol="0" anchor="ctr"/>
          <a:lstStyle>
            <a:lvl1pPr algn="r">
              <a:defRPr sz="800" cap="all" spc="100" baseline="0">
                <a:solidFill>
                  <a:schemeClr val="tx1"/>
                </a:solidFill>
              </a:defRPr>
            </a:lvl1pPr>
          </a:lstStyle>
          <a:p>
            <a:fld id="{D637F8FC-4B86-4690-8888-22AB2F781BEF}" type="slidenum">
              <a:rPr lang="en-US" smtClean="0"/>
              <a:pPr/>
              <a:t>‹#›</a:t>
            </a:fld>
            <a:endParaRPr lang="en-US"/>
          </a:p>
        </p:txBody>
      </p:sp>
    </p:spTree>
    <p:extLst>
      <p:ext uri="{BB962C8B-B14F-4D97-AF65-F5344CB8AC3E}">
        <p14:creationId xmlns:p14="http://schemas.microsoft.com/office/powerpoint/2010/main" val="3885563335"/>
      </p:ext>
    </p:extLst>
  </p:cSld>
  <p:clrMap bg1="lt1" tx1="dk1" bg2="lt2" tx2="dk2" accent1="accent1" accent2="accent2" accent3="accent3" accent4="accent4" accent5="accent5" accent6="accent6" hlink="hlink" folHlink="folHlink"/>
  <p:sldLayoutIdLst>
    <p:sldLayoutId id="2147483731" r:id="rId1"/>
    <p:sldLayoutId id="2147483732" r:id="rId2"/>
    <p:sldLayoutId id="2147483733" r:id="rId3"/>
    <p:sldLayoutId id="2147483734" r:id="rId4"/>
    <p:sldLayoutId id="2147483735" r:id="rId5"/>
    <p:sldLayoutId id="2147483729" r:id="rId6"/>
    <p:sldLayoutId id="2147483725" r:id="rId7"/>
    <p:sldLayoutId id="2147483726" r:id="rId8"/>
    <p:sldLayoutId id="2147483727" r:id="rId9"/>
    <p:sldLayoutId id="2147483728" r:id="rId10"/>
    <p:sldLayoutId id="2147483730" r:id="rId11"/>
  </p:sldLayoutIdLst>
  <p:hf hdr="0" ftr="0" dt="0"/>
  <p:txStyles>
    <p:titleStyle>
      <a:lvl1pPr algn="l" defTabSz="914400" rtl="0" eaLnBrk="1" latinLnBrk="0" hangingPunct="1">
        <a:lnSpc>
          <a:spcPct val="100000"/>
        </a:lnSpc>
        <a:spcBef>
          <a:spcPct val="0"/>
        </a:spcBef>
        <a:buNone/>
        <a:defRPr sz="32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50292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00584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23444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2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6" name="Rectangle 55">
            <a:extLst>
              <a:ext uri="{FF2B5EF4-FFF2-40B4-BE49-F238E27FC236}">
                <a16:creationId xmlns:a16="http://schemas.microsoft.com/office/drawing/2014/main" id="{E7E41B6A-FC47-4213-ADF4-1BC198E4C9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descr="A colorful squares on a wall&#10;&#10;Description automatically generated">
            <a:extLst>
              <a:ext uri="{FF2B5EF4-FFF2-40B4-BE49-F238E27FC236}">
                <a16:creationId xmlns:a16="http://schemas.microsoft.com/office/drawing/2014/main" id="{B9D1E130-162C-4784-D4EB-5061351FDAE4}"/>
              </a:ext>
            </a:extLst>
          </p:cNvPr>
          <p:cNvPicPr>
            <a:picLocks noChangeAspect="1"/>
          </p:cNvPicPr>
          <p:nvPr/>
        </p:nvPicPr>
        <p:blipFill rotWithShape="1">
          <a:blip r:embed="rId3">
            <a:extLst>
              <a:ext uri="{28A0092B-C50C-407E-A947-70E740481C1C}">
                <a14:useLocalDpi xmlns:a14="http://schemas.microsoft.com/office/drawing/2010/main" val="0"/>
              </a:ext>
            </a:extLst>
          </a:blip>
          <a:srcRect t="4513" b="1228"/>
          <a:stretch/>
        </p:blipFill>
        <p:spPr>
          <a:xfrm>
            <a:off x="20" y="10"/>
            <a:ext cx="12191980" cy="6866457"/>
          </a:xfrm>
          <a:prstGeom prst="rect">
            <a:avLst/>
          </a:prstGeom>
        </p:spPr>
      </p:pic>
      <p:sp useBgFill="1">
        <p:nvSpPr>
          <p:cNvPr id="58" name="Rectangle 57">
            <a:extLst>
              <a:ext uri="{FF2B5EF4-FFF2-40B4-BE49-F238E27FC236}">
                <a16:creationId xmlns:a16="http://schemas.microsoft.com/office/drawing/2014/main" id="{295D3A5B-8711-48A3-ABD6-39982B1748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15000" y="1376806"/>
            <a:ext cx="6477000" cy="205219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CE26BC7-6B82-89E0-6DF8-2D86650A26BE}"/>
              </a:ext>
            </a:extLst>
          </p:cNvPr>
          <p:cNvSpPr>
            <a:spLocks noGrp="1"/>
          </p:cNvSpPr>
          <p:nvPr>
            <p:ph type="ctrTitle"/>
          </p:nvPr>
        </p:nvSpPr>
        <p:spPr>
          <a:xfrm>
            <a:off x="6375539" y="1609174"/>
            <a:ext cx="5435461" cy="921704"/>
          </a:xfrm>
        </p:spPr>
        <p:txBody>
          <a:bodyPr>
            <a:normAutofit/>
          </a:bodyPr>
          <a:lstStyle/>
          <a:p>
            <a:pPr>
              <a:lnSpc>
                <a:spcPct val="90000"/>
              </a:lnSpc>
            </a:pPr>
            <a:r>
              <a:rPr lang="en-GB" sz="2200" dirty="0"/>
              <a:t>Online Polycube Packing</a:t>
            </a:r>
            <a:br>
              <a:rPr lang="en-GB" sz="2200" dirty="0"/>
            </a:br>
            <a:r>
              <a:rPr lang="en-GB" sz="2200" dirty="0"/>
              <a:t>with Deep Reinforcement Learning</a:t>
            </a:r>
            <a:endParaRPr lang="LID4096" sz="2200" dirty="0"/>
          </a:p>
        </p:txBody>
      </p:sp>
      <p:sp>
        <p:nvSpPr>
          <p:cNvPr id="3" name="Subtitle 2">
            <a:extLst>
              <a:ext uri="{FF2B5EF4-FFF2-40B4-BE49-F238E27FC236}">
                <a16:creationId xmlns:a16="http://schemas.microsoft.com/office/drawing/2014/main" id="{8C1E3479-FA20-7C92-8B06-DA7B7CDE66C1}"/>
              </a:ext>
            </a:extLst>
          </p:cNvPr>
          <p:cNvSpPr>
            <a:spLocks noGrp="1"/>
          </p:cNvSpPr>
          <p:nvPr>
            <p:ph type="subTitle" idx="1"/>
          </p:nvPr>
        </p:nvSpPr>
        <p:spPr>
          <a:xfrm>
            <a:off x="6375540" y="2564863"/>
            <a:ext cx="5435460" cy="533208"/>
          </a:xfrm>
        </p:spPr>
        <p:txBody>
          <a:bodyPr>
            <a:normAutofit/>
          </a:bodyPr>
          <a:lstStyle/>
          <a:p>
            <a:r>
              <a:rPr lang="en-GB" sz="1600" dirty="0"/>
              <a:t>Thomas Vroom</a:t>
            </a:r>
            <a:endParaRPr lang="LID4096" sz="1600" dirty="0"/>
          </a:p>
        </p:txBody>
      </p:sp>
      <p:sp>
        <p:nvSpPr>
          <p:cNvPr id="7" name="Slide Number Placeholder 6">
            <a:extLst>
              <a:ext uri="{FF2B5EF4-FFF2-40B4-BE49-F238E27FC236}">
                <a16:creationId xmlns:a16="http://schemas.microsoft.com/office/drawing/2014/main" id="{DCC4C9F0-E675-059A-6DDF-B1A851C1159E}"/>
              </a:ext>
            </a:extLst>
          </p:cNvPr>
          <p:cNvSpPr>
            <a:spLocks noGrp="1"/>
          </p:cNvSpPr>
          <p:nvPr>
            <p:ph type="sldNum" sz="quarter" idx="12"/>
          </p:nvPr>
        </p:nvSpPr>
        <p:spPr/>
        <p:txBody>
          <a:bodyPr/>
          <a:lstStyle/>
          <a:p>
            <a:fld id="{D637F8FC-4B86-4690-8888-22AB2F781BEF}" type="slidenum">
              <a:rPr lang="en-US" smtClean="0"/>
              <a:t>1</a:t>
            </a:fld>
            <a:endParaRPr lang="en-US" dirty="0"/>
          </a:p>
        </p:txBody>
      </p:sp>
    </p:spTree>
    <p:extLst>
      <p:ext uri="{BB962C8B-B14F-4D97-AF65-F5344CB8AC3E}">
        <p14:creationId xmlns:p14="http://schemas.microsoft.com/office/powerpoint/2010/main" val="27721315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41A7F8-1174-0E63-808D-28D1A132976F}"/>
              </a:ext>
            </a:extLst>
          </p:cNvPr>
          <p:cNvSpPr>
            <a:spLocks noGrp="1"/>
          </p:cNvSpPr>
          <p:nvPr>
            <p:ph type="title"/>
          </p:nvPr>
        </p:nvSpPr>
        <p:spPr/>
        <p:txBody>
          <a:bodyPr/>
          <a:lstStyle/>
          <a:p>
            <a:r>
              <a:rPr lang="en-GB" dirty="0"/>
              <a:t>Content</a:t>
            </a:r>
            <a:endParaRPr lang="LID4096" dirty="0"/>
          </a:p>
        </p:txBody>
      </p:sp>
      <p:graphicFrame>
        <p:nvGraphicFramePr>
          <p:cNvPr id="8" name="Content Placeholder 2">
            <a:extLst>
              <a:ext uri="{FF2B5EF4-FFF2-40B4-BE49-F238E27FC236}">
                <a16:creationId xmlns:a16="http://schemas.microsoft.com/office/drawing/2014/main" id="{3C0E58A6-9BF0-5925-9467-5E3E1F3DEF66}"/>
              </a:ext>
            </a:extLst>
          </p:cNvPr>
          <p:cNvGraphicFramePr>
            <a:graphicFrameLocks noGrp="1"/>
          </p:cNvGraphicFramePr>
          <p:nvPr>
            <p:ph idx="1"/>
            <p:extLst>
              <p:ext uri="{D42A27DB-BD31-4B8C-83A1-F6EECF244321}">
                <p14:modId xmlns:p14="http://schemas.microsoft.com/office/powerpoint/2010/main" val="2140654631"/>
              </p:ext>
            </p:extLst>
          </p:nvPr>
        </p:nvGraphicFramePr>
        <p:xfrm>
          <a:off x="1638300" y="2057400"/>
          <a:ext cx="8915402" cy="413725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a:extLst>
              <a:ext uri="{FF2B5EF4-FFF2-40B4-BE49-F238E27FC236}">
                <a16:creationId xmlns:a16="http://schemas.microsoft.com/office/drawing/2014/main" id="{E7B7E7BA-FE34-43D5-68C7-DF130145B50B}"/>
              </a:ext>
            </a:extLst>
          </p:cNvPr>
          <p:cNvSpPr>
            <a:spLocks noGrp="1"/>
          </p:cNvSpPr>
          <p:nvPr>
            <p:ph type="sldNum" sz="quarter" idx="12"/>
          </p:nvPr>
        </p:nvSpPr>
        <p:spPr/>
        <p:txBody>
          <a:bodyPr/>
          <a:lstStyle/>
          <a:p>
            <a:fld id="{D637F8FC-4B86-4690-8888-22AB2F781BEF}" type="slidenum">
              <a:rPr lang="en-US" smtClean="0"/>
              <a:t>2</a:t>
            </a:fld>
            <a:endParaRPr lang="en-US"/>
          </a:p>
        </p:txBody>
      </p:sp>
    </p:spTree>
    <p:extLst>
      <p:ext uri="{BB962C8B-B14F-4D97-AF65-F5344CB8AC3E}">
        <p14:creationId xmlns:p14="http://schemas.microsoft.com/office/powerpoint/2010/main" val="40919990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BBC04-B490-99AB-46F5-77DB4B2AAD87}"/>
              </a:ext>
            </a:extLst>
          </p:cNvPr>
          <p:cNvSpPr>
            <a:spLocks noGrp="1"/>
          </p:cNvSpPr>
          <p:nvPr>
            <p:ph type="title"/>
          </p:nvPr>
        </p:nvSpPr>
        <p:spPr/>
        <p:txBody>
          <a:bodyPr/>
          <a:lstStyle/>
          <a:p>
            <a:r>
              <a:rPr lang="en-GB" dirty="0"/>
              <a:t>Introduction – Polycube Packing</a:t>
            </a:r>
            <a:endParaRPr lang="LID4096" dirty="0"/>
          </a:p>
        </p:txBody>
      </p:sp>
      <p:sp>
        <p:nvSpPr>
          <p:cNvPr id="3" name="Content Placeholder 2">
            <a:extLst>
              <a:ext uri="{FF2B5EF4-FFF2-40B4-BE49-F238E27FC236}">
                <a16:creationId xmlns:a16="http://schemas.microsoft.com/office/drawing/2014/main" id="{B7C57228-B53B-1160-FAF0-E2C8EE3381DF}"/>
              </a:ext>
            </a:extLst>
          </p:cNvPr>
          <p:cNvSpPr>
            <a:spLocks noGrp="1"/>
          </p:cNvSpPr>
          <p:nvPr>
            <p:ph idx="1"/>
          </p:nvPr>
        </p:nvSpPr>
        <p:spPr/>
        <p:txBody>
          <a:bodyPr/>
          <a:lstStyle/>
          <a:p>
            <a:r>
              <a:rPr lang="en-GB" dirty="0"/>
              <a:t>Packing Problems</a:t>
            </a:r>
          </a:p>
          <a:p>
            <a:endParaRPr lang="LID4096" dirty="0"/>
          </a:p>
        </p:txBody>
      </p:sp>
      <p:sp>
        <p:nvSpPr>
          <p:cNvPr id="4" name="Slide Number Placeholder 3">
            <a:extLst>
              <a:ext uri="{FF2B5EF4-FFF2-40B4-BE49-F238E27FC236}">
                <a16:creationId xmlns:a16="http://schemas.microsoft.com/office/drawing/2014/main" id="{30D8951A-3C38-BECE-4624-97DD34BA026B}"/>
              </a:ext>
            </a:extLst>
          </p:cNvPr>
          <p:cNvSpPr>
            <a:spLocks noGrp="1"/>
          </p:cNvSpPr>
          <p:nvPr>
            <p:ph type="sldNum" sz="quarter" idx="12"/>
          </p:nvPr>
        </p:nvSpPr>
        <p:spPr/>
        <p:txBody>
          <a:bodyPr/>
          <a:lstStyle/>
          <a:p>
            <a:fld id="{D637F8FC-4B86-4690-8888-22AB2F781BEF}" type="slidenum">
              <a:rPr lang="en-US" smtClean="0"/>
              <a:t>3</a:t>
            </a:fld>
            <a:endParaRPr lang="en-US"/>
          </a:p>
        </p:txBody>
      </p:sp>
      <p:pic>
        <p:nvPicPr>
          <p:cNvPr id="8" name="Picture 7" descr="A group of cubes in a transparent box&#10;&#10;Description automatically generated">
            <a:extLst>
              <a:ext uri="{FF2B5EF4-FFF2-40B4-BE49-F238E27FC236}">
                <a16:creationId xmlns:a16="http://schemas.microsoft.com/office/drawing/2014/main" id="{1CAE412E-B373-6170-B4A9-8B48AB3C5BE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2048" y="3658092"/>
            <a:ext cx="3772747" cy="1185156"/>
          </a:xfrm>
          <a:prstGeom prst="rect">
            <a:avLst/>
          </a:prstGeom>
        </p:spPr>
      </p:pic>
      <p:sp>
        <p:nvSpPr>
          <p:cNvPr id="11" name="TextBox 10">
            <a:extLst>
              <a:ext uri="{FF2B5EF4-FFF2-40B4-BE49-F238E27FC236}">
                <a16:creationId xmlns:a16="http://schemas.microsoft.com/office/drawing/2014/main" id="{B9866060-1511-71D5-FDDC-F49D7B711F13}"/>
              </a:ext>
            </a:extLst>
          </p:cNvPr>
          <p:cNvSpPr txBox="1"/>
          <p:nvPr/>
        </p:nvSpPr>
        <p:spPr>
          <a:xfrm>
            <a:off x="1705769" y="4952600"/>
            <a:ext cx="1808893" cy="369332"/>
          </a:xfrm>
          <a:prstGeom prst="rect">
            <a:avLst/>
          </a:prstGeom>
          <a:noFill/>
        </p:spPr>
        <p:txBody>
          <a:bodyPr wrap="none" rtlCol="0">
            <a:spAutoFit/>
          </a:bodyPr>
          <a:lstStyle/>
          <a:p>
            <a:r>
              <a:rPr lang="en-GB" dirty="0"/>
              <a:t>Regular Shapes</a:t>
            </a:r>
            <a:endParaRPr lang="LID4096" dirty="0"/>
          </a:p>
        </p:txBody>
      </p:sp>
      <p:sp>
        <p:nvSpPr>
          <p:cNvPr id="12" name="TextBox 11">
            <a:extLst>
              <a:ext uri="{FF2B5EF4-FFF2-40B4-BE49-F238E27FC236}">
                <a16:creationId xmlns:a16="http://schemas.microsoft.com/office/drawing/2014/main" id="{1623135F-FD49-D0C2-D1C0-0E9B15A4F59F}"/>
              </a:ext>
            </a:extLst>
          </p:cNvPr>
          <p:cNvSpPr txBox="1"/>
          <p:nvPr/>
        </p:nvSpPr>
        <p:spPr>
          <a:xfrm>
            <a:off x="8639730" y="4952600"/>
            <a:ext cx="1887696" cy="369332"/>
          </a:xfrm>
          <a:prstGeom prst="rect">
            <a:avLst/>
          </a:prstGeom>
          <a:noFill/>
        </p:spPr>
        <p:txBody>
          <a:bodyPr wrap="none" rtlCol="0">
            <a:spAutoFit/>
          </a:bodyPr>
          <a:lstStyle/>
          <a:p>
            <a:r>
              <a:rPr lang="en-GB" dirty="0"/>
              <a:t>Irregular Shapes</a:t>
            </a:r>
            <a:endParaRPr lang="LID4096" dirty="0"/>
          </a:p>
        </p:txBody>
      </p:sp>
      <p:sp>
        <p:nvSpPr>
          <p:cNvPr id="13" name="TextBox 12">
            <a:extLst>
              <a:ext uri="{FF2B5EF4-FFF2-40B4-BE49-F238E27FC236}">
                <a16:creationId xmlns:a16="http://schemas.microsoft.com/office/drawing/2014/main" id="{579E8596-F980-B1CF-1DA9-6F29DCAD23DF}"/>
              </a:ext>
            </a:extLst>
          </p:cNvPr>
          <p:cNvSpPr txBox="1"/>
          <p:nvPr/>
        </p:nvSpPr>
        <p:spPr>
          <a:xfrm>
            <a:off x="5479741" y="6078666"/>
            <a:ext cx="1232517" cy="369332"/>
          </a:xfrm>
          <a:prstGeom prst="rect">
            <a:avLst/>
          </a:prstGeom>
          <a:noFill/>
        </p:spPr>
        <p:txBody>
          <a:bodyPr wrap="none" rtlCol="0">
            <a:spAutoFit/>
          </a:bodyPr>
          <a:lstStyle/>
          <a:p>
            <a:r>
              <a:rPr lang="en-GB" dirty="0" err="1"/>
              <a:t>Polycubes</a:t>
            </a:r>
            <a:endParaRPr lang="LID4096" dirty="0"/>
          </a:p>
        </p:txBody>
      </p:sp>
      <p:pic>
        <p:nvPicPr>
          <p:cNvPr id="15" name="Picture 14" descr="A group of colorful blocks&#10;&#10;Description automatically generated">
            <a:extLst>
              <a:ext uri="{FF2B5EF4-FFF2-40B4-BE49-F238E27FC236}">
                <a16:creationId xmlns:a16="http://schemas.microsoft.com/office/drawing/2014/main" id="{AD90F38E-979C-2118-34BB-267FD37C2B6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66996" y="2422675"/>
            <a:ext cx="2058008" cy="3655991"/>
          </a:xfrm>
          <a:prstGeom prst="rect">
            <a:avLst/>
          </a:prstGeom>
        </p:spPr>
      </p:pic>
      <p:pic>
        <p:nvPicPr>
          <p:cNvPr id="16" name="Picture 15">
            <a:extLst>
              <a:ext uri="{FF2B5EF4-FFF2-40B4-BE49-F238E27FC236}">
                <a16:creationId xmlns:a16="http://schemas.microsoft.com/office/drawing/2014/main" id="{FF22CF17-A9A8-2BA5-41EF-B89C98D95430}"/>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7800254" y="3658092"/>
            <a:ext cx="3566649" cy="1185156"/>
          </a:xfrm>
          <a:prstGeom prst="rect">
            <a:avLst/>
          </a:prstGeom>
        </p:spPr>
      </p:pic>
    </p:spTree>
    <p:extLst>
      <p:ext uri="{BB962C8B-B14F-4D97-AF65-F5344CB8AC3E}">
        <p14:creationId xmlns:p14="http://schemas.microsoft.com/office/powerpoint/2010/main" val="1986316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1" grpId="0"/>
      <p:bldP spid="12" grpId="0"/>
      <p:bldP spid="1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CC059F-A25B-CC41-B3E1-C9AF20BF71B1}"/>
              </a:ext>
            </a:extLst>
          </p:cNvPr>
          <p:cNvSpPr>
            <a:spLocks noGrp="1"/>
          </p:cNvSpPr>
          <p:nvPr>
            <p:ph type="title"/>
          </p:nvPr>
        </p:nvSpPr>
        <p:spPr/>
        <p:txBody>
          <a:bodyPr/>
          <a:lstStyle/>
          <a:p>
            <a:r>
              <a:rPr lang="en-GB" dirty="0"/>
              <a:t>Introduction – Online Packing</a:t>
            </a:r>
            <a:endParaRPr lang="LID4096" dirty="0"/>
          </a:p>
        </p:txBody>
      </p:sp>
      <p:sp>
        <p:nvSpPr>
          <p:cNvPr id="3" name="Content Placeholder 2">
            <a:extLst>
              <a:ext uri="{FF2B5EF4-FFF2-40B4-BE49-F238E27FC236}">
                <a16:creationId xmlns:a16="http://schemas.microsoft.com/office/drawing/2014/main" id="{B4AC0CD2-5099-7A56-ABB5-968B051FD08E}"/>
              </a:ext>
            </a:extLst>
          </p:cNvPr>
          <p:cNvSpPr>
            <a:spLocks noGrp="1"/>
          </p:cNvSpPr>
          <p:nvPr>
            <p:ph idx="1"/>
          </p:nvPr>
        </p:nvSpPr>
        <p:spPr/>
        <p:txBody>
          <a:bodyPr/>
          <a:lstStyle/>
          <a:p>
            <a:r>
              <a:rPr lang="en-GB" dirty="0"/>
              <a:t>Get </a:t>
            </a:r>
            <a:r>
              <a:rPr lang="en-GB" dirty="0" err="1"/>
              <a:t>Polycubes</a:t>
            </a:r>
            <a:r>
              <a:rPr lang="en-GB" dirty="0"/>
              <a:t> Sequentially</a:t>
            </a:r>
          </a:p>
          <a:p>
            <a:endParaRPr lang="en-GB" dirty="0"/>
          </a:p>
          <a:p>
            <a:r>
              <a:rPr lang="en-GB" dirty="0"/>
              <a:t>Heuristics vs. Learning</a:t>
            </a:r>
          </a:p>
          <a:p>
            <a:endParaRPr lang="en-GB" dirty="0"/>
          </a:p>
          <a:p>
            <a:r>
              <a:rPr lang="en-GB" dirty="0"/>
              <a:t>Restricting the Action Space</a:t>
            </a:r>
            <a:endParaRPr lang="LID4096" dirty="0"/>
          </a:p>
        </p:txBody>
      </p:sp>
      <p:sp>
        <p:nvSpPr>
          <p:cNvPr id="4" name="Slide Number Placeholder 3">
            <a:extLst>
              <a:ext uri="{FF2B5EF4-FFF2-40B4-BE49-F238E27FC236}">
                <a16:creationId xmlns:a16="http://schemas.microsoft.com/office/drawing/2014/main" id="{A5FA2E81-D8C6-F1CB-1283-4857CE13CA59}"/>
              </a:ext>
            </a:extLst>
          </p:cNvPr>
          <p:cNvSpPr>
            <a:spLocks noGrp="1"/>
          </p:cNvSpPr>
          <p:nvPr>
            <p:ph type="sldNum" sz="quarter" idx="12"/>
          </p:nvPr>
        </p:nvSpPr>
        <p:spPr/>
        <p:txBody>
          <a:bodyPr/>
          <a:lstStyle/>
          <a:p>
            <a:fld id="{D637F8FC-4B86-4690-8888-22AB2F781BEF}" type="slidenum">
              <a:rPr lang="en-US" smtClean="0"/>
              <a:t>4</a:t>
            </a:fld>
            <a:endParaRPr lang="en-US"/>
          </a:p>
        </p:txBody>
      </p:sp>
    </p:spTree>
    <p:extLst>
      <p:ext uri="{BB962C8B-B14F-4D97-AF65-F5344CB8AC3E}">
        <p14:creationId xmlns:p14="http://schemas.microsoft.com/office/powerpoint/2010/main" val="13801479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60268-3ABE-378C-B95F-7512A80B861A}"/>
              </a:ext>
            </a:extLst>
          </p:cNvPr>
          <p:cNvSpPr>
            <a:spLocks noGrp="1"/>
          </p:cNvSpPr>
          <p:nvPr>
            <p:ph type="title"/>
          </p:nvPr>
        </p:nvSpPr>
        <p:spPr/>
        <p:txBody>
          <a:bodyPr/>
          <a:lstStyle/>
          <a:p>
            <a:r>
              <a:rPr lang="en-GB" dirty="0"/>
              <a:t>Research Questions</a:t>
            </a:r>
            <a:endParaRPr lang="LID4096" dirty="0"/>
          </a:p>
        </p:txBody>
      </p:sp>
      <p:sp>
        <p:nvSpPr>
          <p:cNvPr id="3" name="Content Placeholder 2">
            <a:extLst>
              <a:ext uri="{FF2B5EF4-FFF2-40B4-BE49-F238E27FC236}">
                <a16:creationId xmlns:a16="http://schemas.microsoft.com/office/drawing/2014/main" id="{DCE7C8D2-AE76-B856-1160-959B7C87BD57}"/>
              </a:ext>
            </a:extLst>
          </p:cNvPr>
          <p:cNvSpPr>
            <a:spLocks noGrp="1"/>
          </p:cNvSpPr>
          <p:nvPr>
            <p:ph idx="1"/>
          </p:nvPr>
        </p:nvSpPr>
        <p:spPr/>
        <p:txBody>
          <a:bodyPr/>
          <a:lstStyle/>
          <a:p>
            <a:pPr marL="342900" indent="-342900">
              <a:buAutoNum type="arabicPeriod"/>
            </a:pPr>
            <a:r>
              <a:rPr lang="en-GB" dirty="0"/>
              <a:t>Can online polycube packing be solved using deep reinforcement learning?</a:t>
            </a:r>
          </a:p>
          <a:p>
            <a:pPr marL="342900" indent="-342900">
              <a:buAutoNum type="arabicPeriod"/>
            </a:pPr>
            <a:endParaRPr lang="en-GB" dirty="0"/>
          </a:p>
          <a:p>
            <a:pPr marL="342900" indent="-342900">
              <a:buAutoNum type="arabicPeriod"/>
            </a:pPr>
            <a:r>
              <a:rPr lang="en-GB" dirty="0"/>
              <a:t>How does the performance of deep reinforcement learning compare to traditional heuristics?</a:t>
            </a:r>
          </a:p>
          <a:p>
            <a:pPr marL="342900" indent="-342900">
              <a:buAutoNum type="arabicPeriod"/>
            </a:pPr>
            <a:endParaRPr lang="en-GB" dirty="0"/>
          </a:p>
          <a:p>
            <a:pPr marL="342900" indent="-342900">
              <a:buAutoNum type="arabicPeriod"/>
            </a:pPr>
            <a:r>
              <a:rPr lang="en-GB" dirty="0"/>
              <a:t>Can the performance of deep reinforcement learning be improved by using heuristics to restrict the action space?</a:t>
            </a:r>
            <a:endParaRPr lang="LID4096" dirty="0"/>
          </a:p>
        </p:txBody>
      </p:sp>
      <p:sp>
        <p:nvSpPr>
          <p:cNvPr id="4" name="Slide Number Placeholder 3">
            <a:extLst>
              <a:ext uri="{FF2B5EF4-FFF2-40B4-BE49-F238E27FC236}">
                <a16:creationId xmlns:a16="http://schemas.microsoft.com/office/drawing/2014/main" id="{B1C4996B-453A-DECE-5840-841431660ADA}"/>
              </a:ext>
            </a:extLst>
          </p:cNvPr>
          <p:cNvSpPr>
            <a:spLocks noGrp="1"/>
          </p:cNvSpPr>
          <p:nvPr>
            <p:ph type="sldNum" sz="quarter" idx="12"/>
          </p:nvPr>
        </p:nvSpPr>
        <p:spPr/>
        <p:txBody>
          <a:bodyPr/>
          <a:lstStyle/>
          <a:p>
            <a:fld id="{D637F8FC-4B86-4690-8888-22AB2F781BEF}" type="slidenum">
              <a:rPr lang="en-US" smtClean="0"/>
              <a:t>5</a:t>
            </a:fld>
            <a:endParaRPr lang="en-US"/>
          </a:p>
        </p:txBody>
      </p:sp>
    </p:spTree>
    <p:extLst>
      <p:ext uri="{BB962C8B-B14F-4D97-AF65-F5344CB8AC3E}">
        <p14:creationId xmlns:p14="http://schemas.microsoft.com/office/powerpoint/2010/main" val="11216687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CEA376-6B7A-EA9D-0D0D-12BB8BDBBCDF}"/>
              </a:ext>
            </a:extLst>
          </p:cNvPr>
          <p:cNvSpPr>
            <a:spLocks noGrp="1"/>
          </p:cNvSpPr>
          <p:nvPr>
            <p:ph type="title"/>
          </p:nvPr>
        </p:nvSpPr>
        <p:spPr/>
        <p:txBody>
          <a:bodyPr/>
          <a:lstStyle/>
          <a:p>
            <a:r>
              <a:rPr lang="en-GB" dirty="0"/>
              <a:t>Methods – Markov Decision Process</a:t>
            </a:r>
            <a:endParaRPr lang="LID4096" dirty="0"/>
          </a:p>
        </p:txBody>
      </p:sp>
      <p:sp>
        <p:nvSpPr>
          <p:cNvPr id="3" name="Content Placeholder 2">
            <a:extLst>
              <a:ext uri="{FF2B5EF4-FFF2-40B4-BE49-F238E27FC236}">
                <a16:creationId xmlns:a16="http://schemas.microsoft.com/office/drawing/2014/main" id="{0C598AC1-8848-E8B0-F756-1AF1BCB569E0}"/>
              </a:ext>
            </a:extLst>
          </p:cNvPr>
          <p:cNvSpPr>
            <a:spLocks noGrp="1"/>
          </p:cNvSpPr>
          <p:nvPr>
            <p:ph idx="1"/>
          </p:nvPr>
        </p:nvSpPr>
        <p:spPr/>
        <p:txBody>
          <a:bodyPr/>
          <a:lstStyle/>
          <a:p>
            <a:r>
              <a:rPr lang="en-GB" b="1" dirty="0"/>
              <a:t>States:</a:t>
            </a:r>
            <a:r>
              <a:rPr lang="en-GB" dirty="0"/>
              <a:t> </a:t>
            </a:r>
            <a:r>
              <a:rPr lang="en-GB" i="1" dirty="0"/>
              <a:t>container + polycube</a:t>
            </a:r>
          </a:p>
          <a:p>
            <a:endParaRPr lang="en-GB" i="1" dirty="0"/>
          </a:p>
          <a:p>
            <a:r>
              <a:rPr lang="en-GB" b="1" dirty="0"/>
              <a:t>Actions:</a:t>
            </a:r>
            <a:r>
              <a:rPr lang="en-GB" dirty="0"/>
              <a:t> </a:t>
            </a:r>
            <a:r>
              <a:rPr lang="en-GB" i="1" dirty="0"/>
              <a:t>position + orientation</a:t>
            </a:r>
            <a:endParaRPr lang="en-GB" dirty="0"/>
          </a:p>
          <a:p>
            <a:endParaRPr lang="en-GB" b="1" dirty="0"/>
          </a:p>
          <a:p>
            <a:r>
              <a:rPr lang="en-GB" b="1" dirty="0"/>
              <a:t>Transition Probability Function:</a:t>
            </a:r>
            <a:r>
              <a:rPr lang="en-GB" dirty="0"/>
              <a:t> </a:t>
            </a:r>
            <a:r>
              <a:rPr lang="en-GB" i="1" dirty="0"/>
              <a:t>stochastic</a:t>
            </a:r>
            <a:endParaRPr lang="en-GB" dirty="0"/>
          </a:p>
          <a:p>
            <a:endParaRPr lang="en-GB" b="1" dirty="0"/>
          </a:p>
          <a:p>
            <a:r>
              <a:rPr lang="en-GB" b="1" dirty="0"/>
              <a:t>Reward Function:</a:t>
            </a:r>
            <a:r>
              <a:rPr lang="en-GB" dirty="0"/>
              <a:t> </a:t>
            </a:r>
            <a:r>
              <a:rPr lang="en-GB" i="1" dirty="0"/>
              <a:t>number of </a:t>
            </a:r>
            <a:r>
              <a:rPr lang="en-GB" i="1" dirty="0" err="1"/>
              <a:t>polycubes</a:t>
            </a:r>
            <a:r>
              <a:rPr lang="en-GB" i="1" dirty="0"/>
              <a:t> packed</a:t>
            </a:r>
            <a:endParaRPr lang="LID4096" b="1" dirty="0"/>
          </a:p>
        </p:txBody>
      </p:sp>
      <p:sp>
        <p:nvSpPr>
          <p:cNvPr id="4" name="Slide Number Placeholder 3">
            <a:extLst>
              <a:ext uri="{FF2B5EF4-FFF2-40B4-BE49-F238E27FC236}">
                <a16:creationId xmlns:a16="http://schemas.microsoft.com/office/drawing/2014/main" id="{87F94C39-98A1-A7D5-4124-E15717A17F53}"/>
              </a:ext>
            </a:extLst>
          </p:cNvPr>
          <p:cNvSpPr>
            <a:spLocks noGrp="1"/>
          </p:cNvSpPr>
          <p:nvPr>
            <p:ph type="sldNum" sz="quarter" idx="12"/>
          </p:nvPr>
        </p:nvSpPr>
        <p:spPr/>
        <p:txBody>
          <a:bodyPr/>
          <a:lstStyle/>
          <a:p>
            <a:fld id="{D637F8FC-4B86-4690-8888-22AB2F781BEF}" type="slidenum">
              <a:rPr lang="en-US" smtClean="0"/>
              <a:t>6</a:t>
            </a:fld>
            <a:endParaRPr lang="en-US"/>
          </a:p>
        </p:txBody>
      </p:sp>
    </p:spTree>
    <p:extLst>
      <p:ext uri="{BB962C8B-B14F-4D97-AF65-F5344CB8AC3E}">
        <p14:creationId xmlns:p14="http://schemas.microsoft.com/office/powerpoint/2010/main" val="21354656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D238E-6435-AA4F-66A3-190610B368B7}"/>
              </a:ext>
            </a:extLst>
          </p:cNvPr>
          <p:cNvSpPr>
            <a:spLocks noGrp="1"/>
          </p:cNvSpPr>
          <p:nvPr>
            <p:ph type="title"/>
          </p:nvPr>
        </p:nvSpPr>
        <p:spPr/>
        <p:txBody>
          <a:bodyPr/>
          <a:lstStyle/>
          <a:p>
            <a:r>
              <a:rPr lang="en-GB" dirty="0"/>
              <a:t>Methods – Deep Reinforcement Learning</a:t>
            </a:r>
            <a:endParaRPr lang="LID4096" dirty="0"/>
          </a:p>
        </p:txBody>
      </p:sp>
      <p:sp>
        <p:nvSpPr>
          <p:cNvPr id="3" name="Content Placeholder 2">
            <a:extLst>
              <a:ext uri="{FF2B5EF4-FFF2-40B4-BE49-F238E27FC236}">
                <a16:creationId xmlns:a16="http://schemas.microsoft.com/office/drawing/2014/main" id="{BEE29781-98F9-095D-0661-E1BD3B6C6FCE}"/>
              </a:ext>
            </a:extLst>
          </p:cNvPr>
          <p:cNvSpPr>
            <a:spLocks noGrp="1"/>
          </p:cNvSpPr>
          <p:nvPr>
            <p:ph idx="1"/>
          </p:nvPr>
        </p:nvSpPr>
        <p:spPr>
          <a:xfrm>
            <a:off x="1638299" y="2034941"/>
            <a:ext cx="8915402" cy="4137259"/>
          </a:xfrm>
        </p:spPr>
        <p:txBody>
          <a:bodyPr/>
          <a:lstStyle/>
          <a:p>
            <a:r>
              <a:rPr lang="en-GB" dirty="0"/>
              <a:t>Large State and Action Space</a:t>
            </a:r>
          </a:p>
          <a:p>
            <a:r>
              <a:rPr lang="en-GB" dirty="0"/>
              <a:t>Stochastic Environment</a:t>
            </a:r>
          </a:p>
          <a:p>
            <a:r>
              <a:rPr lang="en-GB" dirty="0"/>
              <a:t>Proximal Policy Optimization (PPO)</a:t>
            </a:r>
          </a:p>
        </p:txBody>
      </p:sp>
      <p:sp>
        <p:nvSpPr>
          <p:cNvPr id="4" name="Slide Number Placeholder 3">
            <a:extLst>
              <a:ext uri="{FF2B5EF4-FFF2-40B4-BE49-F238E27FC236}">
                <a16:creationId xmlns:a16="http://schemas.microsoft.com/office/drawing/2014/main" id="{DAF8DD61-4992-EA2F-53A1-B785E9D0F21C}"/>
              </a:ext>
            </a:extLst>
          </p:cNvPr>
          <p:cNvSpPr>
            <a:spLocks noGrp="1"/>
          </p:cNvSpPr>
          <p:nvPr>
            <p:ph type="sldNum" sz="quarter" idx="12"/>
          </p:nvPr>
        </p:nvSpPr>
        <p:spPr/>
        <p:txBody>
          <a:bodyPr/>
          <a:lstStyle/>
          <a:p>
            <a:fld id="{D637F8FC-4B86-4690-8888-22AB2F781BEF}" type="slidenum">
              <a:rPr lang="en-US" smtClean="0"/>
              <a:t>7</a:t>
            </a:fld>
            <a:endParaRPr lang="en-US"/>
          </a:p>
        </p:txBody>
      </p:sp>
      <p:sp>
        <p:nvSpPr>
          <p:cNvPr id="5" name="Right Brace 4">
            <a:extLst>
              <a:ext uri="{FF2B5EF4-FFF2-40B4-BE49-F238E27FC236}">
                <a16:creationId xmlns:a16="http://schemas.microsoft.com/office/drawing/2014/main" id="{F85DCB4C-7E38-6C9E-7D41-76ABBCBC4F44}"/>
              </a:ext>
            </a:extLst>
          </p:cNvPr>
          <p:cNvSpPr/>
          <p:nvPr/>
        </p:nvSpPr>
        <p:spPr>
          <a:xfrm>
            <a:off x="5029200" y="2057400"/>
            <a:ext cx="486383" cy="783076"/>
          </a:xfrm>
          <a:prstGeom prst="rightBrace">
            <a:avLst>
              <a:gd name="adj1" fmla="val 26468"/>
              <a:gd name="adj2" fmla="val 48935"/>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LID4096"/>
          </a:p>
        </p:txBody>
      </p:sp>
      <p:sp>
        <p:nvSpPr>
          <p:cNvPr id="6" name="TextBox 5">
            <a:extLst>
              <a:ext uri="{FF2B5EF4-FFF2-40B4-BE49-F238E27FC236}">
                <a16:creationId xmlns:a16="http://schemas.microsoft.com/office/drawing/2014/main" id="{A2983D53-9D77-54DE-26A8-917D1331E498}"/>
              </a:ext>
            </a:extLst>
          </p:cNvPr>
          <p:cNvSpPr txBox="1"/>
          <p:nvPr/>
        </p:nvSpPr>
        <p:spPr>
          <a:xfrm>
            <a:off x="5556784" y="2264272"/>
            <a:ext cx="2492285" cy="369332"/>
          </a:xfrm>
          <a:prstGeom prst="rect">
            <a:avLst/>
          </a:prstGeom>
          <a:noFill/>
        </p:spPr>
        <p:txBody>
          <a:bodyPr wrap="none" rtlCol="0">
            <a:spAutoFit/>
          </a:bodyPr>
          <a:lstStyle/>
          <a:p>
            <a:r>
              <a:rPr lang="en-GB" dirty="0"/>
              <a:t>On-Policy, Model-Free</a:t>
            </a:r>
            <a:endParaRPr lang="LID4096" dirty="0"/>
          </a:p>
        </p:txBody>
      </p:sp>
      <p:sp>
        <p:nvSpPr>
          <p:cNvPr id="7" name="TextBox 6">
            <a:extLst>
              <a:ext uri="{FF2B5EF4-FFF2-40B4-BE49-F238E27FC236}">
                <a16:creationId xmlns:a16="http://schemas.microsoft.com/office/drawing/2014/main" id="{D28E8D57-4E24-4403-D77E-5FFE8CCAE4AC}"/>
              </a:ext>
            </a:extLst>
          </p:cNvPr>
          <p:cNvSpPr txBox="1"/>
          <p:nvPr/>
        </p:nvSpPr>
        <p:spPr>
          <a:xfrm>
            <a:off x="1638299" y="4800601"/>
            <a:ext cx="2833853" cy="369332"/>
          </a:xfrm>
          <a:prstGeom prst="rect">
            <a:avLst/>
          </a:prstGeom>
          <a:noFill/>
        </p:spPr>
        <p:txBody>
          <a:bodyPr wrap="none" rtlCol="0">
            <a:spAutoFit/>
          </a:bodyPr>
          <a:lstStyle/>
          <a:p>
            <a:r>
              <a:rPr lang="en-GB" dirty="0"/>
              <a:t>Interact with Environment</a:t>
            </a:r>
            <a:endParaRPr lang="LID4096" dirty="0"/>
          </a:p>
        </p:txBody>
      </p:sp>
      <p:sp>
        <p:nvSpPr>
          <p:cNvPr id="8" name="TextBox 7">
            <a:extLst>
              <a:ext uri="{FF2B5EF4-FFF2-40B4-BE49-F238E27FC236}">
                <a16:creationId xmlns:a16="http://schemas.microsoft.com/office/drawing/2014/main" id="{D9376841-E2E0-5B5B-61BF-16A0C4D1EC8F}"/>
              </a:ext>
            </a:extLst>
          </p:cNvPr>
          <p:cNvSpPr txBox="1"/>
          <p:nvPr/>
        </p:nvSpPr>
        <p:spPr>
          <a:xfrm>
            <a:off x="7911053" y="4677490"/>
            <a:ext cx="2642648" cy="615553"/>
          </a:xfrm>
          <a:prstGeom prst="rect">
            <a:avLst/>
          </a:prstGeom>
          <a:noFill/>
        </p:spPr>
        <p:txBody>
          <a:bodyPr wrap="none" rtlCol="0">
            <a:spAutoFit/>
          </a:bodyPr>
          <a:lstStyle/>
          <a:p>
            <a:pPr algn="ctr"/>
            <a:r>
              <a:rPr lang="en-GB" dirty="0"/>
              <a:t>Update Policy</a:t>
            </a:r>
          </a:p>
          <a:p>
            <a:pPr algn="ctr"/>
            <a:r>
              <a:rPr lang="en-GB" sz="1600" i="1" dirty="0"/>
              <a:t>Stochastic Gradient Ascent</a:t>
            </a:r>
            <a:endParaRPr lang="LID4096" sz="1600" i="1" dirty="0"/>
          </a:p>
        </p:txBody>
      </p:sp>
      <p:cxnSp>
        <p:nvCxnSpPr>
          <p:cNvPr id="11" name="Connector: Curved 10">
            <a:extLst>
              <a:ext uri="{FF2B5EF4-FFF2-40B4-BE49-F238E27FC236}">
                <a16:creationId xmlns:a16="http://schemas.microsoft.com/office/drawing/2014/main" id="{3E6152C9-ACDC-38DC-A3D5-8613011AA3A5}"/>
              </a:ext>
            </a:extLst>
          </p:cNvPr>
          <p:cNvCxnSpPr>
            <a:cxnSpLocks/>
            <a:stCxn id="7" idx="0"/>
            <a:endCxn id="8" idx="0"/>
          </p:cNvCxnSpPr>
          <p:nvPr/>
        </p:nvCxnSpPr>
        <p:spPr>
          <a:xfrm rot="5400000" flipH="1" flipV="1">
            <a:off x="6082246" y="1650471"/>
            <a:ext cx="123111" cy="6177151"/>
          </a:xfrm>
          <a:prstGeom prst="curvedConnector3">
            <a:avLst>
              <a:gd name="adj1" fmla="val 578043"/>
            </a:avLst>
          </a:prstGeom>
          <a:ln w="190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4" name="Connector: Curved 13">
            <a:extLst>
              <a:ext uri="{FF2B5EF4-FFF2-40B4-BE49-F238E27FC236}">
                <a16:creationId xmlns:a16="http://schemas.microsoft.com/office/drawing/2014/main" id="{694C7245-57C8-CB22-5BE5-1EFAA5229929}"/>
              </a:ext>
            </a:extLst>
          </p:cNvPr>
          <p:cNvCxnSpPr>
            <a:cxnSpLocks/>
            <a:stCxn id="8" idx="2"/>
            <a:endCxn id="7" idx="2"/>
          </p:cNvCxnSpPr>
          <p:nvPr/>
        </p:nvCxnSpPr>
        <p:spPr>
          <a:xfrm rot="5400000" flipH="1">
            <a:off x="6082247" y="2142913"/>
            <a:ext cx="123110" cy="6177151"/>
          </a:xfrm>
          <a:prstGeom prst="curvedConnector3">
            <a:avLst>
              <a:gd name="adj1" fmla="val -399031"/>
            </a:avLst>
          </a:prstGeom>
          <a:ln w="19050">
            <a:solidFill>
              <a:schemeClr val="tx1"/>
            </a:solidFill>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744932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8EEEA-DB83-E09B-EB96-C5A67B483F1D}"/>
              </a:ext>
            </a:extLst>
          </p:cNvPr>
          <p:cNvSpPr>
            <a:spLocks noGrp="1"/>
          </p:cNvSpPr>
          <p:nvPr>
            <p:ph type="title"/>
          </p:nvPr>
        </p:nvSpPr>
        <p:spPr/>
        <p:txBody>
          <a:bodyPr/>
          <a:lstStyle/>
          <a:p>
            <a:r>
              <a:rPr lang="en-GB" dirty="0"/>
              <a:t>Experiments</a:t>
            </a:r>
            <a:endParaRPr lang="LID4096" dirty="0"/>
          </a:p>
        </p:txBody>
      </p:sp>
      <p:sp>
        <p:nvSpPr>
          <p:cNvPr id="3" name="Content Placeholder 2">
            <a:extLst>
              <a:ext uri="{FF2B5EF4-FFF2-40B4-BE49-F238E27FC236}">
                <a16:creationId xmlns:a16="http://schemas.microsoft.com/office/drawing/2014/main" id="{AD10678F-2185-F434-DE40-49CA9C97B616}"/>
              </a:ext>
            </a:extLst>
          </p:cNvPr>
          <p:cNvSpPr>
            <a:spLocks noGrp="1"/>
          </p:cNvSpPr>
          <p:nvPr>
            <p:ph idx="1"/>
          </p:nvPr>
        </p:nvSpPr>
        <p:spPr/>
        <p:txBody>
          <a:bodyPr/>
          <a:lstStyle/>
          <a:p>
            <a:r>
              <a:rPr lang="en-GB" dirty="0"/>
              <a:t>PPO vs. Greedy with Heuristics</a:t>
            </a:r>
          </a:p>
          <a:p>
            <a:endParaRPr lang="en-GB" dirty="0"/>
          </a:p>
          <a:p>
            <a:endParaRPr lang="en-GB" dirty="0"/>
          </a:p>
          <a:p>
            <a:endParaRPr lang="en-GB" dirty="0"/>
          </a:p>
          <a:p>
            <a:endParaRPr lang="en-GB" dirty="0"/>
          </a:p>
          <a:p>
            <a:r>
              <a:rPr lang="en-GB" dirty="0"/>
              <a:t>Container Sizes: </a:t>
            </a:r>
            <a:r>
              <a:rPr lang="en-GB" i="1" dirty="0"/>
              <a:t>3x3x3, 5x3x3, 4x4x4, 6x4x4</a:t>
            </a:r>
            <a:endParaRPr lang="en-GB" dirty="0"/>
          </a:p>
        </p:txBody>
      </p:sp>
      <p:sp>
        <p:nvSpPr>
          <p:cNvPr id="4" name="Slide Number Placeholder 3">
            <a:extLst>
              <a:ext uri="{FF2B5EF4-FFF2-40B4-BE49-F238E27FC236}">
                <a16:creationId xmlns:a16="http://schemas.microsoft.com/office/drawing/2014/main" id="{B50B0262-80CD-906D-FD96-0AA4C59812B1}"/>
              </a:ext>
            </a:extLst>
          </p:cNvPr>
          <p:cNvSpPr>
            <a:spLocks noGrp="1"/>
          </p:cNvSpPr>
          <p:nvPr>
            <p:ph type="sldNum" sz="quarter" idx="12"/>
          </p:nvPr>
        </p:nvSpPr>
        <p:spPr/>
        <p:txBody>
          <a:bodyPr/>
          <a:lstStyle/>
          <a:p>
            <a:fld id="{D637F8FC-4B86-4690-8888-22AB2F781BEF}" type="slidenum">
              <a:rPr lang="en-US" smtClean="0"/>
              <a:t>8</a:t>
            </a:fld>
            <a:endParaRPr lang="en-US"/>
          </a:p>
        </p:txBody>
      </p:sp>
      <p:sp>
        <p:nvSpPr>
          <p:cNvPr id="5" name="TextBox 4">
            <a:extLst>
              <a:ext uri="{FF2B5EF4-FFF2-40B4-BE49-F238E27FC236}">
                <a16:creationId xmlns:a16="http://schemas.microsoft.com/office/drawing/2014/main" id="{5C73F148-A0C7-434A-960D-2BA9229D7963}"/>
              </a:ext>
            </a:extLst>
          </p:cNvPr>
          <p:cNvSpPr txBox="1"/>
          <p:nvPr/>
        </p:nvSpPr>
        <p:spPr>
          <a:xfrm>
            <a:off x="1227631" y="3121223"/>
            <a:ext cx="2520947" cy="615553"/>
          </a:xfrm>
          <a:prstGeom prst="rect">
            <a:avLst/>
          </a:prstGeom>
          <a:noFill/>
          <a:ln w="19050">
            <a:solidFill>
              <a:srgbClr val="2178B3"/>
            </a:solidFill>
          </a:ln>
        </p:spPr>
        <p:txBody>
          <a:bodyPr wrap="none" rtlCol="0">
            <a:spAutoFit/>
          </a:bodyPr>
          <a:lstStyle/>
          <a:p>
            <a:pPr algn="ctr"/>
            <a:r>
              <a:rPr lang="en-GB" b="1" dirty="0"/>
              <a:t>PPO-D</a:t>
            </a:r>
          </a:p>
          <a:p>
            <a:pPr algn="ctr"/>
            <a:r>
              <a:rPr lang="en-GB" sz="1600" dirty="0"/>
              <a:t>Default Hyperparameters</a:t>
            </a:r>
            <a:endParaRPr lang="LID4096" sz="1600" dirty="0"/>
          </a:p>
        </p:txBody>
      </p:sp>
      <p:sp>
        <p:nvSpPr>
          <p:cNvPr id="6" name="TextBox 5">
            <a:extLst>
              <a:ext uri="{FF2B5EF4-FFF2-40B4-BE49-F238E27FC236}">
                <a16:creationId xmlns:a16="http://schemas.microsoft.com/office/drawing/2014/main" id="{0CA9E9F1-6625-A581-E8E6-A7BEC93252BC}"/>
              </a:ext>
            </a:extLst>
          </p:cNvPr>
          <p:cNvSpPr txBox="1"/>
          <p:nvPr/>
        </p:nvSpPr>
        <p:spPr>
          <a:xfrm>
            <a:off x="4677630" y="3121223"/>
            <a:ext cx="2836739" cy="615553"/>
          </a:xfrm>
          <a:prstGeom prst="rect">
            <a:avLst/>
          </a:prstGeom>
          <a:noFill/>
          <a:ln w="19050">
            <a:solidFill>
              <a:srgbClr val="39A639"/>
            </a:solidFill>
          </a:ln>
        </p:spPr>
        <p:txBody>
          <a:bodyPr wrap="none" rtlCol="0">
            <a:spAutoFit/>
          </a:bodyPr>
          <a:lstStyle/>
          <a:p>
            <a:pPr algn="ctr"/>
            <a:r>
              <a:rPr lang="en-GB" b="1" dirty="0"/>
              <a:t>PPO-O</a:t>
            </a:r>
          </a:p>
          <a:p>
            <a:pPr algn="ctr"/>
            <a:r>
              <a:rPr lang="en-GB" sz="1600" dirty="0"/>
              <a:t>Optimized Hyperparameters</a:t>
            </a:r>
            <a:endParaRPr lang="LID4096" sz="1600" dirty="0"/>
          </a:p>
        </p:txBody>
      </p:sp>
      <p:sp>
        <p:nvSpPr>
          <p:cNvPr id="7" name="TextBox 6">
            <a:extLst>
              <a:ext uri="{FF2B5EF4-FFF2-40B4-BE49-F238E27FC236}">
                <a16:creationId xmlns:a16="http://schemas.microsoft.com/office/drawing/2014/main" id="{9A583AB8-5EAD-E3A4-4498-FE9B69D4F2D0}"/>
              </a:ext>
            </a:extLst>
          </p:cNvPr>
          <p:cNvSpPr txBox="1"/>
          <p:nvPr/>
        </p:nvSpPr>
        <p:spPr>
          <a:xfrm>
            <a:off x="8443421" y="3121222"/>
            <a:ext cx="2377767" cy="615553"/>
          </a:xfrm>
          <a:prstGeom prst="rect">
            <a:avLst/>
          </a:prstGeom>
          <a:noFill/>
          <a:ln w="19050">
            <a:solidFill>
              <a:srgbClr val="FF973C"/>
            </a:solidFill>
          </a:ln>
        </p:spPr>
        <p:txBody>
          <a:bodyPr wrap="none" rtlCol="0">
            <a:spAutoFit/>
          </a:bodyPr>
          <a:lstStyle/>
          <a:p>
            <a:pPr algn="ctr"/>
            <a:r>
              <a:rPr lang="en-GB" b="1" dirty="0"/>
              <a:t>PPO-H</a:t>
            </a:r>
            <a:endParaRPr lang="en-GB" dirty="0"/>
          </a:p>
          <a:p>
            <a:pPr algn="ctr"/>
            <a:r>
              <a:rPr lang="en-GB" sz="1600" dirty="0"/>
              <a:t>Restricted Action Space</a:t>
            </a:r>
            <a:endParaRPr lang="LID4096" sz="1600" dirty="0"/>
          </a:p>
        </p:txBody>
      </p:sp>
    </p:spTree>
    <p:extLst>
      <p:ext uri="{BB962C8B-B14F-4D97-AF65-F5344CB8AC3E}">
        <p14:creationId xmlns:p14="http://schemas.microsoft.com/office/powerpoint/2010/main" val="2631230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540EB-61E3-4F81-42F5-10D1D9E43274}"/>
              </a:ext>
            </a:extLst>
          </p:cNvPr>
          <p:cNvSpPr>
            <a:spLocks noGrp="1"/>
          </p:cNvSpPr>
          <p:nvPr>
            <p:ph type="title"/>
          </p:nvPr>
        </p:nvSpPr>
        <p:spPr/>
        <p:txBody>
          <a:bodyPr/>
          <a:lstStyle/>
          <a:p>
            <a:r>
              <a:rPr lang="en-GB" dirty="0"/>
              <a:t>Experiment 1</a:t>
            </a:r>
            <a:endParaRPr lang="LID4096" dirty="0"/>
          </a:p>
        </p:txBody>
      </p:sp>
      <p:sp>
        <p:nvSpPr>
          <p:cNvPr id="3" name="Content Placeholder 2">
            <a:extLst>
              <a:ext uri="{FF2B5EF4-FFF2-40B4-BE49-F238E27FC236}">
                <a16:creationId xmlns:a16="http://schemas.microsoft.com/office/drawing/2014/main" id="{C1F7BAF7-CEF0-E66D-E7D7-13D5B8F96D44}"/>
              </a:ext>
            </a:extLst>
          </p:cNvPr>
          <p:cNvSpPr>
            <a:spLocks noGrp="1"/>
          </p:cNvSpPr>
          <p:nvPr>
            <p:ph idx="1"/>
          </p:nvPr>
        </p:nvSpPr>
        <p:spPr/>
        <p:txBody>
          <a:bodyPr/>
          <a:lstStyle/>
          <a:p>
            <a:r>
              <a:rPr lang="en-GB" dirty="0"/>
              <a:t>Training PPO Agents</a:t>
            </a:r>
          </a:p>
          <a:p>
            <a:pPr lvl="1"/>
            <a:r>
              <a:rPr lang="en-GB" dirty="0"/>
              <a:t>Fixed number of steps</a:t>
            </a:r>
          </a:p>
          <a:p>
            <a:pPr lvl="1"/>
            <a:r>
              <a:rPr lang="en-GB" dirty="0"/>
              <a:t>Until convergence</a:t>
            </a:r>
          </a:p>
          <a:p>
            <a:pPr lvl="1"/>
            <a:endParaRPr lang="en-GB" dirty="0"/>
          </a:p>
          <a:p>
            <a:r>
              <a:rPr lang="en-GB" dirty="0"/>
              <a:t>Mean Reward</a:t>
            </a:r>
          </a:p>
          <a:p>
            <a:endParaRPr lang="en-GB" dirty="0"/>
          </a:p>
          <a:p>
            <a:r>
              <a:rPr lang="en-GB" dirty="0"/>
              <a:t>Entropy Loss</a:t>
            </a:r>
          </a:p>
        </p:txBody>
      </p:sp>
      <p:sp>
        <p:nvSpPr>
          <p:cNvPr id="4" name="Slide Number Placeholder 3">
            <a:extLst>
              <a:ext uri="{FF2B5EF4-FFF2-40B4-BE49-F238E27FC236}">
                <a16:creationId xmlns:a16="http://schemas.microsoft.com/office/drawing/2014/main" id="{B842F5FF-E1BD-F58A-6B06-E1F4C73D548D}"/>
              </a:ext>
            </a:extLst>
          </p:cNvPr>
          <p:cNvSpPr>
            <a:spLocks noGrp="1"/>
          </p:cNvSpPr>
          <p:nvPr>
            <p:ph type="sldNum" sz="quarter" idx="12"/>
          </p:nvPr>
        </p:nvSpPr>
        <p:spPr/>
        <p:txBody>
          <a:bodyPr/>
          <a:lstStyle/>
          <a:p>
            <a:fld id="{D637F8FC-4B86-4690-8888-22AB2F781BEF}" type="slidenum">
              <a:rPr lang="en-US" smtClean="0"/>
              <a:t>9</a:t>
            </a:fld>
            <a:endParaRPr lang="en-US"/>
          </a:p>
        </p:txBody>
      </p:sp>
    </p:spTree>
    <p:extLst>
      <p:ext uri="{BB962C8B-B14F-4D97-AF65-F5344CB8AC3E}">
        <p14:creationId xmlns:p14="http://schemas.microsoft.com/office/powerpoint/2010/main" val="22124209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594182A-67FC-99DC-2CD7-23D7A29D13AF}"/>
              </a:ext>
            </a:extLst>
          </p:cNvPr>
          <p:cNvSpPr>
            <a:spLocks noGrp="1"/>
          </p:cNvSpPr>
          <p:nvPr>
            <p:ph type="sldNum" sz="quarter" idx="12"/>
          </p:nvPr>
        </p:nvSpPr>
        <p:spPr/>
        <p:txBody>
          <a:bodyPr/>
          <a:lstStyle/>
          <a:p>
            <a:fld id="{D637F8FC-4B86-4690-8888-22AB2F781BEF}" type="slidenum">
              <a:rPr lang="en-US" smtClean="0"/>
              <a:t>10</a:t>
            </a:fld>
            <a:endParaRPr lang="en-US"/>
          </a:p>
        </p:txBody>
      </p:sp>
      <p:sp>
        <p:nvSpPr>
          <p:cNvPr id="5" name="TextBox 4">
            <a:extLst>
              <a:ext uri="{FF2B5EF4-FFF2-40B4-BE49-F238E27FC236}">
                <a16:creationId xmlns:a16="http://schemas.microsoft.com/office/drawing/2014/main" id="{D0E9986A-571D-A2EF-45E7-4BAF43CD7A76}"/>
              </a:ext>
            </a:extLst>
          </p:cNvPr>
          <p:cNvSpPr txBox="1"/>
          <p:nvPr/>
        </p:nvSpPr>
        <p:spPr>
          <a:xfrm>
            <a:off x="1227631" y="5703585"/>
            <a:ext cx="2520947" cy="615553"/>
          </a:xfrm>
          <a:prstGeom prst="rect">
            <a:avLst/>
          </a:prstGeom>
          <a:noFill/>
          <a:ln w="19050">
            <a:solidFill>
              <a:srgbClr val="2178B3"/>
            </a:solidFill>
          </a:ln>
        </p:spPr>
        <p:txBody>
          <a:bodyPr wrap="none" rtlCol="0">
            <a:spAutoFit/>
          </a:bodyPr>
          <a:lstStyle/>
          <a:p>
            <a:pPr algn="ctr"/>
            <a:r>
              <a:rPr lang="en-GB" b="1" dirty="0"/>
              <a:t>PPO-D</a:t>
            </a:r>
          </a:p>
          <a:p>
            <a:pPr algn="ctr"/>
            <a:r>
              <a:rPr lang="en-GB" sz="1600" dirty="0"/>
              <a:t>Default Hyperparameters</a:t>
            </a:r>
            <a:endParaRPr lang="LID4096" sz="1600" dirty="0"/>
          </a:p>
        </p:txBody>
      </p:sp>
      <p:sp>
        <p:nvSpPr>
          <p:cNvPr id="6" name="TextBox 5">
            <a:extLst>
              <a:ext uri="{FF2B5EF4-FFF2-40B4-BE49-F238E27FC236}">
                <a16:creationId xmlns:a16="http://schemas.microsoft.com/office/drawing/2014/main" id="{0D9C1B54-21F6-02AB-01F5-31D639F4F191}"/>
              </a:ext>
            </a:extLst>
          </p:cNvPr>
          <p:cNvSpPr txBox="1"/>
          <p:nvPr/>
        </p:nvSpPr>
        <p:spPr>
          <a:xfrm>
            <a:off x="4677630" y="5703585"/>
            <a:ext cx="2836739" cy="615553"/>
          </a:xfrm>
          <a:prstGeom prst="rect">
            <a:avLst/>
          </a:prstGeom>
          <a:noFill/>
          <a:ln w="19050">
            <a:solidFill>
              <a:srgbClr val="39A639"/>
            </a:solidFill>
          </a:ln>
        </p:spPr>
        <p:txBody>
          <a:bodyPr wrap="none" rtlCol="0">
            <a:spAutoFit/>
          </a:bodyPr>
          <a:lstStyle/>
          <a:p>
            <a:pPr algn="ctr"/>
            <a:r>
              <a:rPr lang="en-GB" b="1" dirty="0"/>
              <a:t>PPO-O</a:t>
            </a:r>
          </a:p>
          <a:p>
            <a:pPr algn="ctr"/>
            <a:r>
              <a:rPr lang="en-GB" sz="1600" dirty="0"/>
              <a:t>Optimized Hyperparameters</a:t>
            </a:r>
            <a:endParaRPr lang="LID4096" sz="1600" dirty="0"/>
          </a:p>
        </p:txBody>
      </p:sp>
      <p:sp>
        <p:nvSpPr>
          <p:cNvPr id="7" name="TextBox 6">
            <a:extLst>
              <a:ext uri="{FF2B5EF4-FFF2-40B4-BE49-F238E27FC236}">
                <a16:creationId xmlns:a16="http://schemas.microsoft.com/office/drawing/2014/main" id="{33AF9F95-4315-601B-EA82-1B0DF55F80A5}"/>
              </a:ext>
            </a:extLst>
          </p:cNvPr>
          <p:cNvSpPr txBox="1"/>
          <p:nvPr/>
        </p:nvSpPr>
        <p:spPr>
          <a:xfrm>
            <a:off x="8443421" y="5703584"/>
            <a:ext cx="2377767" cy="615553"/>
          </a:xfrm>
          <a:prstGeom prst="rect">
            <a:avLst/>
          </a:prstGeom>
          <a:noFill/>
          <a:ln w="19050">
            <a:solidFill>
              <a:srgbClr val="FF973C"/>
            </a:solidFill>
          </a:ln>
        </p:spPr>
        <p:txBody>
          <a:bodyPr wrap="none" rtlCol="0">
            <a:spAutoFit/>
          </a:bodyPr>
          <a:lstStyle/>
          <a:p>
            <a:pPr algn="ctr"/>
            <a:r>
              <a:rPr lang="en-GB" b="1" dirty="0"/>
              <a:t>PPO-H</a:t>
            </a:r>
            <a:endParaRPr lang="en-GB" dirty="0"/>
          </a:p>
          <a:p>
            <a:pPr algn="ctr"/>
            <a:r>
              <a:rPr lang="en-GB" sz="1600" dirty="0"/>
              <a:t>Restricted Action Space</a:t>
            </a:r>
            <a:endParaRPr lang="LID4096" sz="1600" dirty="0"/>
          </a:p>
        </p:txBody>
      </p:sp>
      <p:pic>
        <p:nvPicPr>
          <p:cNvPr id="9" name="Picture 8" descr="A graph showing a number of steps&#10;&#10;Description automatically generated with medium confidence">
            <a:extLst>
              <a:ext uri="{FF2B5EF4-FFF2-40B4-BE49-F238E27FC236}">
                <a16:creationId xmlns:a16="http://schemas.microsoft.com/office/drawing/2014/main" id="{AF2D237D-F3F4-B816-C21E-A9ABF73B7D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20000" y="346787"/>
            <a:ext cx="6819518" cy="5232513"/>
          </a:xfrm>
          <a:prstGeom prst="rect">
            <a:avLst/>
          </a:prstGeom>
        </p:spPr>
      </p:pic>
    </p:spTree>
    <p:extLst>
      <p:ext uri="{BB962C8B-B14F-4D97-AF65-F5344CB8AC3E}">
        <p14:creationId xmlns:p14="http://schemas.microsoft.com/office/powerpoint/2010/main" val="27252802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594182A-67FC-99DC-2CD7-23D7A29D13AF}"/>
              </a:ext>
            </a:extLst>
          </p:cNvPr>
          <p:cNvSpPr>
            <a:spLocks noGrp="1"/>
          </p:cNvSpPr>
          <p:nvPr>
            <p:ph type="sldNum" sz="quarter" idx="12"/>
          </p:nvPr>
        </p:nvSpPr>
        <p:spPr/>
        <p:txBody>
          <a:bodyPr/>
          <a:lstStyle/>
          <a:p>
            <a:fld id="{D637F8FC-4B86-4690-8888-22AB2F781BEF}" type="slidenum">
              <a:rPr lang="en-US" smtClean="0"/>
              <a:t>11</a:t>
            </a:fld>
            <a:endParaRPr lang="en-US"/>
          </a:p>
        </p:txBody>
      </p:sp>
      <p:sp>
        <p:nvSpPr>
          <p:cNvPr id="5" name="TextBox 4">
            <a:extLst>
              <a:ext uri="{FF2B5EF4-FFF2-40B4-BE49-F238E27FC236}">
                <a16:creationId xmlns:a16="http://schemas.microsoft.com/office/drawing/2014/main" id="{D0E9986A-571D-A2EF-45E7-4BAF43CD7A76}"/>
              </a:ext>
            </a:extLst>
          </p:cNvPr>
          <p:cNvSpPr txBox="1"/>
          <p:nvPr/>
        </p:nvSpPr>
        <p:spPr>
          <a:xfrm>
            <a:off x="1227631" y="5703585"/>
            <a:ext cx="2520947" cy="615553"/>
          </a:xfrm>
          <a:prstGeom prst="rect">
            <a:avLst/>
          </a:prstGeom>
          <a:noFill/>
          <a:ln w="19050">
            <a:solidFill>
              <a:srgbClr val="2178B3"/>
            </a:solidFill>
          </a:ln>
        </p:spPr>
        <p:txBody>
          <a:bodyPr wrap="none" rtlCol="0">
            <a:spAutoFit/>
          </a:bodyPr>
          <a:lstStyle/>
          <a:p>
            <a:pPr algn="ctr"/>
            <a:r>
              <a:rPr lang="en-GB" b="1" dirty="0"/>
              <a:t>PPO-D</a:t>
            </a:r>
          </a:p>
          <a:p>
            <a:pPr algn="ctr"/>
            <a:r>
              <a:rPr lang="en-GB" sz="1600" dirty="0"/>
              <a:t>Default Hyperparameters</a:t>
            </a:r>
            <a:endParaRPr lang="LID4096" sz="1600" dirty="0"/>
          </a:p>
        </p:txBody>
      </p:sp>
      <p:sp>
        <p:nvSpPr>
          <p:cNvPr id="6" name="TextBox 5">
            <a:extLst>
              <a:ext uri="{FF2B5EF4-FFF2-40B4-BE49-F238E27FC236}">
                <a16:creationId xmlns:a16="http://schemas.microsoft.com/office/drawing/2014/main" id="{0D9C1B54-21F6-02AB-01F5-31D639F4F191}"/>
              </a:ext>
            </a:extLst>
          </p:cNvPr>
          <p:cNvSpPr txBox="1"/>
          <p:nvPr/>
        </p:nvSpPr>
        <p:spPr>
          <a:xfrm>
            <a:off x="4677630" y="5703585"/>
            <a:ext cx="2836739" cy="615553"/>
          </a:xfrm>
          <a:prstGeom prst="rect">
            <a:avLst/>
          </a:prstGeom>
          <a:noFill/>
          <a:ln w="19050">
            <a:solidFill>
              <a:srgbClr val="39A639"/>
            </a:solidFill>
          </a:ln>
        </p:spPr>
        <p:txBody>
          <a:bodyPr wrap="none" rtlCol="0">
            <a:spAutoFit/>
          </a:bodyPr>
          <a:lstStyle/>
          <a:p>
            <a:pPr algn="ctr"/>
            <a:r>
              <a:rPr lang="en-GB" b="1" dirty="0"/>
              <a:t>PPO-O</a:t>
            </a:r>
          </a:p>
          <a:p>
            <a:pPr algn="ctr"/>
            <a:r>
              <a:rPr lang="en-GB" sz="1600" dirty="0"/>
              <a:t>Optimized Hyperparameters</a:t>
            </a:r>
            <a:endParaRPr lang="LID4096" sz="1600" dirty="0"/>
          </a:p>
        </p:txBody>
      </p:sp>
      <p:sp>
        <p:nvSpPr>
          <p:cNvPr id="7" name="TextBox 6">
            <a:extLst>
              <a:ext uri="{FF2B5EF4-FFF2-40B4-BE49-F238E27FC236}">
                <a16:creationId xmlns:a16="http://schemas.microsoft.com/office/drawing/2014/main" id="{33AF9F95-4315-601B-EA82-1B0DF55F80A5}"/>
              </a:ext>
            </a:extLst>
          </p:cNvPr>
          <p:cNvSpPr txBox="1"/>
          <p:nvPr/>
        </p:nvSpPr>
        <p:spPr>
          <a:xfrm>
            <a:off x="8443421" y="5703584"/>
            <a:ext cx="2377767" cy="615553"/>
          </a:xfrm>
          <a:prstGeom prst="rect">
            <a:avLst/>
          </a:prstGeom>
          <a:noFill/>
          <a:ln w="19050">
            <a:solidFill>
              <a:srgbClr val="FF973C"/>
            </a:solidFill>
          </a:ln>
        </p:spPr>
        <p:txBody>
          <a:bodyPr wrap="none" rtlCol="0">
            <a:spAutoFit/>
          </a:bodyPr>
          <a:lstStyle/>
          <a:p>
            <a:pPr algn="ctr"/>
            <a:r>
              <a:rPr lang="en-GB" b="1" dirty="0"/>
              <a:t>PPO-H</a:t>
            </a:r>
            <a:endParaRPr lang="en-GB" dirty="0"/>
          </a:p>
          <a:p>
            <a:pPr algn="ctr"/>
            <a:r>
              <a:rPr lang="en-GB" sz="1600" dirty="0"/>
              <a:t>Restricted Action Space</a:t>
            </a:r>
            <a:endParaRPr lang="LID4096" sz="1600" dirty="0"/>
          </a:p>
        </p:txBody>
      </p:sp>
      <p:pic>
        <p:nvPicPr>
          <p:cNvPr id="9" name="Picture 8">
            <a:extLst>
              <a:ext uri="{FF2B5EF4-FFF2-40B4-BE49-F238E27FC236}">
                <a16:creationId xmlns:a16="http://schemas.microsoft.com/office/drawing/2014/main" id="{AF2D237D-F3F4-B816-C21E-A9ABF73B7D3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520000" y="346787"/>
            <a:ext cx="6693017" cy="5232513"/>
          </a:xfrm>
          <a:prstGeom prst="rect">
            <a:avLst/>
          </a:prstGeom>
        </p:spPr>
      </p:pic>
    </p:spTree>
    <p:extLst>
      <p:ext uri="{BB962C8B-B14F-4D97-AF65-F5344CB8AC3E}">
        <p14:creationId xmlns:p14="http://schemas.microsoft.com/office/powerpoint/2010/main" val="34862303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594182A-67FC-99DC-2CD7-23D7A29D13AF}"/>
              </a:ext>
            </a:extLst>
          </p:cNvPr>
          <p:cNvSpPr>
            <a:spLocks noGrp="1"/>
          </p:cNvSpPr>
          <p:nvPr>
            <p:ph type="sldNum" sz="quarter" idx="12"/>
          </p:nvPr>
        </p:nvSpPr>
        <p:spPr/>
        <p:txBody>
          <a:bodyPr/>
          <a:lstStyle/>
          <a:p>
            <a:fld id="{D637F8FC-4B86-4690-8888-22AB2F781BEF}" type="slidenum">
              <a:rPr lang="en-US" smtClean="0"/>
              <a:t>12</a:t>
            </a:fld>
            <a:endParaRPr lang="en-US"/>
          </a:p>
        </p:txBody>
      </p:sp>
      <p:sp>
        <p:nvSpPr>
          <p:cNvPr id="5" name="TextBox 4">
            <a:extLst>
              <a:ext uri="{FF2B5EF4-FFF2-40B4-BE49-F238E27FC236}">
                <a16:creationId xmlns:a16="http://schemas.microsoft.com/office/drawing/2014/main" id="{D0E9986A-571D-A2EF-45E7-4BAF43CD7A76}"/>
              </a:ext>
            </a:extLst>
          </p:cNvPr>
          <p:cNvSpPr txBox="1"/>
          <p:nvPr/>
        </p:nvSpPr>
        <p:spPr>
          <a:xfrm>
            <a:off x="1227631" y="5703585"/>
            <a:ext cx="2520947" cy="615553"/>
          </a:xfrm>
          <a:prstGeom prst="rect">
            <a:avLst/>
          </a:prstGeom>
          <a:noFill/>
          <a:ln w="19050">
            <a:solidFill>
              <a:srgbClr val="2178B3"/>
            </a:solidFill>
          </a:ln>
        </p:spPr>
        <p:txBody>
          <a:bodyPr wrap="none" rtlCol="0">
            <a:spAutoFit/>
          </a:bodyPr>
          <a:lstStyle/>
          <a:p>
            <a:pPr algn="ctr"/>
            <a:r>
              <a:rPr lang="en-GB" b="1" dirty="0"/>
              <a:t>PPO-D</a:t>
            </a:r>
          </a:p>
          <a:p>
            <a:pPr algn="ctr"/>
            <a:r>
              <a:rPr lang="en-GB" sz="1600" dirty="0"/>
              <a:t>Default Hyperparameters</a:t>
            </a:r>
            <a:endParaRPr lang="LID4096" sz="1600" dirty="0"/>
          </a:p>
        </p:txBody>
      </p:sp>
      <p:sp>
        <p:nvSpPr>
          <p:cNvPr id="6" name="TextBox 5">
            <a:extLst>
              <a:ext uri="{FF2B5EF4-FFF2-40B4-BE49-F238E27FC236}">
                <a16:creationId xmlns:a16="http://schemas.microsoft.com/office/drawing/2014/main" id="{0D9C1B54-21F6-02AB-01F5-31D639F4F191}"/>
              </a:ext>
            </a:extLst>
          </p:cNvPr>
          <p:cNvSpPr txBox="1"/>
          <p:nvPr/>
        </p:nvSpPr>
        <p:spPr>
          <a:xfrm>
            <a:off x="4677630" y="5703585"/>
            <a:ext cx="2836739" cy="615553"/>
          </a:xfrm>
          <a:prstGeom prst="rect">
            <a:avLst/>
          </a:prstGeom>
          <a:noFill/>
          <a:ln w="19050">
            <a:solidFill>
              <a:srgbClr val="39A639"/>
            </a:solidFill>
          </a:ln>
        </p:spPr>
        <p:txBody>
          <a:bodyPr wrap="none" rtlCol="0">
            <a:spAutoFit/>
          </a:bodyPr>
          <a:lstStyle/>
          <a:p>
            <a:pPr algn="ctr"/>
            <a:r>
              <a:rPr lang="en-GB" b="1" dirty="0"/>
              <a:t>PPO-O</a:t>
            </a:r>
          </a:p>
          <a:p>
            <a:pPr algn="ctr"/>
            <a:r>
              <a:rPr lang="en-GB" sz="1600" dirty="0"/>
              <a:t>Optimized Hyperparameters</a:t>
            </a:r>
            <a:endParaRPr lang="LID4096" sz="1600" dirty="0"/>
          </a:p>
        </p:txBody>
      </p:sp>
      <p:sp>
        <p:nvSpPr>
          <p:cNvPr id="7" name="TextBox 6">
            <a:extLst>
              <a:ext uri="{FF2B5EF4-FFF2-40B4-BE49-F238E27FC236}">
                <a16:creationId xmlns:a16="http://schemas.microsoft.com/office/drawing/2014/main" id="{33AF9F95-4315-601B-EA82-1B0DF55F80A5}"/>
              </a:ext>
            </a:extLst>
          </p:cNvPr>
          <p:cNvSpPr txBox="1"/>
          <p:nvPr/>
        </p:nvSpPr>
        <p:spPr>
          <a:xfrm>
            <a:off x="8443421" y="5703584"/>
            <a:ext cx="2377767" cy="615553"/>
          </a:xfrm>
          <a:prstGeom prst="rect">
            <a:avLst/>
          </a:prstGeom>
          <a:noFill/>
          <a:ln w="19050">
            <a:solidFill>
              <a:srgbClr val="FF973C"/>
            </a:solidFill>
          </a:ln>
        </p:spPr>
        <p:txBody>
          <a:bodyPr wrap="none" rtlCol="0">
            <a:spAutoFit/>
          </a:bodyPr>
          <a:lstStyle/>
          <a:p>
            <a:pPr algn="ctr"/>
            <a:r>
              <a:rPr lang="en-GB" b="1" dirty="0"/>
              <a:t>PPO-H</a:t>
            </a:r>
            <a:endParaRPr lang="en-GB" dirty="0"/>
          </a:p>
          <a:p>
            <a:pPr algn="ctr"/>
            <a:r>
              <a:rPr lang="en-GB" sz="1600" dirty="0"/>
              <a:t>Restricted Action Space</a:t>
            </a:r>
            <a:endParaRPr lang="LID4096" sz="1600" dirty="0"/>
          </a:p>
        </p:txBody>
      </p:sp>
      <p:pic>
        <p:nvPicPr>
          <p:cNvPr id="3" name="Picture 2" descr="A graph of a graph&#10;&#10;Description automatically generated with medium confidence">
            <a:extLst>
              <a:ext uri="{FF2B5EF4-FFF2-40B4-BE49-F238E27FC236}">
                <a16:creationId xmlns:a16="http://schemas.microsoft.com/office/drawing/2014/main" id="{8E7141A3-B60D-EEA0-D296-25108E7DA6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8553" y="760755"/>
            <a:ext cx="5772621" cy="4414357"/>
          </a:xfrm>
          <a:prstGeom prst="rect">
            <a:avLst/>
          </a:prstGeom>
        </p:spPr>
      </p:pic>
      <p:pic>
        <p:nvPicPr>
          <p:cNvPr id="11" name="Picture 10">
            <a:extLst>
              <a:ext uri="{FF2B5EF4-FFF2-40B4-BE49-F238E27FC236}">
                <a16:creationId xmlns:a16="http://schemas.microsoft.com/office/drawing/2014/main" id="{BFCDFAB7-E3D0-3B7F-3D78-F61FFB0A5C0F}"/>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6095999" y="760756"/>
            <a:ext cx="5772621" cy="4414356"/>
          </a:xfrm>
          <a:prstGeom prst="rect">
            <a:avLst/>
          </a:prstGeom>
        </p:spPr>
      </p:pic>
    </p:spTree>
    <p:extLst>
      <p:ext uri="{BB962C8B-B14F-4D97-AF65-F5344CB8AC3E}">
        <p14:creationId xmlns:p14="http://schemas.microsoft.com/office/powerpoint/2010/main" val="36422874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858C7BF-46A4-4CB4-7B98-DEFAF19AA4CD}"/>
              </a:ext>
            </a:extLst>
          </p:cNvPr>
          <p:cNvSpPr>
            <a:spLocks noGrp="1"/>
          </p:cNvSpPr>
          <p:nvPr>
            <p:ph type="sldNum" sz="quarter" idx="12"/>
          </p:nvPr>
        </p:nvSpPr>
        <p:spPr/>
        <p:txBody>
          <a:bodyPr/>
          <a:lstStyle/>
          <a:p>
            <a:fld id="{D637F8FC-4B86-4690-8888-22AB2F781BEF}" type="slidenum">
              <a:rPr lang="en-US" smtClean="0"/>
              <a:t>13</a:t>
            </a:fld>
            <a:endParaRPr lang="en-US"/>
          </a:p>
        </p:txBody>
      </p:sp>
      <p:pic>
        <p:nvPicPr>
          <p:cNvPr id="6" name="Picture 5" descr="A graph showing a loss of a step&#10;&#10;Description automatically generated with medium confidence">
            <a:extLst>
              <a:ext uri="{FF2B5EF4-FFF2-40B4-BE49-F238E27FC236}">
                <a16:creationId xmlns:a16="http://schemas.microsoft.com/office/drawing/2014/main" id="{28E7F3FA-C496-CA87-266A-063644490A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3124" y="0"/>
            <a:ext cx="4559440" cy="3429000"/>
          </a:xfrm>
          <a:prstGeom prst="rect">
            <a:avLst/>
          </a:prstGeom>
        </p:spPr>
      </p:pic>
      <p:pic>
        <p:nvPicPr>
          <p:cNvPr id="10" name="Picture 9">
            <a:extLst>
              <a:ext uri="{FF2B5EF4-FFF2-40B4-BE49-F238E27FC236}">
                <a16:creationId xmlns:a16="http://schemas.microsoft.com/office/drawing/2014/main" id="{5B22FA32-5764-8FD6-12C7-9058E3AE9521}"/>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6710886" y="0"/>
            <a:ext cx="4476541" cy="3429000"/>
          </a:xfrm>
          <a:prstGeom prst="rect">
            <a:avLst/>
          </a:prstGeom>
        </p:spPr>
      </p:pic>
      <p:pic>
        <p:nvPicPr>
          <p:cNvPr id="11" name="Picture 10">
            <a:extLst>
              <a:ext uri="{FF2B5EF4-FFF2-40B4-BE49-F238E27FC236}">
                <a16:creationId xmlns:a16="http://schemas.microsoft.com/office/drawing/2014/main" id="{6418A8F1-DA0A-8599-1241-85EAA2CBB5B9}"/>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023414" y="3429000"/>
            <a:ext cx="4438859" cy="3429000"/>
          </a:xfrm>
          <a:prstGeom prst="rect">
            <a:avLst/>
          </a:prstGeom>
        </p:spPr>
      </p:pic>
      <p:pic>
        <p:nvPicPr>
          <p:cNvPr id="12" name="Picture 11">
            <a:extLst>
              <a:ext uri="{FF2B5EF4-FFF2-40B4-BE49-F238E27FC236}">
                <a16:creationId xmlns:a16="http://schemas.microsoft.com/office/drawing/2014/main" id="{4F37FEE7-AEB9-D215-27EF-0A903F4E5537}"/>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6729727" y="3429000"/>
            <a:ext cx="4438859" cy="3429000"/>
          </a:xfrm>
          <a:prstGeom prst="rect">
            <a:avLst/>
          </a:prstGeom>
        </p:spPr>
      </p:pic>
    </p:spTree>
    <p:extLst>
      <p:ext uri="{BB962C8B-B14F-4D97-AF65-F5344CB8AC3E}">
        <p14:creationId xmlns:p14="http://schemas.microsoft.com/office/powerpoint/2010/main" val="27813448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4752D5-B39C-6670-61E2-450944658E71}"/>
              </a:ext>
            </a:extLst>
          </p:cNvPr>
          <p:cNvSpPr>
            <a:spLocks noGrp="1"/>
          </p:cNvSpPr>
          <p:nvPr>
            <p:ph type="title"/>
          </p:nvPr>
        </p:nvSpPr>
        <p:spPr/>
        <p:txBody>
          <a:bodyPr/>
          <a:lstStyle/>
          <a:p>
            <a:r>
              <a:rPr lang="en-GB" dirty="0"/>
              <a:t>Experiment 2</a:t>
            </a:r>
            <a:endParaRPr lang="LID4096" dirty="0"/>
          </a:p>
        </p:txBody>
      </p:sp>
      <p:sp>
        <p:nvSpPr>
          <p:cNvPr id="3" name="Content Placeholder 2">
            <a:extLst>
              <a:ext uri="{FF2B5EF4-FFF2-40B4-BE49-F238E27FC236}">
                <a16:creationId xmlns:a16="http://schemas.microsoft.com/office/drawing/2014/main" id="{36A7AD93-F5BA-A49F-321B-1375D12AEEF8}"/>
              </a:ext>
            </a:extLst>
          </p:cNvPr>
          <p:cNvSpPr>
            <a:spLocks noGrp="1"/>
          </p:cNvSpPr>
          <p:nvPr>
            <p:ph idx="1"/>
          </p:nvPr>
        </p:nvSpPr>
        <p:spPr/>
        <p:txBody>
          <a:bodyPr/>
          <a:lstStyle/>
          <a:p>
            <a:r>
              <a:rPr lang="en-GB" dirty="0"/>
              <a:t>Measuring Performance</a:t>
            </a:r>
          </a:p>
          <a:p>
            <a:pPr lvl="1"/>
            <a:r>
              <a:rPr lang="en-GB" dirty="0"/>
              <a:t>Head-to-Head</a:t>
            </a:r>
          </a:p>
          <a:p>
            <a:pPr lvl="1"/>
            <a:r>
              <a:rPr lang="en-GB" dirty="0"/>
              <a:t>10,000 Sequences</a:t>
            </a:r>
          </a:p>
          <a:p>
            <a:endParaRPr lang="en-GB" dirty="0"/>
          </a:p>
          <a:p>
            <a:r>
              <a:rPr lang="en-GB" dirty="0"/>
              <a:t>Number of </a:t>
            </a:r>
            <a:r>
              <a:rPr lang="en-GB" dirty="0" err="1"/>
              <a:t>Polycubes</a:t>
            </a:r>
            <a:r>
              <a:rPr lang="en-GB" dirty="0"/>
              <a:t> Packed</a:t>
            </a:r>
          </a:p>
          <a:p>
            <a:endParaRPr lang="en-GB" dirty="0"/>
          </a:p>
          <a:p>
            <a:r>
              <a:rPr lang="en-GB" dirty="0"/>
              <a:t>Time Taken</a:t>
            </a:r>
            <a:endParaRPr lang="LID4096" dirty="0"/>
          </a:p>
        </p:txBody>
      </p:sp>
      <p:sp>
        <p:nvSpPr>
          <p:cNvPr id="4" name="Slide Number Placeholder 3">
            <a:extLst>
              <a:ext uri="{FF2B5EF4-FFF2-40B4-BE49-F238E27FC236}">
                <a16:creationId xmlns:a16="http://schemas.microsoft.com/office/drawing/2014/main" id="{DA543F3F-1AF7-70F6-A023-CF85BF39B3D7}"/>
              </a:ext>
            </a:extLst>
          </p:cNvPr>
          <p:cNvSpPr>
            <a:spLocks noGrp="1"/>
          </p:cNvSpPr>
          <p:nvPr>
            <p:ph type="sldNum" sz="quarter" idx="12"/>
          </p:nvPr>
        </p:nvSpPr>
        <p:spPr/>
        <p:txBody>
          <a:bodyPr/>
          <a:lstStyle/>
          <a:p>
            <a:fld id="{D637F8FC-4B86-4690-8888-22AB2F781BEF}" type="slidenum">
              <a:rPr lang="en-US" smtClean="0"/>
              <a:t>14</a:t>
            </a:fld>
            <a:endParaRPr lang="en-US"/>
          </a:p>
        </p:txBody>
      </p:sp>
    </p:spTree>
    <p:extLst>
      <p:ext uri="{BB962C8B-B14F-4D97-AF65-F5344CB8AC3E}">
        <p14:creationId xmlns:p14="http://schemas.microsoft.com/office/powerpoint/2010/main" val="35446195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466851E-8134-4E7F-18B8-6A57F88B1D8C}"/>
              </a:ext>
            </a:extLst>
          </p:cNvPr>
          <p:cNvSpPr>
            <a:spLocks noGrp="1"/>
          </p:cNvSpPr>
          <p:nvPr>
            <p:ph type="sldNum" sz="quarter" idx="12"/>
          </p:nvPr>
        </p:nvSpPr>
        <p:spPr/>
        <p:txBody>
          <a:bodyPr/>
          <a:lstStyle/>
          <a:p>
            <a:fld id="{D637F8FC-4B86-4690-8888-22AB2F781BEF}" type="slidenum">
              <a:rPr lang="en-US" smtClean="0"/>
              <a:t>15</a:t>
            </a:fld>
            <a:endParaRPr lang="en-US"/>
          </a:p>
        </p:txBody>
      </p:sp>
      <p:pic>
        <p:nvPicPr>
          <p:cNvPr id="6" name="Picture 5" descr="A screenshot of a computer screen&#10;&#10;Description automatically generated">
            <a:extLst>
              <a:ext uri="{FF2B5EF4-FFF2-40B4-BE49-F238E27FC236}">
                <a16:creationId xmlns:a16="http://schemas.microsoft.com/office/drawing/2014/main" id="{68839715-A9D7-5612-1E9A-73B89A801E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06679" y="1750838"/>
            <a:ext cx="8978642" cy="3356324"/>
          </a:xfrm>
          <a:prstGeom prst="rect">
            <a:avLst/>
          </a:prstGeom>
        </p:spPr>
      </p:pic>
    </p:spTree>
    <p:extLst>
      <p:ext uri="{BB962C8B-B14F-4D97-AF65-F5344CB8AC3E}">
        <p14:creationId xmlns:p14="http://schemas.microsoft.com/office/powerpoint/2010/main" val="33597192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C128A37-D79D-DFD9-7BDD-9FD4BB5AA360}"/>
              </a:ext>
            </a:extLst>
          </p:cNvPr>
          <p:cNvSpPr>
            <a:spLocks noGrp="1"/>
          </p:cNvSpPr>
          <p:nvPr>
            <p:ph type="sldNum" sz="quarter" idx="12"/>
          </p:nvPr>
        </p:nvSpPr>
        <p:spPr/>
        <p:txBody>
          <a:bodyPr/>
          <a:lstStyle/>
          <a:p>
            <a:fld id="{D637F8FC-4B86-4690-8888-22AB2F781BEF}" type="slidenum">
              <a:rPr lang="en-US" smtClean="0"/>
              <a:t>16</a:t>
            </a:fld>
            <a:endParaRPr lang="en-US"/>
          </a:p>
        </p:txBody>
      </p:sp>
      <p:pic>
        <p:nvPicPr>
          <p:cNvPr id="6" name="Picture 5" descr="A graph of different colored bars&#10;&#10;Description automatically generated">
            <a:extLst>
              <a:ext uri="{FF2B5EF4-FFF2-40B4-BE49-F238E27FC236}">
                <a16:creationId xmlns:a16="http://schemas.microsoft.com/office/drawing/2014/main" id="{C3EF7639-1D18-27C9-6926-32266CF085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01379" y="630982"/>
            <a:ext cx="7419590" cy="5596035"/>
          </a:xfrm>
          <a:prstGeom prst="rect">
            <a:avLst/>
          </a:prstGeom>
        </p:spPr>
      </p:pic>
    </p:spTree>
    <p:extLst>
      <p:ext uri="{BB962C8B-B14F-4D97-AF65-F5344CB8AC3E}">
        <p14:creationId xmlns:p14="http://schemas.microsoft.com/office/powerpoint/2010/main" val="14146048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AD3D5-927F-F571-B5B3-2D158473505B}"/>
              </a:ext>
            </a:extLst>
          </p:cNvPr>
          <p:cNvSpPr>
            <a:spLocks noGrp="1"/>
          </p:cNvSpPr>
          <p:nvPr>
            <p:ph type="title"/>
          </p:nvPr>
        </p:nvSpPr>
        <p:spPr/>
        <p:txBody>
          <a:bodyPr/>
          <a:lstStyle/>
          <a:p>
            <a:r>
              <a:rPr lang="en-GB" dirty="0"/>
              <a:t>Conclusion</a:t>
            </a:r>
            <a:endParaRPr lang="LID4096" dirty="0"/>
          </a:p>
        </p:txBody>
      </p:sp>
      <p:sp>
        <p:nvSpPr>
          <p:cNvPr id="4" name="Slide Number Placeholder 3">
            <a:extLst>
              <a:ext uri="{FF2B5EF4-FFF2-40B4-BE49-F238E27FC236}">
                <a16:creationId xmlns:a16="http://schemas.microsoft.com/office/drawing/2014/main" id="{5187A973-D19B-ABE5-3E61-69464BE25E32}"/>
              </a:ext>
            </a:extLst>
          </p:cNvPr>
          <p:cNvSpPr>
            <a:spLocks noGrp="1"/>
          </p:cNvSpPr>
          <p:nvPr>
            <p:ph type="sldNum" sz="quarter" idx="12"/>
          </p:nvPr>
        </p:nvSpPr>
        <p:spPr/>
        <p:txBody>
          <a:bodyPr/>
          <a:lstStyle/>
          <a:p>
            <a:fld id="{D637F8FC-4B86-4690-8888-22AB2F781BEF}" type="slidenum">
              <a:rPr lang="en-US" smtClean="0"/>
              <a:t>17</a:t>
            </a:fld>
            <a:endParaRPr lang="en-US"/>
          </a:p>
        </p:txBody>
      </p:sp>
      <p:sp>
        <p:nvSpPr>
          <p:cNvPr id="5" name="Content Placeholder 2">
            <a:extLst>
              <a:ext uri="{FF2B5EF4-FFF2-40B4-BE49-F238E27FC236}">
                <a16:creationId xmlns:a16="http://schemas.microsoft.com/office/drawing/2014/main" id="{16B36E27-8405-2966-A231-D1B419BFE228}"/>
              </a:ext>
            </a:extLst>
          </p:cNvPr>
          <p:cNvSpPr>
            <a:spLocks noGrp="1"/>
          </p:cNvSpPr>
          <p:nvPr>
            <p:ph idx="1"/>
          </p:nvPr>
        </p:nvSpPr>
        <p:spPr>
          <a:xfrm>
            <a:off x="1638300" y="2057400"/>
            <a:ext cx="8915402" cy="4137259"/>
          </a:xfrm>
        </p:spPr>
        <p:txBody>
          <a:bodyPr/>
          <a:lstStyle/>
          <a:p>
            <a:pPr marL="342900" indent="-342900">
              <a:buAutoNum type="arabicPeriod"/>
            </a:pPr>
            <a:r>
              <a:rPr lang="en-GB" dirty="0"/>
              <a:t>Can online polycube packing be solved using deep reinforcement learning?</a:t>
            </a:r>
            <a:endParaRPr lang="en-GB" b="1" dirty="0"/>
          </a:p>
          <a:p>
            <a:pPr marL="342900" indent="-342900">
              <a:buAutoNum type="arabicPeriod"/>
            </a:pPr>
            <a:endParaRPr lang="en-GB" dirty="0"/>
          </a:p>
          <a:p>
            <a:pPr marL="342900" indent="-342900">
              <a:buAutoNum type="arabicPeriod"/>
            </a:pPr>
            <a:r>
              <a:rPr lang="en-GB" dirty="0"/>
              <a:t>How does the performance of deep reinforcement learning compare to traditional heuristics?</a:t>
            </a:r>
            <a:endParaRPr lang="en-GB" b="1" dirty="0"/>
          </a:p>
          <a:p>
            <a:pPr marL="342900" indent="-342900">
              <a:buAutoNum type="arabicPeriod"/>
            </a:pPr>
            <a:endParaRPr lang="en-GB" dirty="0"/>
          </a:p>
          <a:p>
            <a:pPr marL="342900" indent="-342900">
              <a:buAutoNum type="arabicPeriod"/>
            </a:pPr>
            <a:r>
              <a:rPr lang="en-GB" dirty="0"/>
              <a:t>Can the performance of deep reinforcement learning be improved by using heuristics to restrict the action space?</a:t>
            </a:r>
            <a:endParaRPr lang="LID4096" b="1" dirty="0"/>
          </a:p>
        </p:txBody>
      </p:sp>
      <p:sp>
        <p:nvSpPr>
          <p:cNvPr id="7" name="TextBox 6">
            <a:extLst>
              <a:ext uri="{FF2B5EF4-FFF2-40B4-BE49-F238E27FC236}">
                <a16:creationId xmlns:a16="http://schemas.microsoft.com/office/drawing/2014/main" id="{FBF5164B-5BFD-F48C-5A81-F5C5AD97CB43}"/>
              </a:ext>
            </a:extLst>
          </p:cNvPr>
          <p:cNvSpPr txBox="1"/>
          <p:nvPr/>
        </p:nvSpPr>
        <p:spPr>
          <a:xfrm>
            <a:off x="9864000" y="2088000"/>
            <a:ext cx="655372" cy="369332"/>
          </a:xfrm>
          <a:prstGeom prst="rect">
            <a:avLst/>
          </a:prstGeom>
          <a:noFill/>
        </p:spPr>
        <p:txBody>
          <a:bodyPr wrap="none" rtlCol="0">
            <a:spAutoFit/>
          </a:bodyPr>
          <a:lstStyle/>
          <a:p>
            <a:r>
              <a:rPr lang="en-GB" b="1" dirty="0"/>
              <a:t>- Yes</a:t>
            </a:r>
            <a:endParaRPr lang="LID4096" b="1" dirty="0"/>
          </a:p>
        </p:txBody>
      </p:sp>
      <p:sp>
        <p:nvSpPr>
          <p:cNvPr id="8" name="TextBox 7">
            <a:extLst>
              <a:ext uri="{FF2B5EF4-FFF2-40B4-BE49-F238E27FC236}">
                <a16:creationId xmlns:a16="http://schemas.microsoft.com/office/drawing/2014/main" id="{0AE25A9E-5EE9-1664-3307-0AC3951FA277}"/>
              </a:ext>
            </a:extLst>
          </p:cNvPr>
          <p:cNvSpPr txBox="1"/>
          <p:nvPr/>
        </p:nvSpPr>
        <p:spPr>
          <a:xfrm>
            <a:off x="4241260" y="3326860"/>
            <a:ext cx="2706125" cy="369332"/>
          </a:xfrm>
          <a:prstGeom prst="rect">
            <a:avLst/>
          </a:prstGeom>
          <a:noFill/>
        </p:spPr>
        <p:txBody>
          <a:bodyPr wrap="none" rtlCol="0">
            <a:spAutoFit/>
          </a:bodyPr>
          <a:lstStyle/>
          <a:p>
            <a:r>
              <a:rPr lang="en-GB" b="1" dirty="0"/>
              <a:t>- Faster, but not as good</a:t>
            </a:r>
            <a:endParaRPr lang="LID4096" b="1" dirty="0"/>
          </a:p>
        </p:txBody>
      </p:sp>
      <p:sp>
        <p:nvSpPr>
          <p:cNvPr id="9" name="TextBox 8">
            <a:extLst>
              <a:ext uri="{FF2B5EF4-FFF2-40B4-BE49-F238E27FC236}">
                <a16:creationId xmlns:a16="http://schemas.microsoft.com/office/drawing/2014/main" id="{33314928-8B6A-CA7F-05B9-F0CDCE094725}"/>
              </a:ext>
            </a:extLst>
          </p:cNvPr>
          <p:cNvSpPr txBox="1"/>
          <p:nvPr/>
        </p:nvSpPr>
        <p:spPr>
          <a:xfrm>
            <a:off x="5885234" y="4576093"/>
            <a:ext cx="633507" cy="369332"/>
          </a:xfrm>
          <a:prstGeom prst="rect">
            <a:avLst/>
          </a:prstGeom>
          <a:noFill/>
        </p:spPr>
        <p:txBody>
          <a:bodyPr wrap="none" rtlCol="0">
            <a:spAutoFit/>
          </a:bodyPr>
          <a:lstStyle/>
          <a:p>
            <a:r>
              <a:rPr lang="en-GB" b="1" dirty="0"/>
              <a:t>- No</a:t>
            </a:r>
            <a:endParaRPr lang="LID4096" b="1" dirty="0"/>
          </a:p>
        </p:txBody>
      </p:sp>
    </p:spTree>
    <p:extLst>
      <p:ext uri="{BB962C8B-B14F-4D97-AF65-F5344CB8AC3E}">
        <p14:creationId xmlns:p14="http://schemas.microsoft.com/office/powerpoint/2010/main" val="3245779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BEEC3-AE20-FD2A-19BC-1D4C87AEAE5F}"/>
              </a:ext>
            </a:extLst>
          </p:cNvPr>
          <p:cNvSpPr>
            <a:spLocks noGrp="1"/>
          </p:cNvSpPr>
          <p:nvPr>
            <p:ph type="title"/>
          </p:nvPr>
        </p:nvSpPr>
        <p:spPr/>
        <p:txBody>
          <a:bodyPr/>
          <a:lstStyle/>
          <a:p>
            <a:r>
              <a:rPr lang="en-GB" dirty="0"/>
              <a:t>Limitations</a:t>
            </a:r>
            <a:endParaRPr lang="LID4096" dirty="0"/>
          </a:p>
        </p:txBody>
      </p:sp>
      <p:sp>
        <p:nvSpPr>
          <p:cNvPr id="3" name="Content Placeholder 2">
            <a:extLst>
              <a:ext uri="{FF2B5EF4-FFF2-40B4-BE49-F238E27FC236}">
                <a16:creationId xmlns:a16="http://schemas.microsoft.com/office/drawing/2014/main" id="{B95C58AF-C7EB-B161-A96F-E6B667A28C73}"/>
              </a:ext>
            </a:extLst>
          </p:cNvPr>
          <p:cNvSpPr>
            <a:spLocks noGrp="1"/>
          </p:cNvSpPr>
          <p:nvPr>
            <p:ph idx="1"/>
          </p:nvPr>
        </p:nvSpPr>
        <p:spPr/>
        <p:txBody>
          <a:bodyPr/>
          <a:lstStyle/>
          <a:p>
            <a:r>
              <a:rPr lang="en-GB" dirty="0"/>
              <a:t>Computational Cost</a:t>
            </a:r>
          </a:p>
          <a:p>
            <a:endParaRPr lang="en-GB" dirty="0"/>
          </a:p>
          <a:p>
            <a:r>
              <a:rPr lang="en-GB" dirty="0"/>
              <a:t>Larger Container Sizes</a:t>
            </a:r>
          </a:p>
          <a:p>
            <a:endParaRPr lang="en-GB" dirty="0"/>
          </a:p>
          <a:p>
            <a:r>
              <a:rPr lang="en-GB" dirty="0"/>
              <a:t>Hyperparameter Tuning</a:t>
            </a:r>
            <a:endParaRPr lang="LID4096" dirty="0"/>
          </a:p>
        </p:txBody>
      </p:sp>
      <p:sp>
        <p:nvSpPr>
          <p:cNvPr id="4" name="Slide Number Placeholder 3">
            <a:extLst>
              <a:ext uri="{FF2B5EF4-FFF2-40B4-BE49-F238E27FC236}">
                <a16:creationId xmlns:a16="http://schemas.microsoft.com/office/drawing/2014/main" id="{3DDF8BA9-DF1F-C7B1-912A-E3D09741DC36}"/>
              </a:ext>
            </a:extLst>
          </p:cNvPr>
          <p:cNvSpPr>
            <a:spLocks noGrp="1"/>
          </p:cNvSpPr>
          <p:nvPr>
            <p:ph type="sldNum" sz="quarter" idx="12"/>
          </p:nvPr>
        </p:nvSpPr>
        <p:spPr/>
        <p:txBody>
          <a:bodyPr/>
          <a:lstStyle/>
          <a:p>
            <a:fld id="{D637F8FC-4B86-4690-8888-22AB2F781BEF}" type="slidenum">
              <a:rPr lang="en-US" smtClean="0"/>
              <a:t>18</a:t>
            </a:fld>
            <a:endParaRPr lang="en-US"/>
          </a:p>
        </p:txBody>
      </p:sp>
    </p:spTree>
    <p:extLst>
      <p:ext uri="{BB962C8B-B14F-4D97-AF65-F5344CB8AC3E}">
        <p14:creationId xmlns:p14="http://schemas.microsoft.com/office/powerpoint/2010/main" val="28071048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A7D58-5E5C-0589-5F66-93AFBD287C43}"/>
              </a:ext>
            </a:extLst>
          </p:cNvPr>
          <p:cNvSpPr>
            <a:spLocks noGrp="1"/>
          </p:cNvSpPr>
          <p:nvPr>
            <p:ph type="title"/>
          </p:nvPr>
        </p:nvSpPr>
        <p:spPr/>
        <p:txBody>
          <a:bodyPr/>
          <a:lstStyle/>
          <a:p>
            <a:r>
              <a:rPr lang="en-GB" dirty="0"/>
              <a:t>References:</a:t>
            </a:r>
            <a:endParaRPr lang="LID4096" dirty="0"/>
          </a:p>
        </p:txBody>
      </p:sp>
      <p:sp>
        <p:nvSpPr>
          <p:cNvPr id="3" name="Content Placeholder 2">
            <a:extLst>
              <a:ext uri="{FF2B5EF4-FFF2-40B4-BE49-F238E27FC236}">
                <a16:creationId xmlns:a16="http://schemas.microsoft.com/office/drawing/2014/main" id="{A01A307B-9D62-5CD6-FA7A-A5DCE26943FF}"/>
              </a:ext>
            </a:extLst>
          </p:cNvPr>
          <p:cNvSpPr>
            <a:spLocks noGrp="1"/>
          </p:cNvSpPr>
          <p:nvPr>
            <p:ph idx="1"/>
          </p:nvPr>
        </p:nvSpPr>
        <p:spPr/>
        <p:txBody>
          <a:bodyPr/>
          <a:lstStyle/>
          <a:p>
            <a:pPr>
              <a:buFontTx/>
              <a:buChar char="-"/>
            </a:pPr>
            <a:r>
              <a:rPr lang="en-GB" dirty="0"/>
              <a:t>P. </a:t>
            </a:r>
            <a:r>
              <a:rPr lang="en-GB" dirty="0" err="1"/>
              <a:t>Louridas</a:t>
            </a:r>
            <a:r>
              <a:rPr lang="en-GB" dirty="0"/>
              <a:t>, Real-World Algorithms (Title Slide)</a:t>
            </a:r>
          </a:p>
          <a:p>
            <a:pPr>
              <a:buFontTx/>
              <a:buChar char="-"/>
            </a:pPr>
            <a:r>
              <a:rPr lang="en-GB" dirty="0"/>
              <a:t>H. Zhao et al., Online 3D Bin Packing with Constrained Deep Reinforcement Learning (Introduction – Polycube Packing)</a:t>
            </a:r>
          </a:p>
          <a:p>
            <a:pPr>
              <a:buFontTx/>
              <a:buChar char="-"/>
            </a:pPr>
            <a:r>
              <a:rPr lang="en-GB" dirty="0"/>
              <a:t>H. Zhao et al., Learning Physically Realizable Skills for Online Packing of General 3D Shapes (Introduction – Polycube Packing)</a:t>
            </a:r>
          </a:p>
          <a:p>
            <a:pPr>
              <a:buFontTx/>
              <a:buChar char="-"/>
            </a:pPr>
            <a:r>
              <a:rPr lang="en-GB" dirty="0" err="1"/>
              <a:t>Cmglee</a:t>
            </a:r>
            <a:r>
              <a:rPr lang="en-GB" dirty="0"/>
              <a:t>, Wikipedia: Polycube (Introduction – Polycube Packing)</a:t>
            </a:r>
            <a:endParaRPr lang="LID4096" dirty="0"/>
          </a:p>
        </p:txBody>
      </p:sp>
      <p:sp>
        <p:nvSpPr>
          <p:cNvPr id="4" name="Slide Number Placeholder 3">
            <a:extLst>
              <a:ext uri="{FF2B5EF4-FFF2-40B4-BE49-F238E27FC236}">
                <a16:creationId xmlns:a16="http://schemas.microsoft.com/office/drawing/2014/main" id="{BF205892-FADA-F74A-A1A0-35808F36D645}"/>
              </a:ext>
            </a:extLst>
          </p:cNvPr>
          <p:cNvSpPr>
            <a:spLocks noGrp="1"/>
          </p:cNvSpPr>
          <p:nvPr>
            <p:ph type="sldNum" sz="quarter" idx="12"/>
          </p:nvPr>
        </p:nvSpPr>
        <p:spPr/>
        <p:txBody>
          <a:bodyPr/>
          <a:lstStyle/>
          <a:p>
            <a:fld id="{D637F8FC-4B86-4690-8888-22AB2F781BEF}" type="slidenum">
              <a:rPr lang="en-US" smtClean="0"/>
              <a:t>19</a:t>
            </a:fld>
            <a:endParaRPr lang="en-US"/>
          </a:p>
        </p:txBody>
      </p:sp>
    </p:spTree>
    <p:extLst>
      <p:ext uri="{BB962C8B-B14F-4D97-AF65-F5344CB8AC3E}">
        <p14:creationId xmlns:p14="http://schemas.microsoft.com/office/powerpoint/2010/main" val="15915771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CFB7124-993E-4CF3-A0CA-A32DF6CC44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694F4EA-6586-4537-8435-1C89CECA2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79400" cy="6857999"/>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92FB907-6499-798B-E48F-E2621222D75C}"/>
              </a:ext>
            </a:extLst>
          </p:cNvPr>
          <p:cNvSpPr>
            <a:spLocks noGrp="1"/>
          </p:cNvSpPr>
          <p:nvPr>
            <p:ph type="title"/>
          </p:nvPr>
        </p:nvSpPr>
        <p:spPr>
          <a:xfrm>
            <a:off x="1213076" y="1607462"/>
            <a:ext cx="3663724" cy="2016553"/>
          </a:xfrm>
        </p:spPr>
        <p:txBody>
          <a:bodyPr vert="horz" lIns="91440" tIns="45720" rIns="91440" bIns="45720" rtlCol="0" anchor="b">
            <a:normAutofit/>
          </a:bodyPr>
          <a:lstStyle/>
          <a:p>
            <a:r>
              <a:rPr lang="en-US"/>
              <a:t>Appendix</a:t>
            </a:r>
          </a:p>
        </p:txBody>
      </p:sp>
      <p:pic>
        <p:nvPicPr>
          <p:cNvPr id="8" name="Graphic 7" descr="Paperclip">
            <a:extLst>
              <a:ext uri="{FF2B5EF4-FFF2-40B4-BE49-F238E27FC236}">
                <a16:creationId xmlns:a16="http://schemas.microsoft.com/office/drawing/2014/main" id="{6729A48F-6641-FA9D-6F0A-BB05256B456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477000" y="972709"/>
            <a:ext cx="4912581" cy="4912581"/>
          </a:xfrm>
          <a:prstGeom prst="rect">
            <a:avLst/>
          </a:prstGeom>
        </p:spPr>
      </p:pic>
      <p:sp>
        <p:nvSpPr>
          <p:cNvPr id="4" name="Slide Number Placeholder 3">
            <a:extLst>
              <a:ext uri="{FF2B5EF4-FFF2-40B4-BE49-F238E27FC236}">
                <a16:creationId xmlns:a16="http://schemas.microsoft.com/office/drawing/2014/main" id="{CBD08C86-850E-58F4-612D-BAAF288137AB}"/>
              </a:ext>
            </a:extLst>
          </p:cNvPr>
          <p:cNvSpPr>
            <a:spLocks noGrp="1"/>
          </p:cNvSpPr>
          <p:nvPr>
            <p:ph type="sldNum" sz="quarter" idx="12"/>
          </p:nvPr>
        </p:nvSpPr>
        <p:spPr>
          <a:xfrm>
            <a:off x="11228877" y="6319138"/>
            <a:ext cx="710647" cy="365125"/>
          </a:xfrm>
        </p:spPr>
        <p:txBody>
          <a:bodyPr vert="horz" lIns="91440" tIns="45720" rIns="91440" bIns="45720" rtlCol="0" anchor="ctr">
            <a:normAutofit/>
          </a:bodyPr>
          <a:lstStyle/>
          <a:p>
            <a:pPr>
              <a:spcAft>
                <a:spcPts val="600"/>
              </a:spcAft>
            </a:pPr>
            <a:fld id="{D637F8FC-4B86-4690-8888-22AB2F781BEF}" type="slidenum">
              <a:rPr lang="en-US" smtClean="0"/>
              <a:pPr>
                <a:spcAft>
                  <a:spcPts val="600"/>
                </a:spcAft>
              </a:pPr>
              <a:t>20</a:t>
            </a:fld>
            <a:endParaRPr lang="en-US"/>
          </a:p>
        </p:txBody>
      </p:sp>
    </p:spTree>
    <p:extLst>
      <p:ext uri="{BB962C8B-B14F-4D97-AF65-F5344CB8AC3E}">
        <p14:creationId xmlns:p14="http://schemas.microsoft.com/office/powerpoint/2010/main" val="42107048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9527FCEA-6143-4C5E-8C45-8AC9237ADE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50000"/>
              <a:lumOff val="5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1A9F23AD-7A55-49F3-A3EC-743F47F36B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7090"/>
            <a:ext cx="6741849" cy="5897880"/>
          </a:xfrm>
          <a:prstGeom prst="rect">
            <a:avLst/>
          </a:prstGeom>
          <a:solidFill>
            <a:srgbClr val="FFFFFF"/>
          </a:solidFill>
          <a:ln w="19050">
            <a:solidFill>
              <a:schemeClr val="tx1">
                <a:lumMod val="50000"/>
                <a:lumOff val="50000"/>
                <a:alpha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screenshot of a computer screen&#10;&#10;Description automatically generated">
            <a:extLst>
              <a:ext uri="{FF2B5EF4-FFF2-40B4-BE49-F238E27FC236}">
                <a16:creationId xmlns:a16="http://schemas.microsoft.com/office/drawing/2014/main" id="{764B714B-79F1-7BA2-E392-91CB73BC68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1180" y="2234139"/>
            <a:ext cx="6410084" cy="2403782"/>
          </a:xfrm>
          <a:prstGeom prst="rect">
            <a:avLst/>
          </a:prstGeom>
        </p:spPr>
      </p:pic>
      <p:sp>
        <p:nvSpPr>
          <p:cNvPr id="17" name="Rectangle 16">
            <a:extLst>
              <a:ext uri="{FF2B5EF4-FFF2-40B4-BE49-F238E27FC236}">
                <a16:creationId xmlns:a16="http://schemas.microsoft.com/office/drawing/2014/main" id="{D7D9F91F-72C9-4DB9-ABD0-A8180D8262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4655" y="480060"/>
            <a:ext cx="4180332" cy="2788074"/>
          </a:xfrm>
          <a:prstGeom prst="rect">
            <a:avLst/>
          </a:prstGeom>
          <a:solidFill>
            <a:srgbClr val="FFFFFF"/>
          </a:solidFill>
          <a:ln w="19050">
            <a:solidFill>
              <a:schemeClr val="tx1">
                <a:lumMod val="50000"/>
                <a:lumOff val="50000"/>
                <a:alpha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431C3559-C1F0-FF38-030B-35458D2E903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695873" y="1160781"/>
            <a:ext cx="3854945" cy="1441024"/>
          </a:xfrm>
          <a:prstGeom prst="rect">
            <a:avLst/>
          </a:prstGeom>
        </p:spPr>
      </p:pic>
      <p:sp>
        <p:nvSpPr>
          <p:cNvPr id="19" name="Rectangle 18">
            <a:extLst>
              <a:ext uri="{FF2B5EF4-FFF2-40B4-BE49-F238E27FC236}">
                <a16:creationId xmlns:a16="http://schemas.microsoft.com/office/drawing/2014/main" id="{BE016956-CE9F-4946-8834-A8BC3529D0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4655" y="3603670"/>
            <a:ext cx="4180332" cy="2788074"/>
          </a:xfrm>
          <a:prstGeom prst="rect">
            <a:avLst/>
          </a:prstGeom>
          <a:solidFill>
            <a:srgbClr val="FFFFFF"/>
          </a:solidFill>
          <a:ln w="19050">
            <a:solidFill>
              <a:schemeClr val="tx1">
                <a:lumMod val="50000"/>
                <a:lumOff val="50000"/>
                <a:alpha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B2C24B38-89C1-4F47-B17C-B5818B6B87A0}"/>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695873" y="4263497"/>
            <a:ext cx="3854945" cy="1441024"/>
          </a:xfrm>
          <a:prstGeom prst="rect">
            <a:avLst/>
          </a:prstGeom>
        </p:spPr>
      </p:pic>
      <p:sp>
        <p:nvSpPr>
          <p:cNvPr id="4" name="Slide Number Placeholder 3">
            <a:extLst>
              <a:ext uri="{FF2B5EF4-FFF2-40B4-BE49-F238E27FC236}">
                <a16:creationId xmlns:a16="http://schemas.microsoft.com/office/drawing/2014/main" id="{B280E3F9-85F7-EDF0-FC0A-3D3F49D6250D}"/>
              </a:ext>
            </a:extLst>
          </p:cNvPr>
          <p:cNvSpPr>
            <a:spLocks noGrp="1"/>
          </p:cNvSpPr>
          <p:nvPr>
            <p:ph type="sldNum" sz="quarter" idx="12"/>
          </p:nvPr>
        </p:nvSpPr>
        <p:spPr>
          <a:xfrm>
            <a:off x="10717822" y="6435478"/>
            <a:ext cx="635977" cy="365125"/>
          </a:xfrm>
        </p:spPr>
        <p:txBody>
          <a:bodyPr vert="horz" lIns="91440" tIns="45720" rIns="91440" bIns="45720" rtlCol="0" anchor="ctr">
            <a:normAutofit/>
          </a:bodyPr>
          <a:lstStyle/>
          <a:p>
            <a:pPr>
              <a:spcAft>
                <a:spcPts val="600"/>
              </a:spcAft>
            </a:pPr>
            <a:fld id="{D637F8FC-4B86-4690-8888-22AB2F781BEF}" type="slidenum">
              <a:rPr lang="en-US" sz="1200" smtClean="0">
                <a:solidFill>
                  <a:schemeClr val="tx1">
                    <a:tint val="75000"/>
                  </a:schemeClr>
                </a:solidFill>
              </a:rPr>
              <a:pPr>
                <a:spcAft>
                  <a:spcPts val="600"/>
                </a:spcAft>
              </a:pPr>
              <a:t>21</a:t>
            </a:fld>
            <a:endParaRPr lang="en-US" sz="1200">
              <a:solidFill>
                <a:schemeClr val="tx1">
                  <a:tint val="75000"/>
                </a:schemeClr>
              </a:solidFill>
            </a:endParaRPr>
          </a:p>
        </p:txBody>
      </p:sp>
    </p:spTree>
    <p:extLst>
      <p:ext uri="{BB962C8B-B14F-4D97-AF65-F5344CB8AC3E}">
        <p14:creationId xmlns:p14="http://schemas.microsoft.com/office/powerpoint/2010/main" val="30972289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E78657-80D7-8C77-F86C-27B9BC3A7810}"/>
              </a:ext>
            </a:extLst>
          </p:cNvPr>
          <p:cNvSpPr>
            <a:spLocks noGrp="1"/>
          </p:cNvSpPr>
          <p:nvPr>
            <p:ph type="title"/>
          </p:nvPr>
        </p:nvSpPr>
        <p:spPr/>
        <p:txBody>
          <a:bodyPr/>
          <a:lstStyle/>
          <a:p>
            <a:r>
              <a:rPr lang="en-GB" dirty="0"/>
              <a:t>PPO Training Times</a:t>
            </a:r>
            <a:endParaRPr lang="LID4096" dirty="0"/>
          </a:p>
        </p:txBody>
      </p:sp>
      <p:sp>
        <p:nvSpPr>
          <p:cNvPr id="4" name="Slide Number Placeholder 3">
            <a:extLst>
              <a:ext uri="{FF2B5EF4-FFF2-40B4-BE49-F238E27FC236}">
                <a16:creationId xmlns:a16="http://schemas.microsoft.com/office/drawing/2014/main" id="{636E2652-8C89-5D02-4E05-9692536D2BF4}"/>
              </a:ext>
            </a:extLst>
          </p:cNvPr>
          <p:cNvSpPr>
            <a:spLocks noGrp="1"/>
          </p:cNvSpPr>
          <p:nvPr>
            <p:ph type="sldNum" sz="quarter" idx="12"/>
          </p:nvPr>
        </p:nvSpPr>
        <p:spPr/>
        <p:txBody>
          <a:bodyPr/>
          <a:lstStyle/>
          <a:p>
            <a:fld id="{D637F8FC-4B86-4690-8888-22AB2F781BEF}" type="slidenum">
              <a:rPr lang="en-US" smtClean="0"/>
              <a:t>22</a:t>
            </a:fld>
            <a:endParaRPr lang="en-US"/>
          </a:p>
        </p:txBody>
      </p:sp>
      <p:graphicFrame>
        <p:nvGraphicFramePr>
          <p:cNvPr id="7" name="Table 6">
            <a:extLst>
              <a:ext uri="{FF2B5EF4-FFF2-40B4-BE49-F238E27FC236}">
                <a16:creationId xmlns:a16="http://schemas.microsoft.com/office/drawing/2014/main" id="{B84BC9D2-8471-BF72-03DA-7DAA2EE910AF}"/>
              </a:ext>
            </a:extLst>
          </p:cNvPr>
          <p:cNvGraphicFramePr>
            <a:graphicFrameLocks noGrp="1"/>
          </p:cNvGraphicFramePr>
          <p:nvPr>
            <p:extLst>
              <p:ext uri="{D42A27DB-BD31-4B8C-83A1-F6EECF244321}">
                <p14:modId xmlns:p14="http://schemas.microsoft.com/office/powerpoint/2010/main" val="134346458"/>
              </p:ext>
            </p:extLst>
          </p:nvPr>
        </p:nvGraphicFramePr>
        <p:xfrm>
          <a:off x="1835148" y="2732391"/>
          <a:ext cx="8521704" cy="2214125"/>
        </p:xfrm>
        <a:graphic>
          <a:graphicData uri="http://schemas.openxmlformats.org/drawingml/2006/table">
            <a:tbl>
              <a:tblPr firstRow="1" bandRow="1">
                <a:tableStyleId>{0E3FDE45-AF77-4B5C-9715-49D594BDF05E}</a:tableStyleId>
              </a:tblPr>
              <a:tblGrid>
                <a:gridCol w="2130426">
                  <a:extLst>
                    <a:ext uri="{9D8B030D-6E8A-4147-A177-3AD203B41FA5}">
                      <a16:colId xmlns:a16="http://schemas.microsoft.com/office/drawing/2014/main" val="1636549217"/>
                    </a:ext>
                  </a:extLst>
                </a:gridCol>
                <a:gridCol w="2130426">
                  <a:extLst>
                    <a:ext uri="{9D8B030D-6E8A-4147-A177-3AD203B41FA5}">
                      <a16:colId xmlns:a16="http://schemas.microsoft.com/office/drawing/2014/main" val="4178514099"/>
                    </a:ext>
                  </a:extLst>
                </a:gridCol>
                <a:gridCol w="2130426">
                  <a:extLst>
                    <a:ext uri="{9D8B030D-6E8A-4147-A177-3AD203B41FA5}">
                      <a16:colId xmlns:a16="http://schemas.microsoft.com/office/drawing/2014/main" val="1209796241"/>
                    </a:ext>
                  </a:extLst>
                </a:gridCol>
                <a:gridCol w="2130426">
                  <a:extLst>
                    <a:ext uri="{9D8B030D-6E8A-4147-A177-3AD203B41FA5}">
                      <a16:colId xmlns:a16="http://schemas.microsoft.com/office/drawing/2014/main" val="3469598271"/>
                    </a:ext>
                  </a:extLst>
                </a:gridCol>
              </a:tblGrid>
              <a:tr h="442825">
                <a:tc>
                  <a:txBody>
                    <a:bodyPr/>
                    <a:lstStyle/>
                    <a:p>
                      <a:pPr algn="ctr"/>
                      <a:endParaRPr lang="LID4096" dirty="0"/>
                    </a:p>
                  </a:txBody>
                  <a:tcPr/>
                </a:tc>
                <a:tc>
                  <a:txBody>
                    <a:bodyPr/>
                    <a:lstStyle/>
                    <a:p>
                      <a:pPr algn="ctr"/>
                      <a:r>
                        <a:rPr lang="en-GB" dirty="0"/>
                        <a:t>PPO-D</a:t>
                      </a:r>
                      <a:endParaRPr lang="LID4096" dirty="0"/>
                    </a:p>
                  </a:txBody>
                  <a:tcPr/>
                </a:tc>
                <a:tc>
                  <a:txBody>
                    <a:bodyPr/>
                    <a:lstStyle/>
                    <a:p>
                      <a:pPr algn="ctr"/>
                      <a:r>
                        <a:rPr lang="en-GB" dirty="0"/>
                        <a:t>PPO-O</a:t>
                      </a:r>
                      <a:endParaRPr lang="LID4096" dirty="0"/>
                    </a:p>
                  </a:txBody>
                  <a:tcPr/>
                </a:tc>
                <a:tc>
                  <a:txBody>
                    <a:bodyPr/>
                    <a:lstStyle/>
                    <a:p>
                      <a:pPr algn="ctr"/>
                      <a:r>
                        <a:rPr lang="en-GB" dirty="0"/>
                        <a:t>PPO-H</a:t>
                      </a:r>
                      <a:endParaRPr lang="LID4096" dirty="0"/>
                    </a:p>
                  </a:txBody>
                  <a:tcPr/>
                </a:tc>
                <a:extLst>
                  <a:ext uri="{0D108BD9-81ED-4DB2-BD59-A6C34878D82A}">
                    <a16:rowId xmlns:a16="http://schemas.microsoft.com/office/drawing/2014/main" val="1539745100"/>
                  </a:ext>
                </a:extLst>
              </a:tr>
              <a:tr h="442825">
                <a:tc>
                  <a:txBody>
                    <a:bodyPr/>
                    <a:lstStyle/>
                    <a:p>
                      <a:pPr algn="ctr"/>
                      <a:r>
                        <a:rPr lang="en-GB" dirty="0"/>
                        <a:t>3x3x3</a:t>
                      </a:r>
                      <a:endParaRPr lang="LID4096" dirty="0"/>
                    </a:p>
                  </a:txBody>
                  <a:tcPr/>
                </a:tc>
                <a:tc>
                  <a:txBody>
                    <a:bodyPr/>
                    <a:lstStyle/>
                    <a:p>
                      <a:pPr algn="ctr"/>
                      <a:r>
                        <a:rPr lang="en-GB" dirty="0"/>
                        <a:t>1.5 hr</a:t>
                      </a:r>
                      <a:endParaRPr lang="LID4096" dirty="0"/>
                    </a:p>
                  </a:txBody>
                  <a:tcPr/>
                </a:tc>
                <a:tc>
                  <a:txBody>
                    <a:bodyPr/>
                    <a:lstStyle/>
                    <a:p>
                      <a:pPr algn="ctr"/>
                      <a:r>
                        <a:rPr lang="en-GB" dirty="0"/>
                        <a:t>1.5 hr</a:t>
                      </a:r>
                      <a:endParaRPr lang="LID4096" dirty="0"/>
                    </a:p>
                  </a:txBody>
                  <a:tcPr/>
                </a:tc>
                <a:tc>
                  <a:txBody>
                    <a:bodyPr/>
                    <a:lstStyle/>
                    <a:p>
                      <a:pPr algn="ctr"/>
                      <a:r>
                        <a:rPr lang="en-GB" dirty="0"/>
                        <a:t>2 hr</a:t>
                      </a:r>
                      <a:endParaRPr lang="LID4096" dirty="0"/>
                    </a:p>
                  </a:txBody>
                  <a:tcPr/>
                </a:tc>
                <a:extLst>
                  <a:ext uri="{0D108BD9-81ED-4DB2-BD59-A6C34878D82A}">
                    <a16:rowId xmlns:a16="http://schemas.microsoft.com/office/drawing/2014/main" val="858377906"/>
                  </a:ext>
                </a:extLst>
              </a:tr>
              <a:tr h="442825">
                <a:tc>
                  <a:txBody>
                    <a:bodyPr/>
                    <a:lstStyle/>
                    <a:p>
                      <a:pPr algn="ctr"/>
                      <a:r>
                        <a:rPr lang="en-GB" dirty="0"/>
                        <a:t>5x3x3</a:t>
                      </a:r>
                      <a:endParaRPr lang="LID4096" dirty="0"/>
                    </a:p>
                  </a:txBody>
                  <a:tcPr/>
                </a:tc>
                <a:tc>
                  <a:txBody>
                    <a:bodyPr/>
                    <a:lstStyle/>
                    <a:p>
                      <a:pPr algn="ctr"/>
                      <a:r>
                        <a:rPr lang="en-GB" dirty="0"/>
                        <a:t>8.5 hr</a:t>
                      </a:r>
                      <a:endParaRPr lang="LID4096" dirty="0"/>
                    </a:p>
                  </a:txBody>
                  <a:tcPr/>
                </a:tc>
                <a:tc>
                  <a:txBody>
                    <a:bodyPr/>
                    <a:lstStyle/>
                    <a:p>
                      <a:pPr algn="ctr"/>
                      <a:r>
                        <a:rPr lang="en-GB" dirty="0"/>
                        <a:t>6.5 hr</a:t>
                      </a:r>
                      <a:endParaRPr lang="LID4096" dirty="0"/>
                    </a:p>
                  </a:txBody>
                  <a:tcPr/>
                </a:tc>
                <a:tc>
                  <a:txBody>
                    <a:bodyPr/>
                    <a:lstStyle/>
                    <a:p>
                      <a:pPr algn="ctr"/>
                      <a:r>
                        <a:rPr lang="en-GB" dirty="0"/>
                        <a:t>12 hr</a:t>
                      </a:r>
                      <a:endParaRPr lang="LID4096" dirty="0"/>
                    </a:p>
                  </a:txBody>
                  <a:tcPr/>
                </a:tc>
                <a:extLst>
                  <a:ext uri="{0D108BD9-81ED-4DB2-BD59-A6C34878D82A}">
                    <a16:rowId xmlns:a16="http://schemas.microsoft.com/office/drawing/2014/main" val="1089403621"/>
                  </a:ext>
                </a:extLst>
              </a:tr>
              <a:tr h="442825">
                <a:tc>
                  <a:txBody>
                    <a:bodyPr/>
                    <a:lstStyle/>
                    <a:p>
                      <a:pPr algn="ctr"/>
                      <a:r>
                        <a:rPr lang="en-GB" dirty="0"/>
                        <a:t>4x4x4</a:t>
                      </a:r>
                      <a:endParaRPr lang="LID4096" dirty="0"/>
                    </a:p>
                  </a:txBody>
                  <a:tcPr/>
                </a:tc>
                <a:tc>
                  <a:txBody>
                    <a:bodyPr/>
                    <a:lstStyle/>
                    <a:p>
                      <a:pPr algn="ctr"/>
                      <a:r>
                        <a:rPr lang="en-GB" dirty="0"/>
                        <a:t>14 hr</a:t>
                      </a:r>
                      <a:endParaRPr lang="LID4096" dirty="0"/>
                    </a:p>
                  </a:txBody>
                  <a:tcPr/>
                </a:tc>
                <a:tc>
                  <a:txBody>
                    <a:bodyPr/>
                    <a:lstStyle/>
                    <a:p>
                      <a:pPr algn="ctr"/>
                      <a:r>
                        <a:rPr lang="en-GB" dirty="0"/>
                        <a:t>14 hr</a:t>
                      </a:r>
                      <a:endParaRPr lang="LID4096" dirty="0"/>
                    </a:p>
                  </a:txBody>
                  <a:tcPr/>
                </a:tc>
                <a:tc>
                  <a:txBody>
                    <a:bodyPr/>
                    <a:lstStyle/>
                    <a:p>
                      <a:pPr algn="ctr"/>
                      <a:r>
                        <a:rPr lang="en-GB" dirty="0"/>
                        <a:t>20 hr</a:t>
                      </a:r>
                      <a:endParaRPr lang="LID4096" dirty="0"/>
                    </a:p>
                  </a:txBody>
                  <a:tcPr/>
                </a:tc>
                <a:extLst>
                  <a:ext uri="{0D108BD9-81ED-4DB2-BD59-A6C34878D82A}">
                    <a16:rowId xmlns:a16="http://schemas.microsoft.com/office/drawing/2014/main" val="3092153808"/>
                  </a:ext>
                </a:extLst>
              </a:tr>
              <a:tr h="442825">
                <a:tc>
                  <a:txBody>
                    <a:bodyPr/>
                    <a:lstStyle/>
                    <a:p>
                      <a:pPr algn="ctr"/>
                      <a:r>
                        <a:rPr lang="en-GB" dirty="0"/>
                        <a:t>6x4x4</a:t>
                      </a:r>
                      <a:endParaRPr lang="LID4096" dirty="0"/>
                    </a:p>
                  </a:txBody>
                  <a:tcPr/>
                </a:tc>
                <a:tc>
                  <a:txBody>
                    <a:bodyPr/>
                    <a:lstStyle/>
                    <a:p>
                      <a:pPr algn="ctr"/>
                      <a:r>
                        <a:rPr lang="en-GB" dirty="0"/>
                        <a:t>32 hr</a:t>
                      </a:r>
                      <a:endParaRPr lang="LID4096" dirty="0"/>
                    </a:p>
                  </a:txBody>
                  <a:tcPr/>
                </a:tc>
                <a:tc>
                  <a:txBody>
                    <a:bodyPr/>
                    <a:lstStyle/>
                    <a:p>
                      <a:pPr algn="ctr"/>
                      <a:r>
                        <a:rPr lang="en-GB" dirty="0"/>
                        <a:t>32 hr</a:t>
                      </a:r>
                      <a:endParaRPr lang="LID4096" dirty="0"/>
                    </a:p>
                  </a:txBody>
                  <a:tcPr/>
                </a:tc>
                <a:tc>
                  <a:txBody>
                    <a:bodyPr/>
                    <a:lstStyle/>
                    <a:p>
                      <a:pPr algn="ctr"/>
                      <a:r>
                        <a:rPr lang="en-GB" dirty="0"/>
                        <a:t>45 hr</a:t>
                      </a:r>
                      <a:endParaRPr lang="LID4096" dirty="0"/>
                    </a:p>
                  </a:txBody>
                  <a:tcPr/>
                </a:tc>
                <a:extLst>
                  <a:ext uri="{0D108BD9-81ED-4DB2-BD59-A6C34878D82A}">
                    <a16:rowId xmlns:a16="http://schemas.microsoft.com/office/drawing/2014/main" val="914527012"/>
                  </a:ext>
                </a:extLst>
              </a:tr>
            </a:tbl>
          </a:graphicData>
        </a:graphic>
      </p:graphicFrame>
    </p:spTree>
    <p:extLst>
      <p:ext uri="{BB962C8B-B14F-4D97-AF65-F5344CB8AC3E}">
        <p14:creationId xmlns:p14="http://schemas.microsoft.com/office/powerpoint/2010/main" val="15730060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A67147F-FC5D-6570-3F6F-03B6705D9727}"/>
              </a:ext>
            </a:extLst>
          </p:cNvPr>
          <p:cNvSpPr>
            <a:spLocks noGrp="1"/>
          </p:cNvSpPr>
          <p:nvPr>
            <p:ph type="sldNum" sz="quarter" idx="12"/>
          </p:nvPr>
        </p:nvSpPr>
        <p:spPr/>
        <p:txBody>
          <a:bodyPr/>
          <a:lstStyle/>
          <a:p>
            <a:fld id="{D637F8FC-4B86-4690-8888-22AB2F781BEF}" type="slidenum">
              <a:rPr lang="en-US" smtClean="0"/>
              <a:t>23</a:t>
            </a:fld>
            <a:endParaRPr lang="en-US"/>
          </a:p>
        </p:txBody>
      </p:sp>
      <p:pic>
        <p:nvPicPr>
          <p:cNvPr id="8" name="Picture 7" descr="A table with numbers and symbols&#10;&#10;Description automatically generated">
            <a:extLst>
              <a:ext uri="{FF2B5EF4-FFF2-40B4-BE49-F238E27FC236}">
                <a16:creationId xmlns:a16="http://schemas.microsoft.com/office/drawing/2014/main" id="{C161FA7B-02C9-6B69-CF1A-EDF49A8BB7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3123" y="1683180"/>
            <a:ext cx="4606881" cy="3491640"/>
          </a:xfrm>
          <a:prstGeom prst="rect">
            <a:avLst/>
          </a:prstGeom>
        </p:spPr>
      </p:pic>
      <p:pic>
        <p:nvPicPr>
          <p:cNvPr id="9" name="Picture 8">
            <a:extLst>
              <a:ext uri="{FF2B5EF4-FFF2-40B4-BE49-F238E27FC236}">
                <a16:creationId xmlns:a16="http://schemas.microsoft.com/office/drawing/2014/main" id="{4325CCE6-0084-6BB0-8E81-0F98C46A4C5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621996" y="2539623"/>
            <a:ext cx="4606881" cy="1778754"/>
          </a:xfrm>
          <a:prstGeom prst="rect">
            <a:avLst/>
          </a:prstGeom>
        </p:spPr>
      </p:pic>
      <p:sp>
        <p:nvSpPr>
          <p:cNvPr id="10" name="TextBox 9">
            <a:extLst>
              <a:ext uri="{FF2B5EF4-FFF2-40B4-BE49-F238E27FC236}">
                <a16:creationId xmlns:a16="http://schemas.microsoft.com/office/drawing/2014/main" id="{6294E49B-855C-62CA-D01B-C4D3AA172E46}"/>
              </a:ext>
            </a:extLst>
          </p:cNvPr>
          <p:cNvSpPr txBox="1"/>
          <p:nvPr/>
        </p:nvSpPr>
        <p:spPr>
          <a:xfrm>
            <a:off x="1856369" y="5535039"/>
            <a:ext cx="2820387" cy="369332"/>
          </a:xfrm>
          <a:prstGeom prst="rect">
            <a:avLst/>
          </a:prstGeom>
          <a:noFill/>
        </p:spPr>
        <p:txBody>
          <a:bodyPr wrap="none" rtlCol="0">
            <a:spAutoFit/>
          </a:bodyPr>
          <a:lstStyle/>
          <a:p>
            <a:r>
              <a:rPr lang="en-GB" dirty="0"/>
              <a:t>Default Hyperparameters</a:t>
            </a:r>
            <a:endParaRPr lang="LID4096" dirty="0"/>
          </a:p>
        </p:txBody>
      </p:sp>
      <p:sp>
        <p:nvSpPr>
          <p:cNvPr id="11" name="TextBox 10">
            <a:extLst>
              <a:ext uri="{FF2B5EF4-FFF2-40B4-BE49-F238E27FC236}">
                <a16:creationId xmlns:a16="http://schemas.microsoft.com/office/drawing/2014/main" id="{25E3EDB9-E588-AE79-BAB7-81B673E6E8AB}"/>
              </a:ext>
            </a:extLst>
          </p:cNvPr>
          <p:cNvSpPr txBox="1"/>
          <p:nvPr/>
        </p:nvSpPr>
        <p:spPr>
          <a:xfrm>
            <a:off x="7339713" y="5535039"/>
            <a:ext cx="3171446" cy="369332"/>
          </a:xfrm>
          <a:prstGeom prst="rect">
            <a:avLst/>
          </a:prstGeom>
          <a:noFill/>
        </p:spPr>
        <p:txBody>
          <a:bodyPr wrap="none" rtlCol="0">
            <a:spAutoFit/>
          </a:bodyPr>
          <a:lstStyle/>
          <a:p>
            <a:r>
              <a:rPr lang="en-GB" dirty="0"/>
              <a:t>Optimized Hyperparameters</a:t>
            </a:r>
            <a:endParaRPr lang="LID4096" dirty="0"/>
          </a:p>
        </p:txBody>
      </p:sp>
    </p:spTree>
    <p:extLst>
      <p:ext uri="{BB962C8B-B14F-4D97-AF65-F5344CB8AC3E}">
        <p14:creationId xmlns:p14="http://schemas.microsoft.com/office/powerpoint/2010/main" val="36666835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B257A-95E5-87CE-C68B-9986504D76A0}"/>
              </a:ext>
            </a:extLst>
          </p:cNvPr>
          <p:cNvSpPr>
            <a:spLocks noGrp="1"/>
          </p:cNvSpPr>
          <p:nvPr>
            <p:ph type="title"/>
          </p:nvPr>
        </p:nvSpPr>
        <p:spPr/>
        <p:txBody>
          <a:bodyPr/>
          <a:lstStyle/>
          <a:p>
            <a:r>
              <a:rPr lang="en-GB" dirty="0"/>
              <a:t>Heuristics</a:t>
            </a:r>
            <a:endParaRPr lang="LID4096" dirty="0"/>
          </a:p>
        </p:txBody>
      </p:sp>
      <p:sp>
        <p:nvSpPr>
          <p:cNvPr id="4" name="Slide Number Placeholder 3">
            <a:extLst>
              <a:ext uri="{FF2B5EF4-FFF2-40B4-BE49-F238E27FC236}">
                <a16:creationId xmlns:a16="http://schemas.microsoft.com/office/drawing/2014/main" id="{C3E2C921-2A59-85F3-E50D-C57AA9F2595D}"/>
              </a:ext>
            </a:extLst>
          </p:cNvPr>
          <p:cNvSpPr>
            <a:spLocks noGrp="1"/>
          </p:cNvSpPr>
          <p:nvPr>
            <p:ph type="sldNum" sz="quarter" idx="12"/>
          </p:nvPr>
        </p:nvSpPr>
        <p:spPr/>
        <p:txBody>
          <a:bodyPr/>
          <a:lstStyle/>
          <a:p>
            <a:fld id="{D637F8FC-4B86-4690-8888-22AB2F781BEF}" type="slidenum">
              <a:rPr lang="en-US" smtClean="0"/>
              <a:t>24</a:t>
            </a:fld>
            <a:endParaRPr lang="en-US"/>
          </a:p>
        </p:txBody>
      </p:sp>
      <p:pic>
        <p:nvPicPr>
          <p:cNvPr id="6" name="Picture 5">
            <a:extLst>
              <a:ext uri="{FF2B5EF4-FFF2-40B4-BE49-F238E27FC236}">
                <a16:creationId xmlns:a16="http://schemas.microsoft.com/office/drawing/2014/main" id="{9558C7A8-29D9-1E6A-8D3A-B05C1CCBD9F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266630" y="2313853"/>
            <a:ext cx="3658739" cy="2644010"/>
          </a:xfrm>
          <a:prstGeom prst="rect">
            <a:avLst/>
          </a:prstGeom>
        </p:spPr>
      </p:pic>
      <p:pic>
        <p:nvPicPr>
          <p:cNvPr id="7" name="Picture 6" descr="A cube with different colored squares&#10;&#10;Description automatically generated with medium confidence">
            <a:extLst>
              <a:ext uri="{FF2B5EF4-FFF2-40B4-BE49-F238E27FC236}">
                <a16:creationId xmlns:a16="http://schemas.microsoft.com/office/drawing/2014/main" id="{150E1A64-E0CE-AA5E-EB03-D295FEA0B3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2843" y="2313852"/>
            <a:ext cx="3658739" cy="2644011"/>
          </a:xfrm>
          <a:prstGeom prst="rect">
            <a:avLst/>
          </a:prstGeom>
        </p:spPr>
      </p:pic>
      <p:pic>
        <p:nvPicPr>
          <p:cNvPr id="8" name="Picture 7">
            <a:extLst>
              <a:ext uri="{FF2B5EF4-FFF2-40B4-BE49-F238E27FC236}">
                <a16:creationId xmlns:a16="http://schemas.microsoft.com/office/drawing/2014/main" id="{359DBAB6-48A0-4BED-65D9-47D89F88990F}"/>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8200418" y="2313851"/>
            <a:ext cx="3658739" cy="2644010"/>
          </a:xfrm>
          <a:prstGeom prst="rect">
            <a:avLst/>
          </a:prstGeom>
        </p:spPr>
      </p:pic>
      <p:sp>
        <p:nvSpPr>
          <p:cNvPr id="9" name="TextBox 8">
            <a:extLst>
              <a:ext uri="{FF2B5EF4-FFF2-40B4-BE49-F238E27FC236}">
                <a16:creationId xmlns:a16="http://schemas.microsoft.com/office/drawing/2014/main" id="{2765B99A-C455-2661-1FB2-524F2A6C45E7}"/>
              </a:ext>
            </a:extLst>
          </p:cNvPr>
          <p:cNvSpPr txBox="1"/>
          <p:nvPr/>
        </p:nvSpPr>
        <p:spPr>
          <a:xfrm>
            <a:off x="1800574" y="5029649"/>
            <a:ext cx="723275" cy="369332"/>
          </a:xfrm>
          <a:prstGeom prst="rect">
            <a:avLst/>
          </a:prstGeom>
          <a:noFill/>
        </p:spPr>
        <p:txBody>
          <a:bodyPr wrap="none" rtlCol="0">
            <a:spAutoFit/>
          </a:bodyPr>
          <a:lstStyle/>
          <a:p>
            <a:r>
              <a:rPr lang="en-GB" dirty="0"/>
              <a:t>BLBF</a:t>
            </a:r>
            <a:endParaRPr lang="LID4096" dirty="0"/>
          </a:p>
        </p:txBody>
      </p:sp>
      <p:sp>
        <p:nvSpPr>
          <p:cNvPr id="10" name="TextBox 9">
            <a:extLst>
              <a:ext uri="{FF2B5EF4-FFF2-40B4-BE49-F238E27FC236}">
                <a16:creationId xmlns:a16="http://schemas.microsoft.com/office/drawing/2014/main" id="{B731DC72-DE11-1275-4377-2D828580BDB5}"/>
              </a:ext>
            </a:extLst>
          </p:cNvPr>
          <p:cNvSpPr txBox="1"/>
          <p:nvPr/>
        </p:nvSpPr>
        <p:spPr>
          <a:xfrm>
            <a:off x="5706308" y="5029649"/>
            <a:ext cx="779381" cy="369332"/>
          </a:xfrm>
          <a:prstGeom prst="rect">
            <a:avLst/>
          </a:prstGeom>
          <a:noFill/>
        </p:spPr>
        <p:txBody>
          <a:bodyPr wrap="none" rtlCol="0">
            <a:spAutoFit/>
          </a:bodyPr>
          <a:lstStyle/>
          <a:p>
            <a:r>
              <a:rPr lang="en-GB" dirty="0"/>
              <a:t>HAPE</a:t>
            </a:r>
            <a:endParaRPr lang="LID4096" dirty="0"/>
          </a:p>
        </p:txBody>
      </p:sp>
      <p:sp>
        <p:nvSpPr>
          <p:cNvPr id="11" name="TextBox 10">
            <a:extLst>
              <a:ext uri="{FF2B5EF4-FFF2-40B4-BE49-F238E27FC236}">
                <a16:creationId xmlns:a16="http://schemas.microsoft.com/office/drawing/2014/main" id="{4E1E6B21-7E8B-EB9B-1444-75986FBABEF7}"/>
              </a:ext>
            </a:extLst>
          </p:cNvPr>
          <p:cNvSpPr txBox="1"/>
          <p:nvPr/>
        </p:nvSpPr>
        <p:spPr>
          <a:xfrm>
            <a:off x="8653769" y="5029647"/>
            <a:ext cx="2752035" cy="369332"/>
          </a:xfrm>
          <a:prstGeom prst="rect">
            <a:avLst/>
          </a:prstGeom>
          <a:noFill/>
        </p:spPr>
        <p:txBody>
          <a:bodyPr wrap="none" rtlCol="0">
            <a:spAutoFit/>
          </a:bodyPr>
          <a:lstStyle/>
          <a:p>
            <a:r>
              <a:rPr lang="en-GB" dirty="0"/>
              <a:t>Heightmap Minimization</a:t>
            </a:r>
            <a:endParaRPr lang="LID4096" dirty="0"/>
          </a:p>
        </p:txBody>
      </p:sp>
    </p:spTree>
    <p:extLst>
      <p:ext uri="{BB962C8B-B14F-4D97-AF65-F5344CB8AC3E}">
        <p14:creationId xmlns:p14="http://schemas.microsoft.com/office/powerpoint/2010/main" val="26241047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2" name="Picture 11" descr="A graph of a number of people&#10;&#10;Description automatically generated with medium confidence">
            <a:extLst>
              <a:ext uri="{FF2B5EF4-FFF2-40B4-BE49-F238E27FC236}">
                <a16:creationId xmlns:a16="http://schemas.microsoft.com/office/drawing/2014/main" id="{C32AE76C-C9B6-B330-3717-1DFF6EEA0C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90521" y="643467"/>
            <a:ext cx="2601756" cy="2543217"/>
          </a:xfrm>
          <a:prstGeom prst="rect">
            <a:avLst/>
          </a:prstGeom>
        </p:spPr>
      </p:pic>
      <p:cxnSp>
        <p:nvCxnSpPr>
          <p:cNvPr id="17" name="Straight Connector 16">
            <a:extLst>
              <a:ext uri="{FF2B5EF4-FFF2-40B4-BE49-F238E27FC236}">
                <a16:creationId xmlns:a16="http://schemas.microsoft.com/office/drawing/2014/main" id="{91B6081D-D3E8-4209-B85B-EB1C655A627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1214" y="1111170"/>
            <a:ext cx="11040" cy="4645103"/>
          </a:xfrm>
          <a:prstGeom prst="line">
            <a:avLst/>
          </a:prstGeom>
          <a:ln w="19050">
            <a:solidFill>
              <a:srgbClr val="7F7F7F"/>
            </a:solidFill>
          </a:ln>
        </p:spPr>
        <p:style>
          <a:lnRef idx="1">
            <a:schemeClr val="accent1"/>
          </a:lnRef>
          <a:fillRef idx="0">
            <a:schemeClr val="accent1"/>
          </a:fillRef>
          <a:effectRef idx="0">
            <a:schemeClr val="accent1"/>
          </a:effectRef>
          <a:fontRef idx="minor">
            <a:schemeClr val="tx1"/>
          </a:fontRef>
        </p:style>
      </p:cxnSp>
      <p:pic>
        <p:nvPicPr>
          <p:cNvPr id="6" name="Picture 5" descr="A graph of a number of poly cubes&#10;&#10;Description automatically generated">
            <a:extLst>
              <a:ext uri="{FF2B5EF4-FFF2-40B4-BE49-F238E27FC236}">
                <a16:creationId xmlns:a16="http://schemas.microsoft.com/office/drawing/2014/main" id="{ED355C39-1903-A6DA-003E-1DC9BA4D5E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03908" y="643467"/>
            <a:ext cx="2601756" cy="2543217"/>
          </a:xfrm>
          <a:prstGeom prst="rect">
            <a:avLst/>
          </a:prstGeom>
        </p:spPr>
      </p:pic>
      <p:cxnSp>
        <p:nvCxnSpPr>
          <p:cNvPr id="19" name="Straight Connector 18">
            <a:extLst>
              <a:ext uri="{FF2B5EF4-FFF2-40B4-BE49-F238E27FC236}">
                <a16:creationId xmlns:a16="http://schemas.microsoft.com/office/drawing/2014/main" id="{28CA55E4-1295-45C8-BA05-5A9E705B749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03027" y="3428998"/>
            <a:ext cx="4188904" cy="1"/>
          </a:xfrm>
          <a:prstGeom prst="line">
            <a:avLst/>
          </a:prstGeom>
          <a:ln w="19050">
            <a:solidFill>
              <a:srgbClr val="7F7F7F"/>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08C5794E-A9A1-4A23-AF68-C79A7822334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610334" y="3428998"/>
            <a:ext cx="4188904" cy="1"/>
          </a:xfrm>
          <a:prstGeom prst="line">
            <a:avLst/>
          </a:prstGeom>
          <a:ln w="19050">
            <a:solidFill>
              <a:srgbClr val="7F7F7F"/>
            </a:solidFill>
          </a:ln>
        </p:spPr>
        <p:style>
          <a:lnRef idx="1">
            <a:schemeClr val="accent1"/>
          </a:lnRef>
          <a:fillRef idx="0">
            <a:schemeClr val="accent1"/>
          </a:fillRef>
          <a:effectRef idx="0">
            <a:schemeClr val="accent1"/>
          </a:effectRef>
          <a:fontRef idx="minor">
            <a:schemeClr val="tx1"/>
          </a:fontRef>
        </p:style>
      </p:cxnSp>
      <p:pic>
        <p:nvPicPr>
          <p:cNvPr id="8" name="Picture 7" descr="A graph of a number of people&#10;&#10;Description automatically generated with medium confidence">
            <a:extLst>
              <a:ext uri="{FF2B5EF4-FFF2-40B4-BE49-F238E27FC236}">
                <a16:creationId xmlns:a16="http://schemas.microsoft.com/office/drawing/2014/main" id="{700AC89A-90E8-49C0-BFEB-817D6D3B480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89168" y="3671316"/>
            <a:ext cx="2604462" cy="2545862"/>
          </a:xfrm>
          <a:prstGeom prst="rect">
            <a:avLst/>
          </a:prstGeom>
        </p:spPr>
      </p:pic>
      <p:pic>
        <p:nvPicPr>
          <p:cNvPr id="10" name="Picture 9" descr="A graph of a number of poly cubes&#10;&#10;Description automatically generated">
            <a:extLst>
              <a:ext uri="{FF2B5EF4-FFF2-40B4-BE49-F238E27FC236}">
                <a16:creationId xmlns:a16="http://schemas.microsoft.com/office/drawing/2014/main" id="{3FA6EAF1-C316-3E7B-E700-F346E2760A8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411890" y="3671316"/>
            <a:ext cx="2585791" cy="2553469"/>
          </a:xfrm>
          <a:prstGeom prst="rect">
            <a:avLst/>
          </a:prstGeom>
        </p:spPr>
      </p:pic>
      <p:sp>
        <p:nvSpPr>
          <p:cNvPr id="4" name="Slide Number Placeholder 3">
            <a:extLst>
              <a:ext uri="{FF2B5EF4-FFF2-40B4-BE49-F238E27FC236}">
                <a16:creationId xmlns:a16="http://schemas.microsoft.com/office/drawing/2014/main" id="{1D6B231D-FB22-B525-0A85-4383A079D21A}"/>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D637F8FC-4B86-4690-8888-22AB2F781BEF}" type="slidenum">
              <a:rPr lang="en-US" sz="1200" smtClean="0">
                <a:solidFill>
                  <a:schemeClr val="tx1">
                    <a:tint val="75000"/>
                  </a:schemeClr>
                </a:solidFill>
              </a:rPr>
              <a:pPr>
                <a:spcAft>
                  <a:spcPts val="600"/>
                </a:spcAft>
              </a:pPr>
              <a:t>25</a:t>
            </a:fld>
            <a:endParaRPr lang="en-US" sz="1200">
              <a:solidFill>
                <a:schemeClr val="tx1">
                  <a:tint val="75000"/>
                </a:schemeClr>
              </a:solidFill>
            </a:endParaRPr>
          </a:p>
        </p:txBody>
      </p:sp>
    </p:spTree>
    <p:extLst>
      <p:ext uri="{BB962C8B-B14F-4D97-AF65-F5344CB8AC3E}">
        <p14:creationId xmlns:p14="http://schemas.microsoft.com/office/powerpoint/2010/main" val="2814997288"/>
      </p:ext>
    </p:extLst>
  </p:cSld>
  <p:clrMapOvr>
    <a:masterClrMapping/>
  </p:clrMapOvr>
</p:sld>
</file>

<file path=ppt/theme/theme1.xml><?xml version="1.0" encoding="utf-8"?>
<a:theme xmlns:a="http://schemas.openxmlformats.org/drawingml/2006/main" name="EncaseVTI">
  <a:themeElements>
    <a:clrScheme name="AnalogousFromLightSeedLeftStep">
      <a:dk1>
        <a:srgbClr val="000000"/>
      </a:dk1>
      <a:lt1>
        <a:srgbClr val="FFFFFF"/>
      </a:lt1>
      <a:dk2>
        <a:srgbClr val="242E41"/>
      </a:dk2>
      <a:lt2>
        <a:srgbClr val="E2E8E2"/>
      </a:lt2>
      <a:accent1>
        <a:srgbClr val="E374E9"/>
      </a:accent1>
      <a:accent2>
        <a:srgbClr val="A155E4"/>
      </a:accent2>
      <a:accent3>
        <a:srgbClr val="8174E9"/>
      </a:accent3>
      <a:accent4>
        <a:srgbClr val="557FE4"/>
      </a:accent4>
      <a:accent5>
        <a:srgbClr val="36AFDF"/>
      </a:accent5>
      <a:accent6>
        <a:srgbClr val="43B4A5"/>
      </a:accent6>
      <a:hlink>
        <a:srgbClr val="598E56"/>
      </a:hlink>
      <a:folHlink>
        <a:srgbClr val="7F7F7F"/>
      </a:folHlink>
    </a:clrScheme>
    <a:fontScheme name="Avenir">
      <a:majorFont>
        <a:latin typeface="Avenir Next LT Pro"/>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ncaseVTI" id="{C293990F-FDB3-4ED3-8175-FB79CE5A2A12}" vid="{A5662C19-271F-459F-B4ED-861A9823764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854</TotalTime>
  <Words>2127</Words>
  <Application>Microsoft Office PowerPoint</Application>
  <PresentationFormat>Widescreen</PresentationFormat>
  <Paragraphs>209</Paragraphs>
  <Slides>25</Slides>
  <Notes>18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Aptos</vt:lpstr>
      <vt:lpstr>Arial</vt:lpstr>
      <vt:lpstr>Avenir Next LT Pro</vt:lpstr>
      <vt:lpstr>Avenir Next LT Pro Light</vt:lpstr>
      <vt:lpstr>gg sans</vt:lpstr>
      <vt:lpstr>inherit</vt:lpstr>
      <vt:lpstr>Wingdings</vt:lpstr>
      <vt:lpstr>EncaseVTI</vt:lpstr>
      <vt:lpstr>Online Polycube Packing with Deep Reinforcement Learning</vt:lpstr>
      <vt:lpstr>Content</vt:lpstr>
      <vt:lpstr>Introduction – Polycube Packing</vt:lpstr>
      <vt:lpstr>Introduction – Online Packing</vt:lpstr>
      <vt:lpstr>Research Questions</vt:lpstr>
      <vt:lpstr>Methods – Markov Decision Process</vt:lpstr>
      <vt:lpstr>Methods – Deep Reinforcement Learning</vt:lpstr>
      <vt:lpstr>Experiments</vt:lpstr>
      <vt:lpstr>Experiment 1</vt:lpstr>
      <vt:lpstr>PowerPoint Presentation</vt:lpstr>
      <vt:lpstr>PowerPoint Presentation</vt:lpstr>
      <vt:lpstr>PowerPoint Presentation</vt:lpstr>
      <vt:lpstr>PowerPoint Presentation</vt:lpstr>
      <vt:lpstr>Experiment 2</vt:lpstr>
      <vt:lpstr>PowerPoint Presentation</vt:lpstr>
      <vt:lpstr>PowerPoint Presentation</vt:lpstr>
      <vt:lpstr>Conclusion</vt:lpstr>
      <vt:lpstr>Limitations</vt:lpstr>
      <vt:lpstr>References:</vt:lpstr>
      <vt:lpstr>Appendix</vt:lpstr>
      <vt:lpstr>PowerPoint Presentation</vt:lpstr>
      <vt:lpstr>PPO Training Times</vt:lpstr>
      <vt:lpstr>PowerPoint Presentation</vt:lpstr>
      <vt:lpstr>Heuristics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Vroom, Thomas (Stud. DACS)</dc:creator>
  <cp:lastModifiedBy>Vroom, Thomas (Stud. DACS)</cp:lastModifiedBy>
  <cp:revision>26</cp:revision>
  <dcterms:created xsi:type="dcterms:W3CDTF">2024-06-19T10:48:45Z</dcterms:created>
  <dcterms:modified xsi:type="dcterms:W3CDTF">2024-06-23T19:01:50Z</dcterms:modified>
</cp:coreProperties>
</file>