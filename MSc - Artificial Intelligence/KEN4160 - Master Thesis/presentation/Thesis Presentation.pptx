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57" r:id="rId2"/>
    <p:sldId id="264" r:id="rId3"/>
    <p:sldId id="262" r:id="rId4"/>
    <p:sldId id="265" r:id="rId5"/>
    <p:sldId id="268" r:id="rId6"/>
    <p:sldId id="269" r:id="rId7"/>
    <p:sldId id="270" r:id="rId8"/>
    <p:sldId id="295" r:id="rId9"/>
    <p:sldId id="296" r:id="rId10"/>
    <p:sldId id="297" r:id="rId11"/>
    <p:sldId id="277" r:id="rId12"/>
    <p:sldId id="275" r:id="rId13"/>
    <p:sldId id="276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9" r:id="rId30"/>
    <p:sldId id="300" r:id="rId31"/>
    <p:sldId id="303" r:id="rId32"/>
    <p:sldId id="298" r:id="rId33"/>
    <p:sldId id="304" r:id="rId34"/>
    <p:sldId id="307" r:id="rId35"/>
    <p:sldId id="305" r:id="rId36"/>
    <p:sldId id="308" r:id="rId37"/>
    <p:sldId id="306" r:id="rId38"/>
    <p:sldId id="309" r:id="rId39"/>
    <p:sldId id="310" r:id="rId40"/>
    <p:sldId id="311" r:id="rId41"/>
    <p:sldId id="312" r:id="rId42"/>
    <p:sldId id="314" r:id="rId43"/>
    <p:sldId id="315" r:id="rId44"/>
    <p:sldId id="301" r:id="rId45"/>
    <p:sldId id="317" r:id="rId46"/>
    <p:sldId id="316" r:id="rId47"/>
    <p:sldId id="318" r:id="rId48"/>
    <p:sldId id="320" r:id="rId49"/>
    <p:sldId id="321" r:id="rId50"/>
    <p:sldId id="319" r:id="rId51"/>
    <p:sldId id="278" r:id="rId52"/>
    <p:sldId id="279" r:id="rId53"/>
  </p:sldIdLst>
  <p:sldSz cx="12192000" cy="6858000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BDD70-F68C-4F6F-8216-DDBC8FFDB74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E3555-4F3C-455A-8B0D-2D47A8E09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2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23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DCFD2-4044-8A79-334C-D7EAF211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B287B-CC29-3902-054A-E62CA2B33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6DF2B-E4CF-1741-AC41-24BE31383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049F-2B82-C37D-FBC5-180ACF533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18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D1BEA-2A1E-6928-B515-B9F3317B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297ED-2FB6-AB2A-3338-2F4CBE4F9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7AB15-D3DA-0867-9057-6629950F9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07BE8-C96A-F93D-9CA2-CA1D11555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49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52C17-FA56-CB52-1214-CF72FBFF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5BD7D-9447-A58B-FF9A-3E42D089E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02A2B-658C-DC04-373F-D522F803B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A64D8-24C8-28CF-5108-064FD7E61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53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20231-6619-B856-8007-723561E5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024EE-8C8F-0C64-3E6C-556A5F089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F475FA-099A-A4A0-96DC-964E0CE0E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A6BCB-CC75-AD5D-F961-641EC31C2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63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CB77A-D634-E407-A99C-653C1D70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0E952-D888-E751-E8B4-F43CCEFEA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180B6-46B4-31FA-5D96-EC120DA5B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1508D-3FFD-B56B-D7EA-7DBEB1AA6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79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8FD34-5E37-46F8-E62E-35E764E5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91BB9-7A87-7397-5130-4BA9E1C3F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13C9B-E219-F9FD-55D0-99C783CED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123C9-4251-9519-3BF8-361367E23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53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CF91-471A-CEA5-1535-127A5F21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DB6EF-D514-F742-8BDB-95B87FC08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6C733-7C03-91F3-E2E7-46A2E9317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0ED7-9BD1-C82F-A225-9DD8EB2B1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43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614C-59BB-E3E7-7602-38A0FCAE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3C783-0513-BA88-387D-4C3766873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F7CB0-7E51-6317-A5D5-A74DF85E1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B6F7A-BB51-8F3C-DA7D-B4C9A9275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99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A462-45F3-4598-DBD3-FCC8DA137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E5765-37FB-5BF1-A952-F0F43228F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4C823-6D35-695B-9F0D-41F05B944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1C067-4C95-534D-AF6E-76929CE97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12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F6EED-7C78-C190-AF06-01B6E104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8C289-C242-63DB-76DA-E503B3D16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7237F-22E0-22A5-90AF-8E75496AD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AF2FA-8286-3A6D-98AC-CBD260E3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24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C8CE4-3342-EA15-F1A1-DBD15CC0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705A8-6484-7CC8-037E-6C7A7F9F8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4BD5F-BAD0-1384-55AE-59B322F1E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BEF27-4411-E858-EE00-23B643F83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1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F273-C283-9497-0976-F220A93A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4F1BC-D31B-78E1-CEC8-CEF9368BE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23752-95EC-0451-9EE6-C0EA1FCC2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C8FD9-0F83-4143-009A-E80BA587D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38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53A20-754B-9C90-04C2-8C114504A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FD43C-4D8C-37E4-3BF1-3EF49D428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C31AE-FFC5-C07D-833E-110BA1702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6703F-0C96-892A-972B-E3E21D54A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3555-4F3C-455A-8B0D-2D47A8E09C8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01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igh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52784" y="253136"/>
            <a:ext cx="8797789" cy="2205259"/>
          </a:xfrm>
        </p:spPr>
        <p:txBody>
          <a:bodyPr>
            <a:noAutofit/>
          </a:bodyPr>
          <a:lstStyle>
            <a:lvl1pPr>
              <a:defRPr sz="7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752784" y="2439519"/>
            <a:ext cx="5595491" cy="1752600"/>
          </a:xfrm>
        </p:spPr>
        <p:txBody>
          <a:bodyPr/>
          <a:lstStyle>
            <a:lvl1pPr marL="0" indent="0" algn="l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1" name="Afbeelding 10" descr="UM40_RGB_B_blauw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21"/>
          <a:stretch/>
        </p:blipFill>
        <p:spPr>
          <a:xfrm>
            <a:off x="480001" y="6174002"/>
            <a:ext cx="2120851" cy="5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3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+ illustr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52784" y="253136"/>
            <a:ext cx="8797789" cy="2205259"/>
          </a:xfrm>
        </p:spPr>
        <p:txBody>
          <a:bodyPr>
            <a:noAutofit/>
          </a:bodyPr>
          <a:lstStyle>
            <a:lvl1pPr>
              <a:defRPr sz="7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752784" y="2439519"/>
            <a:ext cx="5595491" cy="1752600"/>
          </a:xfrm>
        </p:spPr>
        <p:txBody>
          <a:bodyPr/>
          <a:lstStyle>
            <a:lvl1pPr marL="0" indent="0" algn="l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1" name="Afbeelding 10" descr="UM40_RGB_B_blauw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21"/>
          <a:stretch/>
        </p:blipFill>
        <p:spPr>
          <a:xfrm>
            <a:off x="480001" y="6174002"/>
            <a:ext cx="2120851" cy="509137"/>
          </a:xfrm>
          <a:prstGeom prst="rect">
            <a:avLst/>
          </a:prstGeom>
        </p:spPr>
      </p:pic>
      <p:pic>
        <p:nvPicPr>
          <p:cNvPr id="5" name="Afbeelding 4" descr="Future look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318" y="2513330"/>
            <a:ext cx="4710511" cy="434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photo Randwijc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52784" y="253136"/>
            <a:ext cx="9836193" cy="2205259"/>
          </a:xfrm>
        </p:spPr>
        <p:txBody>
          <a:bodyPr>
            <a:noAutofit/>
          </a:bodyPr>
          <a:lstStyle>
            <a:lvl1pPr>
              <a:defRPr sz="7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752784" y="2439519"/>
            <a:ext cx="5595491" cy="1752600"/>
          </a:xfrm>
        </p:spPr>
        <p:txBody>
          <a:bodyPr/>
          <a:lstStyle>
            <a:lvl1pPr marL="0" indent="0" algn="l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7" name="Afbeelding 6" descr="UM40_RGB_B_diap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21"/>
          <a:stretch/>
        </p:blipFill>
        <p:spPr>
          <a:xfrm>
            <a:off x="480001" y="6174000"/>
            <a:ext cx="2120851" cy="5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8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photo inner city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52785" y="253136"/>
            <a:ext cx="5264193" cy="1846597"/>
          </a:xfrm>
        </p:spPr>
        <p:txBody>
          <a:bodyPr>
            <a:no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752785" y="2270185"/>
            <a:ext cx="5264193" cy="1752600"/>
          </a:xfrm>
        </p:spPr>
        <p:txBody>
          <a:bodyPr/>
          <a:lstStyle>
            <a:lvl1pPr marL="0" indent="0" algn="l">
              <a:buNone/>
              <a:defRPr sz="2133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7" name="Afbeelding 6" descr="UM40_RGB_B_diap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21"/>
          <a:stretch/>
        </p:blipFill>
        <p:spPr>
          <a:xfrm>
            <a:off x="480001" y="6174000"/>
            <a:ext cx="2120851" cy="5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0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ark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 descr="UM40_RGB_B_diap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21"/>
          <a:stretch/>
        </p:blipFill>
        <p:spPr>
          <a:xfrm>
            <a:off x="480001" y="6174000"/>
            <a:ext cx="2120851" cy="509137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ctrTitle"/>
          </p:nvPr>
        </p:nvSpPr>
        <p:spPr>
          <a:xfrm>
            <a:off x="752784" y="253136"/>
            <a:ext cx="8797789" cy="2205259"/>
          </a:xfrm>
        </p:spPr>
        <p:txBody>
          <a:bodyPr>
            <a:noAutofit/>
          </a:bodyPr>
          <a:lstStyle>
            <a:lvl1pPr>
              <a:defRPr sz="7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Subtitel 2"/>
          <p:cNvSpPr>
            <a:spLocks noGrp="1"/>
          </p:cNvSpPr>
          <p:nvPr>
            <p:ph type="subTitle" idx="1"/>
          </p:nvPr>
        </p:nvSpPr>
        <p:spPr>
          <a:xfrm>
            <a:off x="752784" y="2439519"/>
            <a:ext cx="5595491" cy="1752600"/>
          </a:xfrm>
        </p:spPr>
        <p:txBody>
          <a:bodyPr/>
          <a:lstStyle>
            <a:lvl1pPr marL="0" indent="0" algn="l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870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UM40_RGB_B_diap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30"/>
          <a:stretch/>
        </p:blipFill>
        <p:spPr>
          <a:xfrm>
            <a:off x="480001" y="6174000"/>
            <a:ext cx="2104645" cy="509137"/>
          </a:xfrm>
          <a:prstGeom prst="rect">
            <a:avLst/>
          </a:prstGeom>
        </p:spPr>
      </p:pic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752784" y="253136"/>
            <a:ext cx="8797789" cy="2205259"/>
          </a:xfrm>
        </p:spPr>
        <p:txBody>
          <a:bodyPr>
            <a:noAutofit/>
          </a:bodyPr>
          <a:lstStyle>
            <a:lvl1pPr>
              <a:defRPr sz="7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8" name="Subtitel 2"/>
          <p:cNvSpPr>
            <a:spLocks noGrp="1"/>
          </p:cNvSpPr>
          <p:nvPr>
            <p:ph type="subTitle" idx="1"/>
          </p:nvPr>
        </p:nvSpPr>
        <p:spPr>
          <a:xfrm>
            <a:off x="752784" y="2439519"/>
            <a:ext cx="5595491" cy="1752600"/>
          </a:xfrm>
        </p:spPr>
        <p:txBody>
          <a:bodyPr/>
          <a:lstStyle>
            <a:lvl1pPr marL="0" indent="0" algn="l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589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 rotWithShape="1">
          <a:blip r:embed="rId2"/>
          <a:srcRect r="19769"/>
          <a:stretch/>
        </p:blipFill>
        <p:spPr>
          <a:xfrm>
            <a:off x="480001" y="6173621"/>
            <a:ext cx="2137056" cy="50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2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 dark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3F7C9C-C1F9-4778-A51A-A66C6807E92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Afbeelding 9" descr="UM40_RGB_B_diap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35"/>
          <a:stretch/>
        </p:blipFill>
        <p:spPr>
          <a:xfrm>
            <a:off x="480001" y="6174000"/>
            <a:ext cx="2096544" cy="5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 ligh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3F7C9C-C1F9-4778-A51A-A66C6807E92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Afbeelding 9" descr="UM40_RGB_B_blauw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21"/>
          <a:stretch/>
        </p:blipFill>
        <p:spPr>
          <a:xfrm>
            <a:off x="480001" y="6174002"/>
            <a:ext cx="2120851" cy="5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7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/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0002" y="414261"/>
            <a:ext cx="5246167" cy="15658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80002" y="1980156"/>
            <a:ext cx="5246165" cy="3810096"/>
          </a:xfrm>
        </p:spPr>
        <p:txBody>
          <a:bodyPr/>
          <a:lstStyle>
            <a:lvl3pPr marL="954592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126724" y="6318628"/>
            <a:ext cx="73431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6327003" y="6318628"/>
            <a:ext cx="459993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926941" y="6318400"/>
            <a:ext cx="759969" cy="365125"/>
          </a:xfrm>
        </p:spPr>
        <p:txBody>
          <a:bodyPr/>
          <a:lstStyle/>
          <a:p>
            <a:fld id="{D73F7C9C-C1F9-4778-A51A-A66C6807E92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jdelijke aanduiding voor afbeelding 7"/>
          <p:cNvSpPr>
            <a:spLocks noGrp="1"/>
          </p:cNvSpPr>
          <p:nvPr>
            <p:ph type="pic" sz="quarter" idx="13"/>
          </p:nvPr>
        </p:nvSpPr>
        <p:spPr>
          <a:xfrm>
            <a:off x="6126726" y="0"/>
            <a:ext cx="6065276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 rotWithShape="1">
          <a:blip r:embed="rId2"/>
          <a:srcRect r="19769"/>
          <a:stretch/>
        </p:blipFill>
        <p:spPr>
          <a:xfrm>
            <a:off x="480001" y="6173621"/>
            <a:ext cx="2137056" cy="50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1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>
          <a:xfrm>
            <a:off x="4312625" y="6318628"/>
            <a:ext cx="121928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5813290" y="6318400"/>
            <a:ext cx="4989180" cy="365125"/>
          </a:xfrm>
          <a:noFill/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jdelijke aanduiding voor tekst 6">
            <a:extLst>
              <a:ext uri="{FF2B5EF4-FFF2-40B4-BE49-F238E27FC236}">
                <a16:creationId xmlns:a16="http://schemas.microsoft.com/office/drawing/2014/main" id="{65C5AF04-DC40-0847-A150-8AD1FF135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267" y="6249250"/>
            <a:ext cx="2044800" cy="311151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 sz="1067"/>
            </a:lvl1pPr>
            <a:lvl2pPr marL="478355" indent="0">
              <a:buNone/>
              <a:defRPr sz="1067"/>
            </a:lvl2pPr>
            <a:lvl3pPr marL="954592" indent="0">
              <a:buNone/>
              <a:defRPr sz="1067"/>
            </a:lvl3pPr>
            <a:lvl4pPr marL="1432948" indent="0">
              <a:buNone/>
              <a:defRPr sz="1067"/>
            </a:lvl4pPr>
            <a:lvl5pPr marL="1911302" indent="0">
              <a:buNone/>
              <a:defRPr sz="1067"/>
            </a:lvl5pPr>
          </a:lstStyle>
          <a:p>
            <a:pPr lvl="0"/>
            <a:r>
              <a:rPr lang="nl-NL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55338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jdelijke aanduiding voor tabel 6"/>
          <p:cNvSpPr>
            <a:spLocks noGrp="1"/>
          </p:cNvSpPr>
          <p:nvPr>
            <p:ph type="tbl" sz="quarter" idx="13"/>
          </p:nvPr>
        </p:nvSpPr>
        <p:spPr>
          <a:xfrm>
            <a:off x="480486" y="1296001"/>
            <a:ext cx="11101916" cy="4309231"/>
          </a:xfrm>
        </p:spPr>
        <p:txBody>
          <a:bodyPr/>
          <a:lstStyle/>
          <a:p>
            <a:r>
              <a:rPr lang="en-US"/>
              <a:t>Click icon to add table</a:t>
            </a:r>
            <a:endParaRPr lang="nl-NL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 rotWithShape="1">
          <a:blip r:embed="rId2"/>
          <a:srcRect r="19769"/>
          <a:stretch/>
        </p:blipFill>
        <p:spPr>
          <a:xfrm>
            <a:off x="480001" y="6173621"/>
            <a:ext cx="2137056" cy="50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80001" y="414260"/>
            <a:ext cx="11102399" cy="756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80001" y="1296000"/>
            <a:ext cx="11102399" cy="44451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312625" y="6318628"/>
            <a:ext cx="1219287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333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697661" y="6318628"/>
            <a:ext cx="5303544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333">
                <a:solidFill>
                  <a:schemeClr val="tx1"/>
                </a:solidFill>
                <a:latin typeface="+mn-lt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088190" y="6318400"/>
            <a:ext cx="494209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333">
                <a:solidFill>
                  <a:schemeClr val="tx1"/>
                </a:solidFill>
                <a:latin typeface="+mn-lt"/>
                <a:cs typeface="Verdana"/>
              </a:defRPr>
            </a:lvl1pPr>
          </a:lstStyle>
          <a:p>
            <a:fld id="{D73F7C9C-C1F9-4778-A51A-A66C6807E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9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09585" rtl="0" eaLnBrk="1" latinLnBrk="0" hangingPunct="1">
        <a:spcBef>
          <a:spcPct val="0"/>
        </a:spcBef>
        <a:buNone/>
        <a:defRPr sz="4267" b="1" kern="1200">
          <a:solidFill>
            <a:schemeClr val="tx2"/>
          </a:solidFill>
          <a:latin typeface="+mj-lt"/>
          <a:ea typeface="+mj-ea"/>
          <a:cs typeface="Verdana"/>
        </a:defRPr>
      </a:lvl1pPr>
    </p:titleStyle>
    <p:bodyStyle>
      <a:lvl1pPr marL="457189" indent="-457189" algn="l" defTabSz="609585" rtl="0" eaLnBrk="1" latinLnBrk="0" hangingPunct="1">
        <a:spcBef>
          <a:spcPts val="0"/>
        </a:spcBef>
        <a:buFont typeface="Arial"/>
        <a:buChar char="•"/>
        <a:defRPr sz="4267" kern="1200">
          <a:solidFill>
            <a:schemeClr val="tx1"/>
          </a:solidFill>
          <a:latin typeface="+mj-lt"/>
          <a:ea typeface="+mn-ea"/>
          <a:cs typeface="Verdana"/>
        </a:defRPr>
      </a:lvl1pPr>
      <a:lvl2pPr marL="956709" indent="-478355" algn="l" defTabSz="609585" rtl="0" eaLnBrk="1" latinLnBrk="0" hangingPunct="1">
        <a:spcBef>
          <a:spcPts val="0"/>
        </a:spcBef>
        <a:buFont typeface="Lucida Grande"/>
        <a:buChar char="-"/>
        <a:defRPr sz="3733" kern="1200">
          <a:solidFill>
            <a:schemeClr val="tx1"/>
          </a:solidFill>
          <a:latin typeface="+mj-lt"/>
          <a:ea typeface="+mn-ea"/>
          <a:cs typeface="Verdana"/>
        </a:defRPr>
      </a:lvl2pPr>
      <a:lvl3pPr marL="1430831" indent="-476239" algn="l" defTabSz="609585" rtl="0" eaLnBrk="1" latinLnBrk="0" hangingPunct="1">
        <a:spcBef>
          <a:spcPts val="0"/>
        </a:spcBef>
        <a:buFont typeface="Lucida Grande"/>
        <a:buChar char="-"/>
        <a:defRPr sz="3200" kern="1200">
          <a:solidFill>
            <a:schemeClr val="tx1"/>
          </a:solidFill>
          <a:latin typeface="+mj-lt"/>
          <a:ea typeface="+mn-ea"/>
          <a:cs typeface="Verdana"/>
        </a:defRPr>
      </a:lvl3pPr>
      <a:lvl4pPr marL="1907070" indent="-474121" algn="l" defTabSz="609585" rtl="0" eaLnBrk="1" latinLnBrk="0" hangingPunct="1">
        <a:spcBef>
          <a:spcPts val="0"/>
        </a:spcBef>
        <a:buFont typeface="Lucida Grande"/>
        <a:buChar char="-"/>
        <a:defRPr sz="2667" kern="1200">
          <a:solidFill>
            <a:schemeClr val="tx1"/>
          </a:solidFill>
          <a:latin typeface="+mj-lt"/>
          <a:ea typeface="+mn-ea"/>
          <a:cs typeface="Verdana"/>
        </a:defRPr>
      </a:lvl4pPr>
      <a:lvl5pPr marL="2391774" indent="-480472" algn="l" defTabSz="609585" rtl="0" eaLnBrk="1" latinLnBrk="0" hangingPunct="1">
        <a:spcBef>
          <a:spcPts val="0"/>
        </a:spcBef>
        <a:buFont typeface="Lucida Grande"/>
        <a:buChar char="-"/>
        <a:defRPr sz="2667" kern="1200">
          <a:solidFill>
            <a:schemeClr val="tx1"/>
          </a:solidFill>
          <a:latin typeface="+mj-lt"/>
          <a:ea typeface="+mn-ea"/>
          <a:cs typeface="Verdana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7375-B0A5-5A1A-9235-21FD16D109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" sz="4400" dirty="0"/>
              <a:t>Continual Reinforcement Learning for Evolving Games: Learning Across Game Updates in Competitive </a:t>
            </a:r>
            <a:r>
              <a:rPr lang="en-US" sz="4400" dirty="0"/>
              <a:t>Pokémon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09247-238F-9D61-75A2-AC3534399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Thomas Vroom</a:t>
            </a:r>
          </a:p>
        </p:txBody>
      </p:sp>
    </p:spTree>
    <p:extLst>
      <p:ext uri="{BB962C8B-B14F-4D97-AF65-F5344CB8AC3E}">
        <p14:creationId xmlns:p14="http://schemas.microsoft.com/office/powerpoint/2010/main" val="290315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63B4-C779-0A50-434C-9162C45C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B02FB-0E9D-C3AA-34BE-9997EA74B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" sz="3200" dirty="0"/>
              <a:t>Competitive </a:t>
            </a:r>
            <a:r>
              <a:rPr lang="en-US" sz="3200" dirty="0"/>
              <a:t>Pokémon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Preliminary Experiments &amp; Results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Methods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Experiments &amp; Results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76E64-F54F-8483-4494-2A375F96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85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D1DD-2524-DC5E-6018-223C74C84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7" y="2883189"/>
            <a:ext cx="8797789" cy="109162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03401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5C91-467F-0FE6-E372-E222B0DF0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8F00-1474-0105-DAA4-D7041DC1B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Reinforcement Learning (RL) </a:t>
            </a:r>
            <a:r>
              <a:rPr lang="en-US" sz="2800" dirty="0"/>
              <a:t>can achieve superhuman performance in sequential decision-making tasks.</a:t>
            </a:r>
          </a:p>
          <a:p>
            <a:endParaRPr lang="en-US" sz="2800" dirty="0"/>
          </a:p>
          <a:p>
            <a:r>
              <a:rPr lang="en-US" sz="2800" dirty="0"/>
              <a:t>Two phases: </a:t>
            </a:r>
            <a:r>
              <a:rPr lang="en-US" sz="2800" i="1" dirty="0"/>
              <a:t>Training</a:t>
            </a:r>
            <a:r>
              <a:rPr lang="en-US" sz="2800" dirty="0"/>
              <a:t> and </a:t>
            </a:r>
            <a:r>
              <a:rPr lang="en-US" sz="2800" i="1" dirty="0"/>
              <a:t>Deployment </a:t>
            </a:r>
            <a:r>
              <a:rPr lang="en-US" sz="2800" dirty="0"/>
              <a:t>→ </a:t>
            </a:r>
            <a:r>
              <a:rPr lang="en-US" sz="2800" b="1" dirty="0"/>
              <a:t>Stationarity Assumption</a:t>
            </a:r>
          </a:p>
          <a:p>
            <a:pPr lvl="1"/>
            <a:r>
              <a:rPr lang="en-US" sz="2400" dirty="0"/>
              <a:t>Is it realistic? </a:t>
            </a:r>
            <a:r>
              <a:rPr lang="en-US" sz="2400" i="1" dirty="0"/>
              <a:t>Autonomous driving, recommender systems, games…</a:t>
            </a:r>
          </a:p>
          <a:p>
            <a:endParaRPr lang="en-US" sz="2800" dirty="0"/>
          </a:p>
          <a:p>
            <a:r>
              <a:rPr lang="en-US" sz="2800" dirty="0"/>
              <a:t>Modern games are </a:t>
            </a:r>
            <a:r>
              <a:rPr lang="en-US" sz="2800" i="1" dirty="0"/>
              <a:t>live-service:</a:t>
            </a:r>
            <a:r>
              <a:rPr lang="en-US" sz="2800" dirty="0"/>
              <a:t> they receive frequent balance patches, content updates, seasonal events, etc.</a:t>
            </a:r>
          </a:p>
          <a:p>
            <a:pPr lvl="1"/>
            <a:r>
              <a:rPr lang="en-US" sz="2400" i="1" dirty="0"/>
              <a:t>Keep using the same strategy? </a:t>
            </a:r>
            <a:r>
              <a:rPr lang="en-US" sz="2400" dirty="0"/>
              <a:t>→ Unpredictable performance</a:t>
            </a:r>
          </a:p>
          <a:p>
            <a:pPr lvl="1"/>
            <a:r>
              <a:rPr lang="en-US" sz="2400" i="1" dirty="0"/>
              <a:t>Retrain after every update? </a:t>
            </a:r>
            <a:r>
              <a:rPr lang="en-US" sz="2400" dirty="0"/>
              <a:t>→ Expensive training costs</a:t>
            </a:r>
          </a:p>
          <a:p>
            <a:pPr lvl="1"/>
            <a:r>
              <a:rPr lang="en-US" sz="2400" i="1" dirty="0"/>
              <a:t>Transfer knowledge across game versions?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B48E8-845D-04A4-C536-93F30F94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5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D0CB-A3B1-1BAD-797F-22BCC7873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99ED-E1EA-A8EA-C334-91B6C79A2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36B31-FB17-7DD2-DD35-2F976A5A6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Continual (Reinforcement) Learning:</a:t>
            </a:r>
            <a:r>
              <a:rPr lang="en-US" sz="2800" dirty="0"/>
              <a:t> adapt to a sequence of tasks over time without forgetting previously learned knowledge.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i="1" dirty="0"/>
              <a:t>Stability</a:t>
            </a:r>
            <a:r>
              <a:rPr lang="en-US" sz="2800" dirty="0"/>
              <a:t>: preservation of previously acquired knowledge.</a:t>
            </a:r>
            <a:endParaRPr lang="en-US" sz="2800" i="1" dirty="0"/>
          </a:p>
          <a:p>
            <a:r>
              <a:rPr lang="en-US" sz="2800" i="1" dirty="0"/>
              <a:t>Plasticity</a:t>
            </a:r>
            <a:r>
              <a:rPr lang="en-US" sz="2800" dirty="0"/>
              <a:t>: ability to learn new information.</a:t>
            </a:r>
          </a:p>
          <a:p>
            <a:endParaRPr lang="en-US" sz="2800" dirty="0"/>
          </a:p>
          <a:p>
            <a:r>
              <a:rPr lang="en-US" sz="2800" b="1" dirty="0"/>
              <a:t>Catastrophic forgetting: </a:t>
            </a:r>
            <a:r>
              <a:rPr lang="en-US" sz="2800" dirty="0"/>
              <a:t>learning new information degrades performance on previously learned tasks.</a:t>
            </a:r>
          </a:p>
          <a:p>
            <a:r>
              <a:rPr lang="en-US" sz="2800" b="1" dirty="0"/>
              <a:t>Loss of plasticity: </a:t>
            </a:r>
            <a:r>
              <a:rPr lang="en-US" sz="2800" dirty="0"/>
              <a:t>networks gradually lose their ability to adapt to new tasks or changing data over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42610-AE7C-E53D-2E42-FEA136CA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4EE0-1171-54D7-5B19-061CC29B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684-1D4E-1E59-C1CE-51489D8CD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FC461-8C46-AE3A-D46B-27CA07DD1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 investigate whether continual reinforcement learning can facilitate effective knowledge transfer in a non-stationary, competitive game.</a:t>
            </a:r>
          </a:p>
          <a:p>
            <a:endParaRPr lang="en-US" sz="2800" dirty="0"/>
          </a:p>
          <a:p>
            <a:r>
              <a:rPr lang="en-US" sz="2800" dirty="0"/>
              <a:t>Our domain is </a:t>
            </a:r>
            <a:r>
              <a:rPr lang="en-US" sz="2800" i="1" dirty="0"/>
              <a:t>competitive Pokémon</a:t>
            </a:r>
            <a:r>
              <a:rPr lang="en-US" sz="2800" dirty="0"/>
              <a:t>, also known as </a:t>
            </a:r>
            <a:r>
              <a:rPr lang="en-US" sz="2800" b="1" dirty="0"/>
              <a:t>VGC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Legal Pokémon change under seasonal rulesets.</a:t>
            </a:r>
          </a:p>
          <a:p>
            <a:pPr lvl="2"/>
            <a:r>
              <a:rPr lang="en-US" sz="2400" dirty="0"/>
              <a:t>Intuitive example of non-stationarity.</a:t>
            </a:r>
          </a:p>
          <a:p>
            <a:pPr lvl="2"/>
            <a:r>
              <a:rPr lang="en-US" sz="2400" dirty="0"/>
              <a:t>Clear opportunity for knowledge transfer.</a:t>
            </a:r>
          </a:p>
          <a:p>
            <a:pPr lvl="2"/>
            <a:r>
              <a:rPr lang="en-US" sz="2400" dirty="0"/>
              <a:t>Clear task boundaries.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1BACE-2423-91EF-CC1F-3C73ECF7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40935-4D48-D1AA-B9EB-7688220A1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599"/>
          <a:stretch>
            <a:fillRect/>
          </a:stretch>
        </p:blipFill>
        <p:spPr>
          <a:xfrm>
            <a:off x="8423972" y="3215900"/>
            <a:ext cx="3158427" cy="297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0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B79EF-7553-7BA0-C82F-5BA51C24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CC9F-2D1A-6080-B51B-271B7393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8FD7-028D-6BCA-BA07-495B20F08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What effect does non-stationarity have on the performance and generalization of reinforcement learning agents in VGC?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Can continual reinforcement learning methods facilitate effective knowledge transfer across game versions?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How do continual reinforcement learning-based agents compare to fully retrained agents in terms of performance, generalization, and training cost across game updates?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91845-18A4-C7D4-43E4-9D480CA3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79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D547-DC93-6BEA-F475-ACDBA76B6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7FF-E5D9-43CE-57A5-CAAF1A5B0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7" y="2883189"/>
            <a:ext cx="9480714" cy="1091622"/>
          </a:xfrm>
        </p:spPr>
        <p:txBody>
          <a:bodyPr/>
          <a:lstStyle/>
          <a:p>
            <a:r>
              <a:rPr lang="" dirty="0"/>
              <a:t>Competitive </a:t>
            </a:r>
            <a:r>
              <a:rPr lang="en-US" dirty="0"/>
              <a:t>Pokémon</a:t>
            </a:r>
          </a:p>
        </p:txBody>
      </p:sp>
    </p:spTree>
    <p:extLst>
      <p:ext uri="{BB962C8B-B14F-4D97-AF65-F5344CB8AC3E}">
        <p14:creationId xmlns:p14="http://schemas.microsoft.com/office/powerpoint/2010/main" val="1676097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32C2-9EDA-C4CB-1EAE-C27FD5F2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" sz="4400" dirty="0"/>
              <a:t>Competitive </a:t>
            </a:r>
            <a:r>
              <a:rPr lang="en-US" sz="4400" dirty="0"/>
              <a:t>Pokémon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8995A-0091-F540-5FDF-DECD79C756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VGC consists of two phases: </a:t>
                </a:r>
                <a:r>
                  <a:rPr lang="en-US" sz="2800" i="1" u="sng" dirty="0"/>
                  <a:t>team building</a:t>
                </a:r>
                <a:r>
                  <a:rPr lang="en-US" sz="2800" i="1" dirty="0"/>
                  <a:t> </a:t>
                </a:r>
                <a:r>
                  <a:rPr lang="en-US" sz="2800" dirty="0"/>
                  <a:t>and </a:t>
                </a:r>
                <a:r>
                  <a:rPr lang="en-US" sz="2800" i="1" dirty="0"/>
                  <a:t>battling</a:t>
                </a:r>
                <a:r>
                  <a:rPr lang="en-US" sz="2800" dirty="0"/>
                  <a:t>.</a:t>
                </a:r>
              </a:p>
              <a:p>
                <a:pPr marL="0" indent="0">
                  <a:buNone/>
                </a:pPr>
                <a:endParaRPr lang="en-US" sz="2800" i="1" dirty="0"/>
              </a:p>
              <a:p>
                <a:r>
                  <a:rPr lang="en-US" sz="2800" dirty="0"/>
                  <a:t>Players assemble a team of six (distinct) Pokémon, customizing their:</a:t>
                </a:r>
              </a:p>
              <a:p>
                <a:pPr lvl="1"/>
                <a:r>
                  <a:rPr lang="en-US" sz="2400" i="1" dirty="0"/>
                  <a:t>HP, Attack, Special Attack, Defense, Special Defense, Speed</a:t>
                </a:r>
              </a:p>
              <a:p>
                <a:pPr lvl="1"/>
                <a:r>
                  <a:rPr lang="en-US" sz="2400" i="1" dirty="0"/>
                  <a:t>Ability, nature, held item, and up to four (distinct) moves</a:t>
                </a:r>
              </a:p>
              <a:p>
                <a:pPr lvl="1"/>
                <a:endParaRPr lang="en-US" sz="2800" i="1" dirty="0"/>
              </a:p>
              <a:p>
                <a:r>
                  <a:rPr lang="en-US" sz="2800" dirty="0"/>
                  <a:t>Number of possible teams: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139</m:t>
                        </m:r>
                      </m:sup>
                    </m:sSup>
                  </m:oMath>
                </a14:m>
                <a:r>
                  <a:rPr lang="en-US" sz="2800" dirty="0"/>
                  <a:t> (estimated</a:t>
                </a:r>
                <a:r>
                  <a:rPr lang="en-US" sz="2800" baseline="30000" dirty="0"/>
                  <a:t>1</a:t>
                </a:r>
                <a:r>
                  <a:rPr lang="en-US" sz="2800" dirty="0"/>
                  <a:t>)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Most of this is not visible to the opponent → </a:t>
                </a:r>
                <a:r>
                  <a:rPr lang="en-US" sz="2800" b="1" dirty="0"/>
                  <a:t>Partial Observability</a:t>
                </a:r>
              </a:p>
              <a:p>
                <a:r>
                  <a:rPr lang="en-US" sz="2800" dirty="0"/>
                  <a:t>Size of the information set: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58</m:t>
                        </m:r>
                      </m:sup>
                    </m:sSup>
                  </m:oMath>
                </a14:m>
                <a:r>
                  <a:rPr lang="en-US" sz="2800" dirty="0"/>
                  <a:t> (estimated lower-bound</a:t>
                </a:r>
                <a:r>
                  <a:rPr lang="en-US" sz="2800" baseline="30000" dirty="0"/>
                  <a:t>1</a:t>
                </a:r>
                <a:r>
                  <a:rPr lang="en-US" sz="2800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8995A-0091-F540-5FDF-DECD79C756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2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0C8BB-DFE7-002A-8E0C-1B394514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8C221-97B4-2970-F155-184AD343E9E9}"/>
              </a:ext>
            </a:extLst>
          </p:cNvPr>
          <p:cNvSpPr txBox="1"/>
          <p:nvPr/>
        </p:nvSpPr>
        <p:spPr>
          <a:xfrm>
            <a:off x="3005846" y="6264389"/>
            <a:ext cx="7962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" sz="1400" dirty="0">
                <a:solidFill>
                  <a:schemeClr val="accent6"/>
                </a:solidFill>
              </a:rPr>
              <a:t>[1] Angliss et al. "VGC-Bench: Towards Mastering Diverse Team Strategies in Competitive </a:t>
            </a:r>
            <a:r>
              <a:rPr lang="en-US" sz="1400" dirty="0">
                <a:solidFill>
                  <a:schemeClr val="accent6"/>
                </a:solidFill>
              </a:rPr>
              <a:t>Pokémon</a:t>
            </a:r>
            <a:r>
              <a:rPr lang="" sz="1400" dirty="0">
                <a:solidFill>
                  <a:schemeClr val="accent6"/>
                </a:solidFill>
              </a:rPr>
              <a:t>.“ (2025)</a:t>
            </a:r>
            <a:endParaRPr 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059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14088-E924-1A7B-4CEA-6A1BD6B2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D4B5-B5C5-C2FC-50E7-1F7063CE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" sz="4400" dirty="0"/>
              <a:t>Competitive </a:t>
            </a:r>
            <a:r>
              <a:rPr lang="en-US" sz="4400" dirty="0"/>
              <a:t>Pokémon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AD1D1-DD5B-FAC1-FD48-F7AD53BBD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VGC consists of two phases: </a:t>
            </a:r>
            <a:r>
              <a:rPr lang="en-US" sz="2800" i="1" dirty="0"/>
              <a:t>team building </a:t>
            </a:r>
            <a:r>
              <a:rPr lang="en-US" sz="2800" dirty="0"/>
              <a:t>and </a:t>
            </a:r>
            <a:r>
              <a:rPr lang="en-US" sz="2800" i="1" u="sng" dirty="0"/>
              <a:t>battling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A player has two Pokémon active at once (two more to switch in later).</a:t>
            </a:r>
          </a:p>
          <a:p>
            <a:endParaRPr lang="en-US" sz="2800" dirty="0"/>
          </a:p>
          <a:p>
            <a:r>
              <a:rPr lang="en-US" sz="2800" dirty="0"/>
              <a:t>Battles play out in turns, but players make moves simultaneously:</a:t>
            </a:r>
          </a:p>
          <a:p>
            <a:pPr lvl="1"/>
            <a:r>
              <a:rPr lang="en-US" sz="2400" dirty="0"/>
              <a:t>Attack one or both opponent’s Pokémon.</a:t>
            </a:r>
          </a:p>
          <a:p>
            <a:pPr lvl="1"/>
            <a:r>
              <a:rPr lang="en-US" sz="2400" dirty="0"/>
              <a:t>Switch one or both Pokémon out.</a:t>
            </a:r>
          </a:p>
          <a:p>
            <a:pPr lvl="1"/>
            <a:r>
              <a:rPr lang="en-US" sz="2400" dirty="0"/>
              <a:t>Select a utility move.</a:t>
            </a:r>
          </a:p>
          <a:p>
            <a:r>
              <a:rPr lang="en-US" sz="2934" dirty="0"/>
              <a:t>Move outcomes involve a large amount of random chance:</a:t>
            </a:r>
          </a:p>
          <a:p>
            <a:pPr lvl="1"/>
            <a:r>
              <a:rPr lang="en-US" sz="2400" dirty="0"/>
              <a:t>Miss target, secondary effects, status conditions, critical hits, etc.</a:t>
            </a:r>
          </a:p>
          <a:p>
            <a:endParaRPr lang="en-US" sz="2800" dirty="0"/>
          </a:p>
          <a:p>
            <a:r>
              <a:rPr lang="en-US" sz="2800" dirty="0"/>
              <a:t>Objective: knock out all the opponent’s Pokémon (</a:t>
            </a:r>
            <a:r>
              <a:rPr lang="en-US" sz="2800" i="1" dirty="0"/>
              <a:t>two-player zero-sum</a:t>
            </a:r>
            <a:r>
              <a:rPr lang="en-US" sz="28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AAB11-0482-246B-5323-27D27529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27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AB70F-A8F3-AD29-3150-9EF3EE14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9EC7-41F5-8EFE-4A8C-E558CC9E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" sz="4400" dirty="0"/>
              <a:t>Competitive </a:t>
            </a:r>
            <a:r>
              <a:rPr lang="en-US" sz="4400" dirty="0"/>
              <a:t>Pokémon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83015-CA0D-0299-A1B5-D155E18BF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3" y="1296000"/>
            <a:ext cx="5920798" cy="4445149"/>
          </a:xfrm>
        </p:spPr>
        <p:txBody>
          <a:bodyPr/>
          <a:lstStyle/>
          <a:p>
            <a:r>
              <a:rPr lang="en-US" sz="2400" dirty="0"/>
              <a:t>Training RL agents on VGC → </a:t>
            </a:r>
            <a:r>
              <a:rPr lang="en-US" sz="2400" b="1" dirty="0"/>
              <a:t>VGC-Bench</a:t>
            </a:r>
            <a:r>
              <a:rPr lang="en-US" sz="2400" baseline="30000" dirty="0"/>
              <a:t>1</a:t>
            </a:r>
            <a:endParaRPr lang="en-US" sz="2400" b="1" baseline="30000" dirty="0"/>
          </a:p>
          <a:p>
            <a:pPr lvl="1"/>
            <a:r>
              <a:rPr lang="en-US" sz="2000" dirty="0"/>
              <a:t>Multi-agent RL environment for VGC.</a:t>
            </a:r>
          </a:p>
          <a:p>
            <a:pPr lvl="1"/>
            <a:r>
              <a:rPr lang="en-US" sz="2000" dirty="0"/>
              <a:t>Meta-relevant teams for each regulation.</a:t>
            </a:r>
          </a:p>
          <a:p>
            <a:pPr lvl="1"/>
            <a:r>
              <a:rPr lang="en-US" sz="2000" dirty="0"/>
              <a:t>Various baseline agents, incl. </a:t>
            </a:r>
            <a:r>
              <a:rPr lang="en-US" sz="2000" i="1" dirty="0"/>
              <a:t>fine-tuned behavior cloning </a:t>
            </a:r>
            <a:r>
              <a:rPr lang="en-US" sz="2000" dirty="0"/>
              <a:t>and </a:t>
            </a:r>
            <a:r>
              <a:rPr lang="en-US" sz="2000" i="1" dirty="0"/>
              <a:t>self-play RL</a:t>
            </a:r>
            <a:r>
              <a:rPr lang="en-US" sz="2000" dirty="0"/>
              <a:t>.</a:t>
            </a:r>
            <a:endParaRPr lang="en-US" sz="2800" dirty="0"/>
          </a:p>
          <a:p>
            <a:endParaRPr lang="en-US" sz="2400" dirty="0"/>
          </a:p>
          <a:p>
            <a:r>
              <a:rPr lang="en-US" sz="2400" dirty="0"/>
              <a:t>All agents trained using </a:t>
            </a:r>
            <a:r>
              <a:rPr lang="en-US" sz="2400" i="1" dirty="0"/>
              <a:t>Proximal Policy Optimization (PPO)</a:t>
            </a:r>
            <a:r>
              <a:rPr lang="en-US" sz="2400" dirty="0"/>
              <a:t>.</a:t>
            </a:r>
            <a:endParaRPr lang="en-US" sz="2400" i="1" dirty="0"/>
          </a:p>
          <a:p>
            <a:pPr lvl="1"/>
            <a:r>
              <a:rPr lang="en-US" sz="2000" i="1" dirty="0"/>
              <a:t>In-distribution set: </a:t>
            </a:r>
            <a:r>
              <a:rPr lang="en-US" sz="2000" dirty="0"/>
              <a:t>teams seen during training.</a:t>
            </a:r>
          </a:p>
          <a:p>
            <a:pPr lvl="1"/>
            <a:r>
              <a:rPr lang="en-US" sz="2000" i="1" dirty="0"/>
              <a:t>Out-of-distribution set: </a:t>
            </a:r>
            <a:r>
              <a:rPr lang="en-US" sz="2000" dirty="0"/>
              <a:t>teams not seen during training.</a:t>
            </a:r>
          </a:p>
          <a:p>
            <a:endParaRPr lang="en-US" sz="2400" dirty="0"/>
          </a:p>
          <a:p>
            <a:r>
              <a:rPr lang="en-US" sz="2400" dirty="0"/>
              <a:t>Fine-tuned behavior cloning + Less teams seen during training performs best.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3D87E-8783-1877-1E8A-1F9233C9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DE8AD8-2ACA-F367-AAF6-5FD793177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8"/>
          <a:stretch>
            <a:fillRect/>
          </a:stretch>
        </p:blipFill>
        <p:spPr>
          <a:xfrm>
            <a:off x="6400801" y="898498"/>
            <a:ext cx="5693923" cy="52401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22499D-EF35-A1FE-4479-685301AD82B1}"/>
              </a:ext>
            </a:extLst>
          </p:cNvPr>
          <p:cNvSpPr txBox="1"/>
          <p:nvPr/>
        </p:nvSpPr>
        <p:spPr>
          <a:xfrm>
            <a:off x="3005846" y="6264389"/>
            <a:ext cx="7962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" sz="1400" dirty="0">
                <a:solidFill>
                  <a:schemeClr val="accent6"/>
                </a:solidFill>
              </a:rPr>
              <a:t>[1] Angliss et al. "VGC-Bench: Towards Mastering Diverse Team Strategies in Competitive </a:t>
            </a:r>
            <a:r>
              <a:rPr lang="en-US" sz="1400" dirty="0">
                <a:solidFill>
                  <a:schemeClr val="accent6"/>
                </a:solidFill>
              </a:rPr>
              <a:t>Pokémon</a:t>
            </a:r>
            <a:r>
              <a:rPr lang="" sz="1400" dirty="0">
                <a:solidFill>
                  <a:schemeClr val="accent6"/>
                </a:solidFill>
              </a:rPr>
              <a:t>.“ (2025)</a:t>
            </a:r>
            <a:endParaRPr 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331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C2C41-82F1-31D8-CB65-A75D3BF2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22B1-5F62-33AC-70E2-20E52A1D3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7" y="2883189"/>
            <a:ext cx="9480714" cy="1091622"/>
          </a:xfrm>
        </p:spPr>
        <p:txBody>
          <a:bodyPr/>
          <a:lstStyle/>
          <a:p>
            <a:r>
              <a:rPr lang="en-US" dirty="0"/>
              <a:t>Preliminary Experiments</a:t>
            </a:r>
          </a:p>
        </p:txBody>
      </p:sp>
    </p:spTree>
    <p:extLst>
      <p:ext uri="{BB962C8B-B14F-4D97-AF65-F5344CB8AC3E}">
        <p14:creationId xmlns:p14="http://schemas.microsoft.com/office/powerpoint/2010/main" val="3773037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2788-C436-BD6E-375D-FA09EEBC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B57502-8191-7E85-88A9-7ADC183900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Problem formalization:</a:t>
                </a:r>
              </a:p>
              <a:p>
                <a:pPr lvl="1"/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be an agent trained on version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of game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steps.</a:t>
                </a:r>
              </a:p>
              <a:p>
                <a:pPr lvl="1"/>
                <a:r>
                  <a:rPr lang="en-US" sz="2400" dirty="0"/>
                  <a:t>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outperform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/>
                  <a:t> on game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/>
                  <a:t> in at most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additional steps?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r>
                  <a:rPr lang="en-US" sz="2800" dirty="0"/>
                  <a:t>For VGC: Train on regulation </a:t>
                </a:r>
                <a:r>
                  <a:rPr lang="en-US" sz="2800" b="1" dirty="0"/>
                  <a:t>A</a:t>
                </a:r>
                <a:r>
                  <a:rPr lang="en-US" sz="2800" dirty="0"/>
                  <a:t> → </a:t>
                </a:r>
                <a:r>
                  <a:rPr lang="en-US" sz="2800" b="1" dirty="0"/>
                  <a:t>B</a:t>
                </a:r>
                <a:r>
                  <a:rPr lang="en-US" sz="2800" dirty="0"/>
                  <a:t> → </a:t>
                </a:r>
                <a:r>
                  <a:rPr lang="en-US" sz="2800" b="1" dirty="0"/>
                  <a:t>C</a:t>
                </a:r>
                <a:r>
                  <a:rPr lang="en-US" sz="2800" dirty="0"/>
                  <a:t> → …</a:t>
                </a:r>
              </a:p>
              <a:p>
                <a:pPr lvl="1"/>
                <a:r>
                  <a:rPr lang="en-US" sz="2400" i="1" dirty="0"/>
                  <a:t>A1: </a:t>
                </a:r>
                <a:r>
                  <a:rPr lang="en-US" sz="2400" dirty="0"/>
                  <a:t>no regulation is revisited.</a:t>
                </a:r>
              </a:p>
              <a:p>
                <a:pPr lvl="1"/>
                <a:r>
                  <a:rPr lang="en-US" sz="2400" i="1" dirty="0"/>
                  <a:t>A2: </a:t>
                </a:r>
                <a:r>
                  <a:rPr lang="en-US" sz="2400" dirty="0"/>
                  <a:t>domain-incremental learning.</a:t>
                </a:r>
              </a:p>
              <a:p>
                <a:pPr lvl="1"/>
                <a:r>
                  <a:rPr lang="en-US" sz="2400" i="1" dirty="0"/>
                  <a:t>A3:</a:t>
                </a:r>
                <a:r>
                  <a:rPr lang="en-US" sz="2400" dirty="0"/>
                  <a:t> cannot use fine-tuned behavior cloning → </a:t>
                </a:r>
                <a:r>
                  <a:rPr lang="en-US" sz="2400" u="sng" dirty="0"/>
                  <a:t>self-play RL</a:t>
                </a:r>
                <a:endParaRPr lang="en-US" sz="2400" dirty="0"/>
              </a:p>
              <a:p>
                <a:pPr lvl="1"/>
                <a:r>
                  <a:rPr lang="en-US" sz="2400" u="sng" dirty="0"/>
                  <a:t>64 teams</a:t>
                </a:r>
                <a:r>
                  <a:rPr lang="en-US" sz="2400" dirty="0"/>
                  <a:t> seen during training → Highest chance of successful transfer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B57502-8191-7E85-88A9-7ADC183900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12" t="-2332" b="-11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68AB6-E6F0-903D-0C90-9BEF95F2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70B258-B613-07ED-80CF-0E3CA129410E}"/>
                  </a:ext>
                </a:extLst>
              </p:cNvPr>
              <p:cNvSpPr txBox="1"/>
              <p:nvPr/>
            </p:nvSpPr>
            <p:spPr>
              <a:xfrm>
                <a:off x="1511604" y="2721831"/>
                <a:ext cx="9168792" cy="12003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400" b="1" i="1" dirty="0"/>
                  <a:t>Assumption 1: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i="1" dirty="0"/>
                  <a:t> is monotonically increasing.</a:t>
                </a:r>
              </a:p>
              <a:p>
                <a:r>
                  <a:rPr lang="en-US" sz="2400" b="1" i="1" dirty="0"/>
                  <a:t>Assumption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i="1" dirty="0"/>
                  <a:t> shares its action space and reward function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/>
                  <a:t>.</a:t>
                </a:r>
              </a:p>
              <a:p>
                <a:r>
                  <a:rPr lang="en-US" sz="2400" b="1" i="1" dirty="0"/>
                  <a:t>Assumption 3:</a:t>
                </a:r>
                <a:r>
                  <a:rPr lang="en-US" sz="2400" i="1" dirty="0"/>
                  <a:t> No information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i="1" dirty="0"/>
                  <a:t> is available a priori.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70B258-B613-07ED-80CF-0E3CA1294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04" y="2721831"/>
                <a:ext cx="9168792" cy="1200329"/>
              </a:xfrm>
              <a:prstGeom prst="rect">
                <a:avLst/>
              </a:prstGeom>
              <a:blipFill>
                <a:blip r:embed="rId4"/>
                <a:stretch>
                  <a:fillRect l="-928" t="-2985" r="-398" b="-9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11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8748-74C8-4406-AD2A-5A9A2F7E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5F68-B0B3-8039-2476-18109DFA9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Zero-Shot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5CCAE-1A29-0F28-50A7-A048F071F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What effect does non-stationarity have on the performance and generalization of reinforcement learning agents in VGC?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6F87A-3AD5-467C-79EA-6AAA9493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EA6311-52AA-7EA7-6A40-C1B3F9182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814" y="2338428"/>
            <a:ext cx="9674371" cy="3776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3E2BAB-08BA-85C9-29D1-F7D1754400F6}"/>
              </a:ext>
            </a:extLst>
          </p:cNvPr>
          <p:cNvSpPr txBox="1"/>
          <p:nvPr/>
        </p:nvSpPr>
        <p:spPr>
          <a:xfrm>
            <a:off x="4241388" y="6259074"/>
            <a:ext cx="370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(1000 games, 3 seeds, in-distribution)</a:t>
            </a:r>
          </a:p>
        </p:txBody>
      </p:sp>
    </p:spTree>
    <p:extLst>
      <p:ext uri="{BB962C8B-B14F-4D97-AF65-F5344CB8AC3E}">
        <p14:creationId xmlns:p14="http://schemas.microsoft.com/office/powerpoint/2010/main" val="793331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BFED1-1E14-67E3-E35E-3E1A4268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A5A3-BDF0-B5D0-CD67-2F3FFB7F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Zero-Shot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C421B-FB80-E7E3-EEC2-D2199D516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What effect does non-stationarity have on the performance and generalization of reinforcement learning agents in VGC?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FCDB3-4C83-6A8B-5C9D-C35EDDE88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1AEEB-CA9A-D4E8-D5E9-8F771DAE7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0648" y="2338428"/>
            <a:ext cx="7790703" cy="3776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C24962-02F9-2530-37DC-AAE9E5158248}"/>
              </a:ext>
            </a:extLst>
          </p:cNvPr>
          <p:cNvSpPr txBox="1"/>
          <p:nvPr/>
        </p:nvSpPr>
        <p:spPr>
          <a:xfrm>
            <a:off x="4037005" y="6259074"/>
            <a:ext cx="411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(1000 games, 3 seeds, out-of-distribution)</a:t>
            </a:r>
          </a:p>
        </p:txBody>
      </p:sp>
    </p:spTree>
    <p:extLst>
      <p:ext uri="{BB962C8B-B14F-4D97-AF65-F5344CB8AC3E}">
        <p14:creationId xmlns:p14="http://schemas.microsoft.com/office/powerpoint/2010/main" val="2176233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40CDB-ACCD-B0BD-35D5-74E96387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EB28-3044-BAD6-4D55-4FD88931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Zero-Shot Transfer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0A969-F0F4-E507-8133-6C2B473097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An agent trained on regulation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performs </a:t>
                </a:r>
                <a:r>
                  <a:rPr lang="en-US" sz="2400" i="1" dirty="0"/>
                  <a:t>worse</a:t>
                </a:r>
                <a:r>
                  <a:rPr lang="en-US" sz="2400" dirty="0"/>
                  <a:t> in regulation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→ </a:t>
                </a:r>
                <a:r>
                  <a:rPr lang="en-US" sz="2400" b="1" dirty="0"/>
                  <a:t>Binomial Test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&lt;0.5,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Generally speaking, RL agents are capable of zero-shot transfer to future regulations when neither agent has seen the teams before, but not in any other scenario.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0A969-F0F4-E507-8133-6C2B473097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93" t="-219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43AF7-724E-F4E0-6A37-C3BCCA1B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C9C15D-561D-A70C-5F7F-C893E6918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4715" y="2118494"/>
            <a:ext cx="8602569" cy="313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3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B3390-A4F0-6FB4-2B22-E8CEE87B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A86EB-FCF3-6F8F-5FF1-7643DEAA3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Full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56B1-9E31-A853-2D87-1FDE7589C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To what extend are reinforcement learning agents able to maintain performance under non-stationarity without any continual learning methods.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AB2E9-A5CC-AD86-9F83-08C0DB19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B4FCFD-C43B-2121-EF2B-9E679E07C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745" y="2144841"/>
            <a:ext cx="9548509" cy="38849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7B3D4F-15C4-A7C7-4A6B-805E6B76B5D9}"/>
              </a:ext>
            </a:extLst>
          </p:cNvPr>
          <p:cNvSpPr txBox="1"/>
          <p:nvPr/>
        </p:nvSpPr>
        <p:spPr>
          <a:xfrm>
            <a:off x="4963862" y="6318400"/>
            <a:ext cx="2264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(1000 games, 3 seeds)</a:t>
            </a:r>
          </a:p>
        </p:txBody>
      </p:sp>
    </p:spTree>
    <p:extLst>
      <p:ext uri="{BB962C8B-B14F-4D97-AF65-F5344CB8AC3E}">
        <p14:creationId xmlns:p14="http://schemas.microsoft.com/office/powerpoint/2010/main" val="113515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AF39-179E-36C5-0921-18A9324E0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3C6B-A9A5-55C2-E002-B2FF64AD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Full Fine-Tuning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1CAFD6-0B54-A210-AC58-9618628FF7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/>
                  <a:t>To what extend are reinforcement learning agents able to maintain performance under non-stationarity without any continual learning methods.</a:t>
                </a:r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endParaRPr lang="en-GB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An agent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/>
                  <a:t> performs </a:t>
                </a:r>
                <a:r>
                  <a:rPr lang="en-US" sz="2400" i="1" dirty="0"/>
                  <a:t>equal or worse </a:t>
                </a:r>
                <a:r>
                  <a:rPr lang="en-US" sz="2400" dirty="0"/>
                  <a:t>than agent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→ </a:t>
                </a:r>
                <a:r>
                  <a:rPr lang="en-US" sz="2400" b="1" dirty="0"/>
                  <a:t>Binomial Test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0.5, 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In the best case, RL agents are capable of positive transfer short-term.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1CAFD6-0B54-A210-AC58-9618628FF7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2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9CA4A-0E7C-ED41-0F7B-05213187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B23D30-9698-936C-A724-FF1A6B93A6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433" y="3330943"/>
            <a:ext cx="6675133" cy="149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CDC5A-F7AC-7EF8-45CC-C3E3E642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7C4F-39AD-DB34-9388-913877DF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15832-66BA-C4D4-C882-28F0A1BED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Mean pairwise Jensen-Shannon distance between action probabilities: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397A-FB4D-46EE-E429-205533B9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19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CADCC4-9452-0F54-14DB-7062D404B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08" y="2082022"/>
            <a:ext cx="4866310" cy="3479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D6A019-B176-35E7-9CEF-F7C5A7CB9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983" y="2082021"/>
            <a:ext cx="4866311" cy="34799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B0AEA4-F9AE-DFF8-3479-C8D37C06C263}"/>
              </a:ext>
            </a:extLst>
          </p:cNvPr>
          <p:cNvSpPr txBox="1"/>
          <p:nvPr/>
        </p:nvSpPr>
        <p:spPr>
          <a:xfrm>
            <a:off x="1970025" y="5741149"/>
            <a:ext cx="293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C94539-05E6-BB8D-D8A1-3A0BDC1EB624}"/>
              </a:ext>
            </a:extLst>
          </p:cNvPr>
          <p:cNvSpPr txBox="1"/>
          <p:nvPr/>
        </p:nvSpPr>
        <p:spPr>
          <a:xfrm>
            <a:off x="7616398" y="5741149"/>
            <a:ext cx="30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G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</p:spTree>
    <p:extLst>
      <p:ext uri="{BB962C8B-B14F-4D97-AF65-F5344CB8AC3E}">
        <p14:creationId xmlns:p14="http://schemas.microsoft.com/office/powerpoint/2010/main" val="3485757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DF596-C882-6C70-61EC-8DCFD1C19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EC5C7-2CE8-E866-33AE-E53E7C52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5BE29-6EFD-B826-F0EA-ABBCF756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Distributions of action logits (t-SNE):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1A05F-D39C-0A74-ABFE-0B9D0809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D6364D-1E93-752D-CABE-3B1B7D5E7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4961" y="2082022"/>
            <a:ext cx="4069804" cy="3479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076ED5-E585-173D-E5CA-A8076E6EE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7235" y="2082021"/>
            <a:ext cx="4069806" cy="34799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6F0D30-E1B5-0DBC-103C-2A7C50340B42}"/>
              </a:ext>
            </a:extLst>
          </p:cNvPr>
          <p:cNvSpPr txBox="1"/>
          <p:nvPr/>
        </p:nvSpPr>
        <p:spPr>
          <a:xfrm>
            <a:off x="1970025" y="5741149"/>
            <a:ext cx="293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33F0BA-BF6D-7F82-EE02-A358E4FAF9C1}"/>
              </a:ext>
            </a:extLst>
          </p:cNvPr>
          <p:cNvSpPr txBox="1"/>
          <p:nvPr/>
        </p:nvSpPr>
        <p:spPr>
          <a:xfrm>
            <a:off x="7616398" y="5741149"/>
            <a:ext cx="30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G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</p:spTree>
    <p:extLst>
      <p:ext uri="{BB962C8B-B14F-4D97-AF65-F5344CB8AC3E}">
        <p14:creationId xmlns:p14="http://schemas.microsoft.com/office/powerpoint/2010/main" val="3247956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44E4-9027-C82C-D1D8-A9C60DA2E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57AB-D3E5-BC95-925E-DC1C5391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DFA1F-27E6-0618-1587-A5BDDE220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1" y="1296000"/>
            <a:ext cx="11102399" cy="4445149"/>
          </a:xfrm>
        </p:spPr>
        <p:txBody>
          <a:bodyPr/>
          <a:lstStyle/>
          <a:p>
            <a:r>
              <a:rPr lang="en-US" sz="2800" dirty="0"/>
              <a:t>Distributions of action logits (t-SNE), Jensen-Shannon distance (lines):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F41E3-860A-BF17-786C-3C9C957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B78F44-9292-7C70-35C1-CFBAA1A5B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3600" y="2020313"/>
            <a:ext cx="4484358" cy="36033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2C537C-10D4-6E6B-6DEB-837744AF9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936" y="2020313"/>
            <a:ext cx="4484358" cy="36033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185B12-B2D7-7A37-2929-F2F0550FE6E7}"/>
              </a:ext>
            </a:extLst>
          </p:cNvPr>
          <p:cNvSpPr txBox="1"/>
          <p:nvPr/>
        </p:nvSpPr>
        <p:spPr>
          <a:xfrm>
            <a:off x="1970025" y="5741149"/>
            <a:ext cx="293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58A85-B81E-6195-73FC-F2B39E7F58ED}"/>
              </a:ext>
            </a:extLst>
          </p:cNvPr>
          <p:cNvSpPr txBox="1"/>
          <p:nvPr/>
        </p:nvSpPr>
        <p:spPr>
          <a:xfrm>
            <a:off x="7616398" y="5741149"/>
            <a:ext cx="30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G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</p:spTree>
    <p:extLst>
      <p:ext uri="{BB962C8B-B14F-4D97-AF65-F5344CB8AC3E}">
        <p14:creationId xmlns:p14="http://schemas.microsoft.com/office/powerpoint/2010/main" val="4041931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06C0D-4B8D-96EF-FED5-F9ECD03A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9F10-3F92-AF36-6F0F-CD693670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A3F1B-7B2B-87E7-7AE4-86D762E40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1" y="1296000"/>
            <a:ext cx="11102399" cy="4445149"/>
          </a:xfrm>
        </p:spPr>
        <p:txBody>
          <a:bodyPr/>
          <a:lstStyle/>
          <a:p>
            <a:r>
              <a:rPr lang="en-US" sz="2800" dirty="0"/>
              <a:t>Mean value prediction: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F91CB-2A70-2A01-3E31-D902C42A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22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33A89-56AA-1E10-8759-E0BA17A75FF1}"/>
              </a:ext>
            </a:extLst>
          </p:cNvPr>
          <p:cNvSpPr txBox="1"/>
          <p:nvPr/>
        </p:nvSpPr>
        <p:spPr>
          <a:xfrm>
            <a:off x="812434" y="5205373"/>
            <a:ext cx="293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1E8AC6-0301-D4D7-C68F-B7ADC3BF6A64}"/>
              </a:ext>
            </a:extLst>
          </p:cNvPr>
          <p:cNvSpPr txBox="1"/>
          <p:nvPr/>
        </p:nvSpPr>
        <p:spPr>
          <a:xfrm>
            <a:off x="4633301" y="5205373"/>
            <a:ext cx="3340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out-of-distribution)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589635-C9DB-0BB5-F3E7-D0F02755B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4" y="2279651"/>
            <a:ext cx="3951559" cy="2759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BEAF7E-5F0D-F314-9B25-52675981E4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0220" y="2295329"/>
            <a:ext cx="3951559" cy="27279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31E57E-23F6-BB31-183E-CD1F4F08E9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8647" y="2295329"/>
            <a:ext cx="3951559" cy="27279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E20E10-D7F3-EC6B-A4AF-5AE9E4CE554D}"/>
              </a:ext>
            </a:extLst>
          </p:cNvPr>
          <p:cNvSpPr txBox="1"/>
          <p:nvPr/>
        </p:nvSpPr>
        <p:spPr>
          <a:xfrm>
            <a:off x="8598656" y="5205373"/>
            <a:ext cx="3381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G</a:t>
            </a:r>
            <a:r>
              <a:rPr lang="en-US" dirty="0">
                <a:solidFill>
                  <a:schemeClr val="accent6"/>
                </a:solidFill>
              </a:rPr>
              <a:t>, out-of-distribution)</a:t>
            </a:r>
          </a:p>
        </p:txBody>
      </p:sp>
    </p:spTree>
    <p:extLst>
      <p:ext uri="{BB962C8B-B14F-4D97-AF65-F5344CB8AC3E}">
        <p14:creationId xmlns:p14="http://schemas.microsoft.com/office/powerpoint/2010/main" val="402451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B2EB1-2A0C-0464-6413-6F6709BA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89C1-844B-8418-65DF-FBA4B2A39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7" y="2883189"/>
            <a:ext cx="9480714" cy="1091622"/>
          </a:xfrm>
        </p:spPr>
        <p:txBody>
          <a:bodyPr/>
          <a:lstStyle/>
          <a:p>
            <a:r>
              <a:rPr lang="en-US" dirty="0"/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1727127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86883-E2D9-92FC-9126-0819F4E0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- Value Stability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48763C-B30A-75D0-A4B3-47D4AAEA49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0001" y="1296000"/>
                <a:ext cx="5615999" cy="4445149"/>
              </a:xfrm>
            </p:spPr>
            <p:txBody>
              <a:bodyPr/>
              <a:lstStyle/>
              <a:p>
                <a:r>
                  <a:rPr lang="en-US" sz="2800" dirty="0"/>
                  <a:t>We propose two adjustments to VGC-Bench’s policy architecture: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Initialization of 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embeddings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(0,1)→</m:t>
                    </m:r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(0,0.02)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sz="2800" dirty="0"/>
                  <a:t>Initialization of </a:t>
                </a:r>
                <a:r>
                  <a:rPr lang="en-US" sz="2800" dirty="0">
                    <a:solidFill>
                      <a:schemeClr val="tx2"/>
                    </a:solidFill>
                  </a:rPr>
                  <a:t>value projection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800" b="0" i="0" smtClean="0">
                        <a:latin typeface="Cambria Math" panose="02040503050406030204" pitchFamily="18" charset="0"/>
                      </a:rPr>
                      <m:t>Gain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GB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Gain</m:t>
                    </m:r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48763C-B30A-75D0-A4B3-47D4AAEA4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001" y="1296000"/>
                <a:ext cx="5615999" cy="4445149"/>
              </a:xfrm>
              <a:blipFill>
                <a:blip r:embed="rId2"/>
                <a:stretch>
                  <a:fillRect l="-3909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CEC5C-F725-791B-E263-120B6AC1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EB6D75-94F2-0B5E-5F6D-644947BAD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8"/>
          <a:stretch>
            <a:fillRect/>
          </a:stretch>
        </p:blipFill>
        <p:spPr>
          <a:xfrm>
            <a:off x="6621294" y="1235707"/>
            <a:ext cx="4961105" cy="456573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954E2FD-5964-974A-E114-624830209E32}"/>
              </a:ext>
            </a:extLst>
          </p:cNvPr>
          <p:cNvSpPr/>
          <p:nvPr/>
        </p:nvSpPr>
        <p:spPr>
          <a:xfrm>
            <a:off x="6621293" y="2276272"/>
            <a:ext cx="4961105" cy="36965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11536-D26E-491C-69DC-A6E8BEEC2228}"/>
              </a:ext>
            </a:extLst>
          </p:cNvPr>
          <p:cNvSpPr/>
          <p:nvPr/>
        </p:nvSpPr>
        <p:spPr>
          <a:xfrm>
            <a:off x="9649839" y="4766553"/>
            <a:ext cx="1352144" cy="44747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94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F3A0-C571-CFDF-9417-96505A45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- Continual 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1FF4A-84C0-1027-A597-F647172E3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Regularization methods: </a:t>
            </a:r>
            <a:r>
              <a:rPr lang="en-US" sz="2800" dirty="0"/>
              <a:t>penalize changes to important parameters.</a:t>
            </a:r>
          </a:p>
          <a:p>
            <a:pPr lvl="1"/>
            <a:r>
              <a:rPr lang="en-US" sz="2400" i="1" dirty="0"/>
              <a:t>Elastic Weight Consolidation, EVCL, Synaptic Intelligence</a:t>
            </a:r>
          </a:p>
          <a:p>
            <a:pPr lvl="1"/>
            <a:r>
              <a:rPr lang="en-US" sz="2400" dirty="0"/>
              <a:t>Policy Distillation: </a:t>
            </a:r>
            <a:r>
              <a:rPr lang="en-US" sz="2400" i="1" dirty="0"/>
              <a:t>Actor-Mimic, </a:t>
            </a:r>
            <a:r>
              <a:rPr lang="en-US" sz="2400" i="1" dirty="0" err="1"/>
              <a:t>Distral</a:t>
            </a:r>
            <a:endParaRPr lang="en-US" sz="2400" i="1" dirty="0"/>
          </a:p>
          <a:p>
            <a:endParaRPr lang="en-US" sz="2800" dirty="0"/>
          </a:p>
          <a:p>
            <a:r>
              <a:rPr lang="en-US" sz="2800" b="1" dirty="0"/>
              <a:t>Replay methods: </a:t>
            </a:r>
            <a:r>
              <a:rPr lang="en-US" sz="2800" dirty="0"/>
              <a:t>store and replay examples from previous tasks.</a:t>
            </a:r>
          </a:p>
          <a:p>
            <a:pPr lvl="1"/>
            <a:r>
              <a:rPr lang="en-US" sz="2400" i="1" dirty="0"/>
              <a:t>CLEAR, EDER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Parameter-isolation methods: </a:t>
            </a:r>
            <a:r>
              <a:rPr lang="en-US" sz="2800" dirty="0"/>
              <a:t>allocate separate parameters for tasks.</a:t>
            </a:r>
          </a:p>
          <a:p>
            <a:pPr lvl="1"/>
            <a:r>
              <a:rPr lang="en-US" sz="2400" dirty="0"/>
              <a:t>Progressive Architectures: </a:t>
            </a:r>
            <a:r>
              <a:rPr lang="en-US" sz="2400" i="1" u="sng" dirty="0"/>
              <a:t>Progressive Neural Networks</a:t>
            </a:r>
            <a:r>
              <a:rPr lang="en-US" sz="2400" baseline="30000" dirty="0"/>
              <a:t>1</a:t>
            </a:r>
            <a:r>
              <a:rPr lang="en-US" sz="2400" i="1" dirty="0"/>
              <a:t>, </a:t>
            </a:r>
            <a:r>
              <a:rPr lang="en-US" sz="2400" i="1" dirty="0" err="1"/>
              <a:t>PathNet</a:t>
            </a:r>
            <a:r>
              <a:rPr lang="en-US" sz="2400" i="1" dirty="0"/>
              <a:t>, </a:t>
            </a:r>
            <a:r>
              <a:rPr lang="en-US" sz="2400" i="1" dirty="0" err="1"/>
              <a:t>LoRA</a:t>
            </a:r>
            <a:endParaRPr lang="en-US" sz="2400" i="1" dirty="0"/>
          </a:p>
          <a:p>
            <a:pPr lvl="1"/>
            <a:r>
              <a:rPr lang="en-US" sz="2400" dirty="0"/>
              <a:t>Specialized Optimization Methods: </a:t>
            </a:r>
            <a:r>
              <a:rPr lang="en-US" sz="2400" i="1" dirty="0" err="1"/>
              <a:t>ReDo</a:t>
            </a:r>
            <a:r>
              <a:rPr lang="en-US" sz="2400" i="1" dirty="0"/>
              <a:t>, Continual Backprop, </a:t>
            </a:r>
            <a:r>
              <a:rPr lang="en-US" sz="2400" i="1" u="sng" dirty="0"/>
              <a:t>Tuned PPO</a:t>
            </a:r>
            <a:r>
              <a:rPr lang="en-US" sz="2400" baseline="30000" dirty="0"/>
              <a:t>2</a:t>
            </a:r>
            <a:endParaRPr lang="en-US" sz="2400" i="1" u="sng" baseline="30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21B52-D937-5362-8036-9003D32A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5DA7C-CEC2-613E-B981-0EEF867F55DC}"/>
              </a:ext>
            </a:extLst>
          </p:cNvPr>
          <p:cNvSpPr txBox="1"/>
          <p:nvPr/>
        </p:nvSpPr>
        <p:spPr>
          <a:xfrm>
            <a:off x="480001" y="5479539"/>
            <a:ext cx="5244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" sz="1400" dirty="0">
                <a:solidFill>
                  <a:schemeClr val="accent6"/>
                </a:solidFill>
              </a:rPr>
              <a:t>[1] Rusu et al. "Progressive neural networks.“ (2016)</a:t>
            </a:r>
          </a:p>
          <a:p>
            <a:r>
              <a:rPr lang="" sz="1400" dirty="0">
                <a:solidFill>
                  <a:schemeClr val="accent6"/>
                </a:solidFill>
              </a:rPr>
              <a:t>[2] Dohare et al. "Loss of plasticity in deep continual learning."</a:t>
            </a:r>
            <a:r>
              <a:rPr lang="" sz="1400" i="1" dirty="0">
                <a:solidFill>
                  <a:schemeClr val="accent6"/>
                </a:solidFill>
              </a:rPr>
              <a:t> </a:t>
            </a:r>
            <a:r>
              <a:rPr lang="" sz="1400" dirty="0">
                <a:solidFill>
                  <a:schemeClr val="accent6"/>
                </a:solidFill>
              </a:rPr>
              <a:t>(2024)</a:t>
            </a:r>
            <a:endParaRPr 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324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2C8F-C66E-6DDE-51D0-A5866D69D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1D9C-19B8-5692-BD17-EF5BC833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- Progressive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A2B5D-3EE3-B126-9068-EA705D8E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A381E9-14A3-A358-5319-38342A094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26" y="1173601"/>
            <a:ext cx="6628174" cy="55099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6260A5-70B6-51CA-24F2-0FFA53541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284" y="2916250"/>
            <a:ext cx="4542817" cy="20246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7316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9F94-1D65-EF03-D473-FD12F4D6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180C4-D339-AC21-C495-9E2EDB5A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- Tuned PPO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392F7A-9363-F57B-BD7D-A716935DD9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Default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800" dirty="0"/>
                  <a:t>s of the Adam optimizer: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=0.999</m:t>
                    </m:r>
                  </m:oMath>
                </a14:m>
                <a:endParaRPr lang="en-US" sz="2400" dirty="0"/>
              </a:p>
              <a:p>
                <a:endParaRPr lang="en-US" sz="2934" dirty="0"/>
              </a:p>
              <a:p>
                <a:r>
                  <a:rPr lang="en-US" sz="2800" dirty="0"/>
                  <a:t>Lyle et al.</a:t>
                </a:r>
                <a:r>
                  <a:rPr lang="en-US" sz="2800" baseline="30000" dirty="0"/>
                  <a:t>1</a:t>
                </a:r>
                <a:r>
                  <a:rPr lang="en-US" sz="2800" dirty="0"/>
                  <a:t> showed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800" dirty="0"/>
                  <a:t>leads to high loss of plasticity, instead suggesting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r>
                  <a:rPr lang="en-US" sz="2800" dirty="0"/>
                  <a:t>, resulting in smaller, stable updates.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Dohare et al.</a:t>
                </a:r>
                <a:r>
                  <a:rPr lang="en-US" sz="2800" baseline="30000" dirty="0"/>
                  <a:t>2</a:t>
                </a:r>
                <a:r>
                  <a:rPr lang="en-US" sz="2800" dirty="0"/>
                  <a:t> used this tuned Adam optimizer + L2 regularization in PPO (</a:t>
                </a:r>
                <a:r>
                  <a:rPr lang="en-US" sz="2800" b="1" dirty="0"/>
                  <a:t>Tuned PPO</a:t>
                </a:r>
                <a:r>
                  <a:rPr lang="en-US" sz="2800" dirty="0"/>
                  <a:t>), and showed it behaved similarly to Continual Backprop.</a:t>
                </a:r>
              </a:p>
              <a:p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934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2934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sz="2934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GB" sz="2934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GB" sz="2934" b="0" i="0" smtClean="0">
                          <a:latin typeface="Cambria Math" panose="02040503050406030204" pitchFamily="18" charset="0"/>
                        </a:rPr>
                        <m:t>-5</m:t>
                      </m:r>
                      <m:r>
                        <a:rPr lang="en-GB" sz="2934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2934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934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sz="2934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GB" sz="2934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GB" sz="2934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-6</m:t>
                      </m:r>
                    </m:oMath>
                  </m:oMathPara>
                </a14:m>
                <a:endParaRPr lang="en-US" sz="2934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392F7A-9363-F57B-BD7D-A716935DD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2" t="-2332" r="-824" b="-1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3F83B-D95E-C1C4-7249-B6B2A3EE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27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44A8E3-CEB6-99B7-A00B-3236530075EB}"/>
              </a:ext>
            </a:extLst>
          </p:cNvPr>
          <p:cNvSpPr txBox="1"/>
          <p:nvPr/>
        </p:nvSpPr>
        <p:spPr>
          <a:xfrm>
            <a:off x="2620087" y="6160305"/>
            <a:ext cx="5244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" sz="1400" dirty="0">
                <a:solidFill>
                  <a:schemeClr val="accent6"/>
                </a:solidFill>
              </a:rPr>
              <a:t>[1] Lyle et al. “Understanding plasticity in neural networks” (2023)</a:t>
            </a:r>
          </a:p>
          <a:p>
            <a:r>
              <a:rPr lang="" sz="1400" dirty="0">
                <a:solidFill>
                  <a:schemeClr val="accent6"/>
                </a:solidFill>
              </a:rPr>
              <a:t>[2] Dohare et al. "Loss of plasticity in deep continual learning."</a:t>
            </a:r>
            <a:r>
              <a:rPr lang="" sz="1400" i="1" dirty="0">
                <a:solidFill>
                  <a:schemeClr val="accent6"/>
                </a:solidFill>
              </a:rPr>
              <a:t> </a:t>
            </a:r>
            <a:r>
              <a:rPr lang="" sz="1400" dirty="0">
                <a:solidFill>
                  <a:schemeClr val="accent6"/>
                </a:solidFill>
              </a:rPr>
              <a:t>(2024)</a:t>
            </a:r>
            <a:endParaRPr 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24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B508D-DCE8-4487-4681-D84D291B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1920-5F59-242D-7BCE-55AF02164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7" y="2883189"/>
            <a:ext cx="9480714" cy="1091622"/>
          </a:xfrm>
        </p:spPr>
        <p:txBody>
          <a:bodyPr/>
          <a:lstStyle/>
          <a:p>
            <a:r>
              <a:rPr lang="en-US" dirty="0"/>
              <a:t>Stationary Experiments</a:t>
            </a:r>
          </a:p>
        </p:txBody>
      </p:sp>
    </p:spTree>
    <p:extLst>
      <p:ext uri="{BB962C8B-B14F-4D97-AF65-F5344CB8AC3E}">
        <p14:creationId xmlns:p14="http://schemas.microsoft.com/office/powerpoint/2010/main" val="2097875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0C46-70C1-99F3-3045-C28D1A85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EA744-4489-95B9-EFE2-8C776703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E1CCC-8900-E4BF-1184-14C780E1B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25" y="1776318"/>
            <a:ext cx="10472745" cy="3837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64496C-08B1-663A-7D43-6F785C863569}"/>
              </a:ext>
            </a:extLst>
          </p:cNvPr>
          <p:cNvSpPr txBox="1"/>
          <p:nvPr/>
        </p:nvSpPr>
        <p:spPr>
          <a:xfrm>
            <a:off x="4618895" y="6220162"/>
            <a:ext cx="2954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(1000 games, in-distribution)</a:t>
            </a:r>
          </a:p>
        </p:txBody>
      </p:sp>
    </p:spTree>
    <p:extLst>
      <p:ext uri="{BB962C8B-B14F-4D97-AF65-F5344CB8AC3E}">
        <p14:creationId xmlns:p14="http://schemas.microsoft.com/office/powerpoint/2010/main" val="3111939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1461E-AAD0-01E0-F868-70E372CA1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EB68A-5749-FDE6-EAFB-B815089D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F2240-E06C-B100-1873-59DE8A09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01207B-D7D0-19DB-6049-801BAD829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7091" y="1776318"/>
            <a:ext cx="8757811" cy="3837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64A3D0-3A27-7985-8658-9B294F6F69E7}"/>
              </a:ext>
            </a:extLst>
          </p:cNvPr>
          <p:cNvSpPr txBox="1"/>
          <p:nvPr/>
        </p:nvSpPr>
        <p:spPr>
          <a:xfrm>
            <a:off x="4443365" y="6220162"/>
            <a:ext cx="330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(1000 games, out-of-distribution)</a:t>
            </a:r>
          </a:p>
        </p:txBody>
      </p:sp>
    </p:spTree>
    <p:extLst>
      <p:ext uri="{BB962C8B-B14F-4D97-AF65-F5344CB8AC3E}">
        <p14:creationId xmlns:p14="http://schemas.microsoft.com/office/powerpoint/2010/main" val="2291128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B1E66B-F18D-3B61-DBF1-225B5E125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112" y="2081077"/>
            <a:ext cx="6693775" cy="46024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856473-2E9B-D03C-094F-3B3F4D9F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Experiments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32202-4B0D-E3C7-6167-F39A3365A0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An agent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800" dirty="0"/>
                  <a:t> performs </a:t>
                </a:r>
                <a:r>
                  <a:rPr lang="en-US" sz="2800" i="1" dirty="0"/>
                  <a:t>equal or worse </a:t>
                </a:r>
                <a:r>
                  <a:rPr lang="en-US" sz="2800" dirty="0"/>
                  <a:t>than agent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→ </a:t>
                </a:r>
                <a:r>
                  <a:rPr lang="en-US" sz="2800" b="1" dirty="0"/>
                  <a:t>Binomial Test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≤0.5, 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32202-4B0D-E3C7-6167-F39A3365A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12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FE9F4-EDD9-AB91-7758-A5CD0527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78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DDC4-73AE-55A4-2F0A-663CA4C38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274B-E7D5-4711-CD44-0A01E7294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7" y="2883189"/>
            <a:ext cx="10920408" cy="1091622"/>
          </a:xfrm>
        </p:spPr>
        <p:txBody>
          <a:bodyPr/>
          <a:lstStyle/>
          <a:p>
            <a:r>
              <a:rPr lang="en-US" dirty="0"/>
              <a:t>Non-Stationary Experiments</a:t>
            </a:r>
          </a:p>
        </p:txBody>
      </p:sp>
    </p:spTree>
    <p:extLst>
      <p:ext uri="{BB962C8B-B14F-4D97-AF65-F5344CB8AC3E}">
        <p14:creationId xmlns:p14="http://schemas.microsoft.com/office/powerpoint/2010/main" val="9065353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B600-86C3-6A44-A89D-2CBA8872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Non-Stationary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36140-A4D3-632A-11A5-4C4965A5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FCA07-AFEB-2457-CE2E-9DB45ED44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75" y="1667541"/>
            <a:ext cx="10283049" cy="41535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FB5CE2-2FAF-A02F-8D99-69E549220760}"/>
              </a:ext>
            </a:extLst>
          </p:cNvPr>
          <p:cNvSpPr txBox="1"/>
          <p:nvPr/>
        </p:nvSpPr>
        <p:spPr>
          <a:xfrm>
            <a:off x="4779197" y="6210434"/>
            <a:ext cx="263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(1000 games, progressive)</a:t>
            </a:r>
          </a:p>
        </p:txBody>
      </p:sp>
    </p:spTree>
    <p:extLst>
      <p:ext uri="{BB962C8B-B14F-4D97-AF65-F5344CB8AC3E}">
        <p14:creationId xmlns:p14="http://schemas.microsoft.com/office/powerpoint/2010/main" val="3210580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87500-1EE1-8120-ABB4-8B62769D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49F8-49D0-59E2-0EF7-AEF9D847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Non-Stationary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197F6-FD21-7C02-7D0B-8E403AF1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A764C-0B04-4417-9F98-A4C848087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749" y="1170260"/>
            <a:ext cx="6138501" cy="55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57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A72BA-8A2E-9819-6DB3-34C361EC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BC53-E9B3-725C-8C1B-8EEEC6C5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Non-Stationary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0EF15-265B-D93F-0A4F-77634BD94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7E47A-99F4-2980-B26F-E7FE4DFAD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835" y="1667541"/>
            <a:ext cx="10134729" cy="41535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12CB21-722D-66C1-D921-6F0C775F417D}"/>
              </a:ext>
            </a:extLst>
          </p:cNvPr>
          <p:cNvSpPr txBox="1"/>
          <p:nvPr/>
        </p:nvSpPr>
        <p:spPr>
          <a:xfrm>
            <a:off x="5009548" y="6204873"/>
            <a:ext cx="2172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(1000 games, tuned)</a:t>
            </a:r>
          </a:p>
        </p:txBody>
      </p:sp>
    </p:spTree>
    <p:extLst>
      <p:ext uri="{BB962C8B-B14F-4D97-AF65-F5344CB8AC3E}">
        <p14:creationId xmlns:p14="http://schemas.microsoft.com/office/powerpoint/2010/main" val="4162043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6FEA-26AA-1D13-02BC-3BEA520C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6B80-5D0E-05E4-B72D-04B05605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Non-Stationary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B33D2-0B17-03B2-A6CB-8D1168C5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D2D1E-4D5D-27D2-25CA-142E8A3BC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4424" y="1170260"/>
            <a:ext cx="6003151" cy="55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26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89781-A12A-F7A7-AACF-2393989E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9F96-A19C-07CA-A419-E8E21F1A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Non-Stationary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4D0DD-845C-C7B1-E199-37305BEE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3F8C0-9A03-D5EC-7065-97F09150C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634" y="1692665"/>
            <a:ext cx="10134729" cy="4103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849450-0071-019C-B671-D79233BA87AE}"/>
              </a:ext>
            </a:extLst>
          </p:cNvPr>
          <p:cNvSpPr txBox="1"/>
          <p:nvPr/>
        </p:nvSpPr>
        <p:spPr>
          <a:xfrm>
            <a:off x="4847002" y="6211557"/>
            <a:ext cx="249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(1000 games, combined)</a:t>
            </a:r>
          </a:p>
        </p:txBody>
      </p:sp>
    </p:spTree>
    <p:extLst>
      <p:ext uri="{BB962C8B-B14F-4D97-AF65-F5344CB8AC3E}">
        <p14:creationId xmlns:p14="http://schemas.microsoft.com/office/powerpoint/2010/main" val="3616808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1D5C-970F-5892-DF5A-29417946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C5AD-0C7F-75A3-998F-C2CC56A6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Non-Stationary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413A1-67A5-0E26-DF61-90FB1DF1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0DB77-F7CC-2A5B-CEF9-B0020169E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843" y="1170260"/>
            <a:ext cx="5396314" cy="55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92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02BA-980D-28E4-95FF-CC823CED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AF88-B5B5-285E-762E-AF026E061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7" y="2883189"/>
            <a:ext cx="10920408" cy="1091622"/>
          </a:xfrm>
        </p:spPr>
        <p:txBody>
          <a:bodyPr/>
          <a:lstStyle/>
          <a:p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7571818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F10F6-051E-8F28-CBBF-42638DC8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7061D-D5B0-F7D0-A25F-9FAF4B2B4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0512" y="2082021"/>
            <a:ext cx="5050098" cy="42363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43CB8B-6FF9-C220-317F-349AC9B5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62E0C-BEF8-E4BA-282E-3DA0E1A70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Mean pairwise Jensen-Shannon distance between action probabilities: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8FC97-CBFA-9051-7B23-DA9C712C4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69F90A-05B1-8A41-4323-644091C73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2082021"/>
            <a:ext cx="5053333" cy="42363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AE17A2-0FA4-FDAF-E898-458EFC988335}"/>
              </a:ext>
            </a:extLst>
          </p:cNvPr>
          <p:cNvSpPr txBox="1"/>
          <p:nvPr/>
        </p:nvSpPr>
        <p:spPr>
          <a:xfrm>
            <a:off x="2581406" y="6314193"/>
            <a:ext cx="293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A5ACF-C490-FBF9-1382-39E4BCDDB7AE}"/>
              </a:ext>
            </a:extLst>
          </p:cNvPr>
          <p:cNvSpPr txBox="1"/>
          <p:nvPr/>
        </p:nvSpPr>
        <p:spPr>
          <a:xfrm>
            <a:off x="7071649" y="6314193"/>
            <a:ext cx="30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G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</p:spTree>
    <p:extLst>
      <p:ext uri="{BB962C8B-B14F-4D97-AF65-F5344CB8AC3E}">
        <p14:creationId xmlns:p14="http://schemas.microsoft.com/office/powerpoint/2010/main" val="32194507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B1A18-6026-77B7-B97B-D627154C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C05DE-6054-59E2-EEB2-973FAD7F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482F-4A61-9391-301E-7344A713F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Distributions of action logits (t-SNE):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0CDF-811A-93F0-B566-1BDC2FA2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45E027-BC22-0A03-F8FC-5A0CB2DC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4961" y="2082022"/>
            <a:ext cx="4069804" cy="3479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6C4FBD-C229-4A03-29F8-67588A7C2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7235" y="2082021"/>
            <a:ext cx="4069806" cy="34799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D9B110-9C65-E0B9-E486-4F1D1B5916CF}"/>
              </a:ext>
            </a:extLst>
          </p:cNvPr>
          <p:cNvSpPr txBox="1"/>
          <p:nvPr/>
        </p:nvSpPr>
        <p:spPr>
          <a:xfrm>
            <a:off x="1234685" y="5741149"/>
            <a:ext cx="411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(Progressive, 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7C83F-766F-48DE-AB91-5E4986C98E24}"/>
              </a:ext>
            </a:extLst>
          </p:cNvPr>
          <p:cNvSpPr txBox="1"/>
          <p:nvPr/>
        </p:nvSpPr>
        <p:spPr>
          <a:xfrm>
            <a:off x="7070835" y="5741149"/>
            <a:ext cx="3620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(Tuned, 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</p:spTree>
    <p:extLst>
      <p:ext uri="{BB962C8B-B14F-4D97-AF65-F5344CB8AC3E}">
        <p14:creationId xmlns:p14="http://schemas.microsoft.com/office/powerpoint/2010/main" val="40731787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7B639-5AD8-0B04-C479-AAEB73B5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8C36B-B91F-BE80-9198-5416BD59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DCC1B-0372-CDFA-430F-028178838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Distributions of action logits (t-SNE):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8568E-75EF-04E4-E36A-B5EEF347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1D8A89-D723-C1C0-94F2-B29B6309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4961" y="2082022"/>
            <a:ext cx="4069804" cy="3479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1DDC73-F78E-FC60-2977-60FC1858E9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7237" y="2011470"/>
            <a:ext cx="4418570" cy="35505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526D14-7241-69C3-ACE8-7FBEB0836FA1}"/>
              </a:ext>
            </a:extLst>
          </p:cNvPr>
          <p:cNvSpPr txBox="1"/>
          <p:nvPr/>
        </p:nvSpPr>
        <p:spPr>
          <a:xfrm>
            <a:off x="1234685" y="5741149"/>
            <a:ext cx="411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(Progressive, 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4E07C8-634A-27DD-1AE8-BF3320609D54}"/>
              </a:ext>
            </a:extLst>
          </p:cNvPr>
          <p:cNvSpPr txBox="1"/>
          <p:nvPr/>
        </p:nvSpPr>
        <p:spPr>
          <a:xfrm>
            <a:off x="7070835" y="5741149"/>
            <a:ext cx="3620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(Tuned, 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</p:spTree>
    <p:extLst>
      <p:ext uri="{BB962C8B-B14F-4D97-AF65-F5344CB8AC3E}">
        <p14:creationId xmlns:p14="http://schemas.microsoft.com/office/powerpoint/2010/main" val="10901810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B682F-1FE9-DB02-6539-C675371D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3A0C-93E6-DDA6-54B5-91D153BB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Experiments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CD67F-E303-C7F8-7A33-9A561EE26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1" y="1296000"/>
            <a:ext cx="11102399" cy="4445149"/>
          </a:xfrm>
        </p:spPr>
        <p:txBody>
          <a:bodyPr/>
          <a:lstStyle/>
          <a:p>
            <a:r>
              <a:rPr lang="en-US" sz="2800" dirty="0"/>
              <a:t>Mean value prediction: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5B23D-C7CF-EE11-6951-38238D1B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92FA7-BB0B-3915-2BB8-319FC39BD95D}"/>
              </a:ext>
            </a:extLst>
          </p:cNvPr>
          <p:cNvSpPr txBox="1"/>
          <p:nvPr/>
        </p:nvSpPr>
        <p:spPr>
          <a:xfrm>
            <a:off x="812434" y="5205373"/>
            <a:ext cx="293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839E9E-1EF5-4C39-0755-33AD1F65DEB5}"/>
              </a:ext>
            </a:extLst>
          </p:cNvPr>
          <p:cNvSpPr txBox="1"/>
          <p:nvPr/>
        </p:nvSpPr>
        <p:spPr>
          <a:xfrm>
            <a:off x="4633301" y="5205373"/>
            <a:ext cx="3340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>
                <a:solidFill>
                  <a:schemeClr val="accent6"/>
                </a:solidFill>
              </a:rPr>
              <a:t>, out-of-distribution)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57040F-FE0F-F9E7-A681-399EE708C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794" y="2295329"/>
            <a:ext cx="3951559" cy="2727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824FEA-5A07-D02C-C8A5-689698E4A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0221" y="2295329"/>
            <a:ext cx="3951557" cy="27279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5D6981-4E8D-C64C-8AB1-7411FCC366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1100" y="2295329"/>
            <a:ext cx="3906653" cy="27279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F3E134-1291-9BDD-1963-C39652AA6305}"/>
              </a:ext>
            </a:extLst>
          </p:cNvPr>
          <p:cNvSpPr txBox="1"/>
          <p:nvPr/>
        </p:nvSpPr>
        <p:spPr>
          <a:xfrm>
            <a:off x="8861891" y="5205373"/>
            <a:ext cx="297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(Regulation </a:t>
            </a:r>
            <a:r>
              <a:rPr lang="en-US" b="1" dirty="0">
                <a:solidFill>
                  <a:schemeClr val="accent6"/>
                </a:solidFill>
              </a:rPr>
              <a:t>G</a:t>
            </a:r>
            <a:r>
              <a:rPr lang="en-US" dirty="0">
                <a:solidFill>
                  <a:schemeClr val="accent6"/>
                </a:solidFill>
              </a:rPr>
              <a:t>, in-distribution)</a:t>
            </a:r>
          </a:p>
        </p:txBody>
      </p:sp>
    </p:spTree>
    <p:extLst>
      <p:ext uri="{BB962C8B-B14F-4D97-AF65-F5344CB8AC3E}">
        <p14:creationId xmlns:p14="http://schemas.microsoft.com/office/powerpoint/2010/main" val="1952167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D3F9-F026-F575-ABE4-A1F7C6BA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90CF-A841-FDBF-6C5A-1FF5FD834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7" y="2883189"/>
            <a:ext cx="10920408" cy="109162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736105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69FD-D110-2357-6620-39CC14E12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ED7F-726D-2CF3-E2BE-6F20F91E9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F31EE-DBCD-DDC2-EFD9-2AF169B3D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What effect does non-stationarity have on the performance and generalization of reinforcement learning agents in VGC?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/>
              <a:t>Agents trained in one regulation are consistently worse than retrained agents in other regulations.</a:t>
            </a:r>
          </a:p>
          <a:p>
            <a:endParaRPr lang="en-US" sz="2800" dirty="0"/>
          </a:p>
          <a:p>
            <a:r>
              <a:rPr lang="en-US" sz="2800" dirty="0"/>
              <a:t>When evaluating for generalization, agents can match other agents trained on future regulations.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A888C-7E01-196E-1219-D371558F7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088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60AB-BB79-ED76-19FB-B77E94D8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D9238-5A41-88D7-E74A-BF82FDBF4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b="1" dirty="0"/>
              <a:t>Can continual reinforcement learning methods facilitate effective knowledge transfer across game versions?</a:t>
            </a:r>
          </a:p>
          <a:p>
            <a:pPr marL="514350" indent="-514350">
              <a:buFont typeface="+mj-lt"/>
              <a:buAutoNum type="arabicPeriod" startAt="2"/>
            </a:pPr>
            <a:endParaRPr lang="en-US" sz="2800" dirty="0"/>
          </a:p>
          <a:p>
            <a:r>
              <a:rPr lang="en-US" sz="2800" dirty="0"/>
              <a:t>Agents can transfer knowledge short-term using full fine-tuning.</a:t>
            </a:r>
          </a:p>
          <a:p>
            <a:endParaRPr lang="en-US" sz="2800" dirty="0"/>
          </a:p>
          <a:p>
            <a:r>
              <a:rPr lang="en-US" sz="2800" dirty="0"/>
              <a:t>Our proposed network adjustments + tuned PPO outperform full fine-tuning, successfully prolonging the effective transfer.</a:t>
            </a:r>
          </a:p>
          <a:p>
            <a:endParaRPr lang="en-US" sz="2800" dirty="0"/>
          </a:p>
          <a:p>
            <a:r>
              <a:rPr lang="en-US" sz="2800" dirty="0"/>
              <a:t>Our progressive architecture is unable to facilitate better knowledge transfer, but does exhibit better generalization.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184C4-67FD-AC33-E330-382CE863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768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4FD3-8BBE-4C76-3239-C97A0B78A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C0D3-3C6C-5EB3-0B65-C23FD4BF8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8C190-7825-0BC9-91E9-71E6BF514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b="1" dirty="0"/>
              <a:t>How do continual reinforcement learning-based agents compare to fully retrained agents in terms of performance, generalization, and training cost across game updates?</a:t>
            </a:r>
          </a:p>
          <a:p>
            <a:pPr marL="514350" indent="-514350">
              <a:buFont typeface="+mj-lt"/>
              <a:buAutoNum type="arabicPeriod" startAt="2"/>
            </a:pPr>
            <a:endParaRPr lang="en-US" sz="2800" dirty="0"/>
          </a:p>
          <a:p>
            <a:r>
              <a:rPr lang="en-US" sz="2800" dirty="0"/>
              <a:t>All our methods are unable to consistently outperform retrained agents.</a:t>
            </a:r>
          </a:p>
          <a:p>
            <a:endParaRPr lang="en-US" sz="2800" dirty="0"/>
          </a:p>
          <a:p>
            <a:r>
              <a:rPr lang="en-US" sz="2800" dirty="0"/>
              <a:t>Retrained agents are superior in terms of performance, generalization, and training cost, though continual learning appears to still be beneficial.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D1A87-8CB6-C622-3FE7-C5D64E10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157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C2BB-CA6A-A606-7FB3-C4415DF8B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9AD73-3CDA-E8A3-4525-E7945F50C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Our experiments should be repeated on multiple seeds.</a:t>
            </a:r>
          </a:p>
          <a:p>
            <a:endParaRPr lang="en-US" sz="2800" dirty="0"/>
          </a:p>
          <a:p>
            <a:r>
              <a:rPr lang="en-US" sz="2800" dirty="0"/>
              <a:t>Possible directions:</a:t>
            </a:r>
          </a:p>
          <a:p>
            <a:pPr lvl="1"/>
            <a:r>
              <a:rPr lang="en-US" sz="2400" dirty="0"/>
              <a:t>The value function</a:t>
            </a:r>
          </a:p>
          <a:p>
            <a:pPr lvl="1"/>
            <a:r>
              <a:rPr lang="en-US" sz="2400" dirty="0"/>
              <a:t>L2 regularization rate</a:t>
            </a:r>
          </a:p>
          <a:p>
            <a:pPr lvl="1"/>
            <a:r>
              <a:rPr lang="en-US" sz="2400" dirty="0"/>
              <a:t>Number of teams used during training</a:t>
            </a:r>
          </a:p>
          <a:p>
            <a:pPr lvl="1"/>
            <a:r>
              <a:rPr lang="en-US" sz="2400" dirty="0"/>
              <a:t>Hyperparameters</a:t>
            </a:r>
          </a:p>
          <a:p>
            <a:pPr lvl="1"/>
            <a:r>
              <a:rPr lang="en-US" sz="2400" dirty="0" err="1"/>
              <a:t>ReDo</a:t>
            </a:r>
            <a:r>
              <a:rPr lang="en-US" sz="2400" dirty="0"/>
              <a:t> &amp; Continual Backprop</a:t>
            </a:r>
          </a:p>
          <a:p>
            <a:pPr lvl="1"/>
            <a:r>
              <a:rPr lang="en-US" sz="2400" dirty="0"/>
              <a:t>Regularization- &amp; Replay methods</a:t>
            </a:r>
          </a:p>
          <a:p>
            <a:pPr lvl="1"/>
            <a:r>
              <a:rPr lang="en-US" sz="2400" dirty="0"/>
              <a:t>Progressive architecture</a:t>
            </a:r>
          </a:p>
          <a:p>
            <a:pPr lvl="1"/>
            <a:r>
              <a:rPr lang="en-US" sz="2400" dirty="0"/>
              <a:t>Custom regulations</a:t>
            </a:r>
          </a:p>
          <a:p>
            <a:pPr lvl="1"/>
            <a:r>
              <a:rPr lang="en-US" sz="2400" dirty="0"/>
              <a:t>Other games</a:t>
            </a:r>
          </a:p>
          <a:p>
            <a:pPr lvl="1"/>
            <a:r>
              <a:rPr lang="en-US" sz="2400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4B63F-5204-14FC-2E80-1A5715DD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107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79F15-3D4B-75B1-2021-E208A21B6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6E99-F399-AC4F-8FBA-FB96A72B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DCDE-330D-87C1-58F1-713062257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 believe continual learning in non-stationary games is a severely understudied domain that shows great potential.</a:t>
            </a:r>
          </a:p>
          <a:p>
            <a:endParaRPr lang="en-US" sz="2800" dirty="0"/>
          </a:p>
          <a:p>
            <a:r>
              <a:rPr lang="en-US" sz="2800" dirty="0"/>
              <a:t>Modern games, like VGC, have clearly defined rules, goals, and task boundaries.</a:t>
            </a:r>
          </a:p>
          <a:p>
            <a:endParaRPr lang="en-US" sz="2800" dirty="0"/>
          </a:p>
          <a:p>
            <a:r>
              <a:rPr lang="en-US" sz="2800" dirty="0"/>
              <a:t>Non-stationary games could serve as natural benchmark for continual learning, facilitating a greater understanding of how machine learning agents can remain effective after deployment.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ADA72-083E-9939-9CA4-62713DF8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474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3208-4706-9238-6510-D7453E37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D14C-1E21-28C7-0BA7-686356CBF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0640" y="2883189"/>
            <a:ext cx="4310719" cy="1091622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16481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C1A87-556E-C950-7C05-9CFDD298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DC9C-8189-E5CE-6BF3-C06F65232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7" y="2883189"/>
            <a:ext cx="9480714" cy="1091622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8952221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CE93-9B2D-F967-5E27-E7B5EC7F6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VGC-Bench Hyperparameters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4A18E-EA18-3A91-B310-849B4A9F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F7C9C-C1F9-4778-A51A-A66C6807E923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71ACDD-135E-8E28-5E2D-6709C61A8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838" y="1610098"/>
            <a:ext cx="10418323" cy="42684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6D5BF5-B63E-79D3-592A-D08D4C302BA9}"/>
              </a:ext>
            </a:extLst>
          </p:cNvPr>
          <p:cNvSpPr txBox="1"/>
          <p:nvPr/>
        </p:nvSpPr>
        <p:spPr>
          <a:xfrm>
            <a:off x="2908569" y="6254661"/>
            <a:ext cx="8053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" sz="1400" dirty="0">
                <a:solidFill>
                  <a:schemeClr val="accent6"/>
                </a:solidFill>
              </a:rPr>
              <a:t>[10] Angliss et al. "VGC-Bench: Towards Mastering Diverse Team Strategies in Competitive </a:t>
            </a:r>
            <a:r>
              <a:rPr lang="en-US" sz="1400" dirty="0">
                <a:solidFill>
                  <a:schemeClr val="accent6"/>
                </a:solidFill>
              </a:rPr>
              <a:t>Pokémon</a:t>
            </a:r>
            <a:r>
              <a:rPr lang="" sz="1400" dirty="0">
                <a:solidFill>
                  <a:schemeClr val="accent6"/>
                </a:solidFill>
              </a:rPr>
              <a:t>.“ (2025)</a:t>
            </a:r>
            <a:endParaRPr 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3677"/>
      </p:ext>
    </p:extLst>
  </p:cSld>
  <p:clrMapOvr>
    <a:masterClrMapping/>
  </p:clrMapOvr>
</p:sld>
</file>

<file path=ppt/theme/theme1.xml><?xml version="1.0" encoding="utf-8"?>
<a:theme xmlns:a="http://schemas.openxmlformats.org/drawingml/2006/main" name="Maastricht University">
  <a:themeElements>
    <a:clrScheme name="UM">
      <a:dk1>
        <a:srgbClr val="001C3D"/>
      </a:dk1>
      <a:lt1>
        <a:srgbClr val="FFFFFF"/>
      </a:lt1>
      <a:dk2>
        <a:srgbClr val="00A2DB"/>
      </a:dk2>
      <a:lt2>
        <a:srgbClr val="FFFFFF"/>
      </a:lt2>
      <a:accent1>
        <a:srgbClr val="E84E10"/>
      </a:accent1>
      <a:accent2>
        <a:srgbClr val="00A2DB"/>
      </a:accent2>
      <a:accent3>
        <a:srgbClr val="001C3D"/>
      </a:accent3>
      <a:accent4>
        <a:srgbClr val="F3A687"/>
      </a:accent4>
      <a:accent5>
        <a:srgbClr val="7FD0ED"/>
      </a:accent5>
      <a:accent6>
        <a:srgbClr val="7F8D9E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</TotalTime>
  <Words>1830</Words>
  <Application>Microsoft Office PowerPoint</Application>
  <PresentationFormat>Widescreen</PresentationFormat>
  <Paragraphs>317</Paragraphs>
  <Slides>52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Arial</vt:lpstr>
      <vt:lpstr>Calibri</vt:lpstr>
      <vt:lpstr>Cambria Math</vt:lpstr>
      <vt:lpstr>Lucida Grande</vt:lpstr>
      <vt:lpstr>Maastricht University</vt:lpstr>
      <vt:lpstr>Continual Reinforcement Learning for Evolving Games: Learning Across Game Updates in Competitive Pokémon</vt:lpstr>
      <vt:lpstr>Content</vt:lpstr>
      <vt:lpstr>Introduction</vt:lpstr>
      <vt:lpstr>Introduction</vt:lpstr>
      <vt:lpstr>Introduction</vt:lpstr>
      <vt:lpstr>Introduction</vt:lpstr>
      <vt:lpstr>Introduction - Research Questions</vt:lpstr>
      <vt:lpstr>Competitive Pokémon</vt:lpstr>
      <vt:lpstr>Competitive Pokémon</vt:lpstr>
      <vt:lpstr>Competitive Pokémon</vt:lpstr>
      <vt:lpstr>Competitive Pokémon</vt:lpstr>
      <vt:lpstr>Preliminary Experiments</vt:lpstr>
      <vt:lpstr>Preliminary Experiments</vt:lpstr>
      <vt:lpstr>Preliminary Experiments - Zero-Shot Transfer</vt:lpstr>
      <vt:lpstr>Preliminary Experiments - Zero-Shot Transfer</vt:lpstr>
      <vt:lpstr>Preliminary Experiments - Zero-Shot Transfer</vt:lpstr>
      <vt:lpstr>Preliminary Experiments - Full Fine-Tuning</vt:lpstr>
      <vt:lpstr>Preliminary Experiments - Full Fine-Tuning</vt:lpstr>
      <vt:lpstr>Preliminary Experiments - Analysis</vt:lpstr>
      <vt:lpstr>Preliminary Experiments - Analysis</vt:lpstr>
      <vt:lpstr>Preliminary Experiments - Analysis</vt:lpstr>
      <vt:lpstr>Preliminary Experiments - Analysis</vt:lpstr>
      <vt:lpstr>Methods</vt:lpstr>
      <vt:lpstr>Methods - Value Stability</vt:lpstr>
      <vt:lpstr>Methods - Continual Reinforcement Learning</vt:lpstr>
      <vt:lpstr>Methods - Progressive Architecture</vt:lpstr>
      <vt:lpstr>Methods - Tuned PPO</vt:lpstr>
      <vt:lpstr>Stationary Experiments</vt:lpstr>
      <vt:lpstr>Stationary Experiments</vt:lpstr>
      <vt:lpstr>Stationary Experiments</vt:lpstr>
      <vt:lpstr>Stationary Experiments</vt:lpstr>
      <vt:lpstr>Non-Stationary Experiments</vt:lpstr>
      <vt:lpstr>Non-Stationary Experiments</vt:lpstr>
      <vt:lpstr>Non-Stationary Experiments</vt:lpstr>
      <vt:lpstr>Non-Stationary Experiments</vt:lpstr>
      <vt:lpstr>Non-Stationary Experiments</vt:lpstr>
      <vt:lpstr>Non-Stationary Experiments</vt:lpstr>
      <vt:lpstr>Non-Stationary Experiments</vt:lpstr>
      <vt:lpstr>Analysis</vt:lpstr>
      <vt:lpstr>Analysis</vt:lpstr>
      <vt:lpstr>Analysis</vt:lpstr>
      <vt:lpstr>Analysis</vt:lpstr>
      <vt:lpstr>Preliminary Experiments - Analysis</vt:lpstr>
      <vt:lpstr>Conclusion</vt:lpstr>
      <vt:lpstr>Conclusion</vt:lpstr>
      <vt:lpstr>Conclusion</vt:lpstr>
      <vt:lpstr>Conclusion</vt:lpstr>
      <vt:lpstr>Future Work</vt:lpstr>
      <vt:lpstr>Future Work</vt:lpstr>
      <vt:lpstr>Questions?</vt:lpstr>
      <vt:lpstr>Appendix</vt:lpstr>
      <vt:lpstr>VGC-Bench Hyperparameters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Vroom</dc:creator>
  <cp:lastModifiedBy>Thomas Vroom</cp:lastModifiedBy>
  <cp:revision>42</cp:revision>
  <dcterms:created xsi:type="dcterms:W3CDTF">2026-07-14T12:30:03Z</dcterms:created>
  <dcterms:modified xsi:type="dcterms:W3CDTF">2026-07-15T17:05:43Z</dcterms:modified>
</cp:coreProperties>
</file>