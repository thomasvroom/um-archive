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257" r:id="rId2"/>
    <p:sldId id="258" r:id="rId3"/>
    <p:sldId id="260" r:id="rId4"/>
    <p:sldId id="261" r:id="rId5"/>
    <p:sldId id="263" r:id="rId6"/>
    <p:sldId id="264" r:id="rId7"/>
    <p:sldId id="267" r:id="rId8"/>
    <p:sldId id="268" r:id="rId9"/>
    <p:sldId id="269" r:id="rId10"/>
    <p:sldId id="271" r:id="rId11"/>
    <p:sldId id="272" r:id="rId12"/>
    <p:sldId id="270" r:id="rId13"/>
    <p:sldId id="284" r:id="rId14"/>
    <p:sldId id="274" r:id="rId15"/>
    <p:sldId id="275" r:id="rId16"/>
    <p:sldId id="276" r:id="rId17"/>
    <p:sldId id="283" r:id="rId18"/>
    <p:sldId id="277" r:id="rId19"/>
    <p:sldId id="278" r:id="rId20"/>
    <p:sldId id="279" r:id="rId21"/>
    <p:sldId id="262" r:id="rId22"/>
    <p:sldId id="280" r:id="rId23"/>
    <p:sldId id="281" r:id="rId24"/>
    <p:sldId id="282" r:id="rId25"/>
  </p:sldIdLst>
  <p:sldSz cx="9144000" cy="5143500" type="screen16x9"/>
  <p:notesSz cx="9144000" cy="6858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9" autoAdjust="0"/>
    <p:restoredTop sz="86013" autoAdjust="0"/>
  </p:normalViewPr>
  <p:slideViewPr>
    <p:cSldViewPr snapToGrid="0" snapToObjects="1">
      <p:cViewPr varScale="1">
        <p:scale>
          <a:sx n="84" d="100"/>
          <a:sy n="84" d="100"/>
        </p:scale>
        <p:origin x="432" y="64"/>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113" d="100"/>
          <a:sy n="113" d="100"/>
        </p:scale>
        <p:origin x="1668"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3DC0C369-13E3-C04F-AA91-3C19CF4D27E6}" type="datetimeFigureOut">
              <a:rPr lang="nl-NL" smtClean="0"/>
              <a:t>23-10-2026</a:t>
            </a:fld>
            <a:endParaRPr lang="nl-NL"/>
          </a:p>
        </p:txBody>
      </p:sp>
      <p:sp>
        <p:nvSpPr>
          <p:cNvPr id="4" name="Tijdelijke aanduiding voor voettekst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4268B745-3CC2-3B46-A8BC-FE1F07A08324}" type="slidenum">
              <a:rPr lang="nl-NL" smtClean="0"/>
              <a:t>‹#›</a:t>
            </a:fld>
            <a:endParaRPr lang="nl-NL"/>
          </a:p>
        </p:txBody>
      </p:sp>
    </p:spTree>
    <p:extLst>
      <p:ext uri="{BB962C8B-B14F-4D97-AF65-F5344CB8AC3E}">
        <p14:creationId xmlns:p14="http://schemas.microsoft.com/office/powerpoint/2010/main" val="17458237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F37D42C8-A255-5F4D-A951-1B90F54B60E2}" type="datetimeFigureOut">
              <a:rPr lang="nl-NL" smtClean="0"/>
              <a:t>23-10-2026</a:t>
            </a:fld>
            <a:endParaRPr lang="nl-NL"/>
          </a:p>
        </p:txBody>
      </p:sp>
      <p:sp>
        <p:nvSpPr>
          <p:cNvPr id="4" name="Tijdelijke aanduiding voor dia-afbeelding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19775814-5E86-5743-808B-FA33B96378ED}" type="slidenum">
              <a:rPr lang="nl-NL" smtClean="0"/>
              <a:t>‹#›</a:t>
            </a:fld>
            <a:endParaRPr lang="nl-NL"/>
          </a:p>
        </p:txBody>
      </p:sp>
    </p:spTree>
    <p:extLst>
      <p:ext uri="{BB962C8B-B14F-4D97-AF65-F5344CB8AC3E}">
        <p14:creationId xmlns:p14="http://schemas.microsoft.com/office/powerpoint/2010/main" val="279788416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r>
              <a:rPr lang="en-US" dirty="0"/>
              <a:t>Games and game-playing agents have long been the source of many breakthroughs in AI research over the years. Think about traditional board games like Chess and Go, but also videogames like the old Atari games, </a:t>
            </a:r>
            <a:r>
              <a:rPr lang="en-US" dirty="0" err="1"/>
              <a:t>Starcraft</a:t>
            </a:r>
            <a:r>
              <a:rPr lang="en-US" dirty="0"/>
              <a:t>, and Dota, which all acted as key milestones in fields like search, reasoning, reinforcement learning, and deep learning.</a:t>
            </a:r>
          </a:p>
          <a:p>
            <a:endParaRPr lang="en-US" dirty="0"/>
          </a:p>
          <a:p>
            <a:r>
              <a:rPr lang="en-US" dirty="0"/>
              <a:t>While games have long played a key role in the research of artificial intelligence, using modern games for this purpose is significantly more challenging; one reason is that games have obviously gotten a lot more complex over the years, but another, maybe overlooked, reason is that a lot of modern games are live-service: they receive frequent content updates, balance patches, seasonal events, etc., mostly to retain player engagement. This is a big problem for the development of competitive agents, because this violates the assumption of stationarity, and it leaves us with the question of what to do with an agent when the game it was trained on is suddenly updated?</a:t>
            </a:r>
          </a:p>
          <a:p>
            <a:endParaRPr lang="en-US" dirty="0"/>
          </a:p>
        </p:txBody>
      </p:sp>
      <p:sp>
        <p:nvSpPr>
          <p:cNvPr id="4" name="Slide Number Placeholder 3"/>
          <p:cNvSpPr>
            <a:spLocks noGrp="1"/>
          </p:cNvSpPr>
          <p:nvPr>
            <p:ph type="sldNum" sz="quarter" idx="5"/>
          </p:nvPr>
        </p:nvSpPr>
        <p:spPr/>
        <p:txBody>
          <a:bodyPr/>
          <a:lstStyle/>
          <a:p>
            <a:fld id="{19775814-5E86-5743-808B-FA33B96378ED}" type="slidenum">
              <a:rPr lang="nl-NL" smtClean="0"/>
              <a:t>2</a:t>
            </a:fld>
            <a:endParaRPr lang="nl-NL"/>
          </a:p>
        </p:txBody>
      </p:sp>
    </p:spTree>
    <p:extLst>
      <p:ext uri="{BB962C8B-B14F-4D97-AF65-F5344CB8AC3E}">
        <p14:creationId xmlns:p14="http://schemas.microsoft.com/office/powerpoint/2010/main" val="4015171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2782-6AFB-91DA-B9EA-A77538CA2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CBF8B-A84F-6306-CEB9-B87A4EC2020B}"/>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4EBDF5FC-EA86-B4FB-647F-2487FC8933D4}"/>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1709396A-DDCF-8997-42B2-448BF81027A7}"/>
              </a:ext>
            </a:extLst>
          </p:cNvPr>
          <p:cNvSpPr>
            <a:spLocks noGrp="1"/>
          </p:cNvSpPr>
          <p:nvPr>
            <p:ph type="sldNum" sz="quarter" idx="5"/>
          </p:nvPr>
        </p:nvSpPr>
        <p:spPr/>
        <p:txBody>
          <a:bodyPr/>
          <a:lstStyle/>
          <a:p>
            <a:fld id="{19775814-5E86-5743-808B-FA33B96378ED}" type="slidenum">
              <a:rPr lang="nl-NL" smtClean="0"/>
              <a:t>3</a:t>
            </a:fld>
            <a:endParaRPr lang="nl-NL"/>
          </a:p>
        </p:txBody>
      </p:sp>
    </p:spTree>
    <p:extLst>
      <p:ext uri="{BB962C8B-B14F-4D97-AF65-F5344CB8AC3E}">
        <p14:creationId xmlns:p14="http://schemas.microsoft.com/office/powerpoint/2010/main" val="2766192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28E9-7F7A-E835-876B-4E776E119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AFBA1-63FD-D1FD-ECE5-DBC4CBEF7D8F}"/>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14C9867F-4DF7-4D04-BEEE-6CA9A730E79A}"/>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AF2A45B6-F2A3-62D2-2BF7-F4EFFCF67B5C}"/>
              </a:ext>
            </a:extLst>
          </p:cNvPr>
          <p:cNvSpPr>
            <a:spLocks noGrp="1"/>
          </p:cNvSpPr>
          <p:nvPr>
            <p:ph type="sldNum" sz="quarter" idx="5"/>
          </p:nvPr>
        </p:nvSpPr>
        <p:spPr/>
        <p:txBody>
          <a:bodyPr/>
          <a:lstStyle/>
          <a:p>
            <a:fld id="{19775814-5E86-5743-808B-FA33B96378ED}" type="slidenum">
              <a:rPr lang="nl-NL" smtClean="0"/>
              <a:t>4</a:t>
            </a:fld>
            <a:endParaRPr lang="nl-NL"/>
          </a:p>
        </p:txBody>
      </p:sp>
    </p:spTree>
    <p:extLst>
      <p:ext uri="{BB962C8B-B14F-4D97-AF65-F5344CB8AC3E}">
        <p14:creationId xmlns:p14="http://schemas.microsoft.com/office/powerpoint/2010/main" val="2981319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A0E5-33DD-FA6E-E9D9-1AA628931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3C6-3A23-A6E4-044F-425813767B57}"/>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8AEC3D1E-2AFD-228B-4A96-0747E4B99CFE}"/>
              </a:ext>
            </a:extLst>
          </p:cNvPr>
          <p:cNvSpPr>
            <a:spLocks noGrp="1"/>
          </p:cNvSpPr>
          <p:nvPr>
            <p:ph type="body" idx="1"/>
          </p:nvPr>
        </p:nvSpPr>
        <p:spPr/>
        <p:txBody>
          <a:bodyPr/>
          <a:lstStyle/>
          <a:p>
            <a:r>
              <a:rPr lang="en-US" dirty="0"/>
              <a:t>Same training steps, so upper bound of expected performance.</a:t>
            </a:r>
          </a:p>
          <a:p>
            <a:endParaRPr lang="en-US" dirty="0"/>
          </a:p>
          <a:p>
            <a:r>
              <a:rPr lang="en-US" dirty="0"/>
              <a:t>Transfer is beneficial short-term, stagnates long term (likely loss of plasticity).</a:t>
            </a:r>
            <a:endParaRPr lang="nl-NL" dirty="0"/>
          </a:p>
        </p:txBody>
      </p:sp>
      <p:sp>
        <p:nvSpPr>
          <p:cNvPr id="4" name="Slide Number Placeholder 3">
            <a:extLst>
              <a:ext uri="{FF2B5EF4-FFF2-40B4-BE49-F238E27FC236}">
                <a16:creationId xmlns:a16="http://schemas.microsoft.com/office/drawing/2014/main" id="{9837C7E7-19F4-B19B-F002-57829914F942}"/>
              </a:ext>
            </a:extLst>
          </p:cNvPr>
          <p:cNvSpPr>
            <a:spLocks noGrp="1"/>
          </p:cNvSpPr>
          <p:nvPr>
            <p:ph type="sldNum" sz="quarter" idx="5"/>
          </p:nvPr>
        </p:nvSpPr>
        <p:spPr/>
        <p:txBody>
          <a:bodyPr/>
          <a:lstStyle/>
          <a:p>
            <a:fld id="{19775814-5E86-5743-808B-FA33B96378ED}" type="slidenum">
              <a:rPr lang="nl-NL" smtClean="0"/>
              <a:t>5</a:t>
            </a:fld>
            <a:endParaRPr lang="nl-NL"/>
          </a:p>
        </p:txBody>
      </p:sp>
    </p:spTree>
    <p:extLst>
      <p:ext uri="{BB962C8B-B14F-4D97-AF65-F5344CB8AC3E}">
        <p14:creationId xmlns:p14="http://schemas.microsoft.com/office/powerpoint/2010/main" val="2098959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CFC8-B9B1-E3F9-3E06-884E2929F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E7B1C-A763-B3FA-57BF-8E657699263C}"/>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234C2E69-5D39-54BA-B76B-DB4DDBA1A3E8}"/>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C0CFC11C-2DF7-4D52-8122-CFF75F8B94E0}"/>
              </a:ext>
            </a:extLst>
          </p:cNvPr>
          <p:cNvSpPr>
            <a:spLocks noGrp="1"/>
          </p:cNvSpPr>
          <p:nvPr>
            <p:ph type="sldNum" sz="quarter" idx="5"/>
          </p:nvPr>
        </p:nvSpPr>
        <p:spPr/>
        <p:txBody>
          <a:bodyPr/>
          <a:lstStyle/>
          <a:p>
            <a:fld id="{19775814-5E86-5743-808B-FA33B96378ED}" type="slidenum">
              <a:rPr lang="nl-NL" smtClean="0"/>
              <a:t>6</a:t>
            </a:fld>
            <a:endParaRPr lang="nl-NL"/>
          </a:p>
        </p:txBody>
      </p:sp>
    </p:spTree>
    <p:extLst>
      <p:ext uri="{BB962C8B-B14F-4D97-AF65-F5344CB8AC3E}">
        <p14:creationId xmlns:p14="http://schemas.microsoft.com/office/powerpoint/2010/main" val="3517491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E93BA-9A66-F85F-2AF8-8AA1889A0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3CF7C-B537-0F69-CC11-622334C226ED}"/>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F098D734-20FB-85D7-B9C5-3E9A56899F3C}"/>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48A20AB4-074C-2370-7765-882A93B98029}"/>
              </a:ext>
            </a:extLst>
          </p:cNvPr>
          <p:cNvSpPr>
            <a:spLocks noGrp="1"/>
          </p:cNvSpPr>
          <p:nvPr>
            <p:ph type="sldNum" sz="quarter" idx="5"/>
          </p:nvPr>
        </p:nvSpPr>
        <p:spPr/>
        <p:txBody>
          <a:bodyPr/>
          <a:lstStyle/>
          <a:p>
            <a:fld id="{19775814-5E86-5743-808B-FA33B96378ED}" type="slidenum">
              <a:rPr lang="nl-NL" smtClean="0"/>
              <a:t>7</a:t>
            </a:fld>
            <a:endParaRPr lang="nl-NL"/>
          </a:p>
        </p:txBody>
      </p:sp>
    </p:spTree>
    <p:extLst>
      <p:ext uri="{BB962C8B-B14F-4D97-AF65-F5344CB8AC3E}">
        <p14:creationId xmlns:p14="http://schemas.microsoft.com/office/powerpoint/2010/main" val="4224686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17361-974D-1624-1949-10F6058AC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1411D-F84A-71F3-4ABF-14095079C6B5}"/>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C2CFF49C-EF62-95AD-3D03-E13492F4856F}"/>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C02928A9-A6DA-B0B8-701D-B3109CB6A5BA}"/>
              </a:ext>
            </a:extLst>
          </p:cNvPr>
          <p:cNvSpPr>
            <a:spLocks noGrp="1"/>
          </p:cNvSpPr>
          <p:nvPr>
            <p:ph type="sldNum" sz="quarter" idx="5"/>
          </p:nvPr>
        </p:nvSpPr>
        <p:spPr/>
        <p:txBody>
          <a:bodyPr/>
          <a:lstStyle/>
          <a:p>
            <a:fld id="{19775814-5E86-5743-808B-FA33B96378ED}" type="slidenum">
              <a:rPr lang="nl-NL" smtClean="0"/>
              <a:t>8</a:t>
            </a:fld>
            <a:endParaRPr lang="nl-NL"/>
          </a:p>
        </p:txBody>
      </p:sp>
    </p:spTree>
    <p:extLst>
      <p:ext uri="{BB962C8B-B14F-4D97-AF65-F5344CB8AC3E}">
        <p14:creationId xmlns:p14="http://schemas.microsoft.com/office/powerpoint/2010/main" val="52443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5625-4E14-54ED-9730-18BB83B79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77F3D-DAE2-7C99-9CA6-339F52084331}"/>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92F9FBCF-FD55-2D0F-2D96-503D8404D69A}"/>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C6B1DF40-89E9-DBDA-1BEA-42B5C606FD28}"/>
              </a:ext>
            </a:extLst>
          </p:cNvPr>
          <p:cNvSpPr>
            <a:spLocks noGrp="1"/>
          </p:cNvSpPr>
          <p:nvPr>
            <p:ph type="sldNum" sz="quarter" idx="5"/>
          </p:nvPr>
        </p:nvSpPr>
        <p:spPr/>
        <p:txBody>
          <a:bodyPr/>
          <a:lstStyle/>
          <a:p>
            <a:fld id="{19775814-5E86-5743-808B-FA33B96378ED}" type="slidenum">
              <a:rPr lang="nl-NL" smtClean="0"/>
              <a:t>9</a:t>
            </a:fld>
            <a:endParaRPr lang="nl-NL"/>
          </a:p>
        </p:txBody>
      </p:sp>
    </p:spTree>
    <p:extLst>
      <p:ext uri="{BB962C8B-B14F-4D97-AF65-F5344CB8AC3E}">
        <p14:creationId xmlns:p14="http://schemas.microsoft.com/office/powerpoint/2010/main" val="1047038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5E67-AB06-BD72-7301-AC256E909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17BD1-C25D-2615-7535-D7FA33265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81804-86EE-B5BD-1734-BBF5CBA18F8F}"/>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3DE22926-BA50-886E-87E1-12377F745F2E}"/>
              </a:ext>
            </a:extLst>
          </p:cNvPr>
          <p:cNvSpPr>
            <a:spLocks noGrp="1"/>
          </p:cNvSpPr>
          <p:nvPr>
            <p:ph type="sldNum" sz="quarter" idx="5"/>
          </p:nvPr>
        </p:nvSpPr>
        <p:spPr/>
        <p:txBody>
          <a:bodyPr/>
          <a:lstStyle/>
          <a:p>
            <a:fld id="{19775814-5E86-5743-808B-FA33B96378ED}" type="slidenum">
              <a:rPr lang="nl-NL" smtClean="0"/>
              <a:t>14</a:t>
            </a:fld>
            <a:endParaRPr lang="nl-NL"/>
          </a:p>
        </p:txBody>
      </p:sp>
    </p:spTree>
    <p:extLst>
      <p:ext uri="{BB962C8B-B14F-4D97-AF65-F5344CB8AC3E}">
        <p14:creationId xmlns:p14="http://schemas.microsoft.com/office/powerpoint/2010/main" val="3745940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47C0B-A6C2-DD69-1605-26DA791D6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AACE3-9D0F-8677-C218-CA3FD793E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42201-2CB1-7375-7FEE-39D72A83469A}"/>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36FC8C6A-2787-1AF7-DC63-8D4143AD2365}"/>
              </a:ext>
            </a:extLst>
          </p:cNvPr>
          <p:cNvSpPr>
            <a:spLocks noGrp="1"/>
          </p:cNvSpPr>
          <p:nvPr>
            <p:ph type="sldNum" sz="quarter" idx="5"/>
          </p:nvPr>
        </p:nvSpPr>
        <p:spPr/>
        <p:txBody>
          <a:bodyPr/>
          <a:lstStyle/>
          <a:p>
            <a:fld id="{19775814-5E86-5743-808B-FA33B96378ED}" type="slidenum">
              <a:rPr lang="nl-NL" smtClean="0"/>
              <a:t>15</a:t>
            </a:fld>
            <a:endParaRPr lang="nl-NL"/>
          </a:p>
        </p:txBody>
      </p:sp>
    </p:spTree>
    <p:extLst>
      <p:ext uri="{BB962C8B-B14F-4D97-AF65-F5344CB8AC3E}">
        <p14:creationId xmlns:p14="http://schemas.microsoft.com/office/powerpoint/2010/main" val="2401774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Retraining from scratch is still superior, but continual learning is still beneficial to RL agents in VGC!</a:t>
            </a:r>
            <a:endParaRPr lang="nl-NL" dirty="0"/>
          </a:p>
        </p:txBody>
      </p:sp>
      <p:sp>
        <p:nvSpPr>
          <p:cNvPr id="4" name="Slide Number Placeholder 3"/>
          <p:cNvSpPr>
            <a:spLocks noGrp="1"/>
          </p:cNvSpPr>
          <p:nvPr>
            <p:ph type="sldNum" sz="quarter" idx="5"/>
          </p:nvPr>
        </p:nvSpPr>
        <p:spPr/>
        <p:txBody>
          <a:bodyPr/>
          <a:lstStyle/>
          <a:p>
            <a:fld id="{19775814-5E86-5743-808B-FA33B96378ED}" type="slidenum">
              <a:rPr lang="nl-NL" smtClean="0"/>
              <a:t>16</a:t>
            </a:fld>
            <a:endParaRPr lang="nl-NL"/>
          </a:p>
        </p:txBody>
      </p:sp>
    </p:spTree>
    <p:extLst>
      <p:ext uri="{BB962C8B-B14F-4D97-AF65-F5344CB8AC3E}">
        <p14:creationId xmlns:p14="http://schemas.microsoft.com/office/powerpoint/2010/main" val="3780728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Modern </a:t>
            </a:r>
            <a:r>
              <a:rPr lang="nl-NL" dirty="0" err="1"/>
              <a:t>competitive</a:t>
            </a:r>
            <a:r>
              <a:rPr lang="nl-NL" dirty="0"/>
              <a:t> games, like VGC, are </a:t>
            </a:r>
            <a:r>
              <a:rPr lang="nl-NL" dirty="0" err="1"/>
              <a:t>an</a:t>
            </a:r>
            <a:r>
              <a:rPr lang="nl-NL" dirty="0"/>
              <a:t> </a:t>
            </a:r>
            <a:r>
              <a:rPr lang="nl-NL" dirty="0" err="1"/>
              <a:t>intuitive</a:t>
            </a:r>
            <a:r>
              <a:rPr lang="nl-NL" dirty="0"/>
              <a:t> </a:t>
            </a:r>
            <a:r>
              <a:rPr lang="nl-NL" dirty="0" err="1"/>
              <a:t>example</a:t>
            </a:r>
            <a:r>
              <a:rPr lang="nl-NL" dirty="0"/>
              <a:t> of </a:t>
            </a:r>
            <a:r>
              <a:rPr lang="nl-NL" dirty="0" err="1"/>
              <a:t>naturally</a:t>
            </a:r>
            <a:r>
              <a:rPr lang="nl-NL" dirty="0"/>
              <a:t> </a:t>
            </a:r>
            <a:r>
              <a:rPr lang="nl-NL" dirty="0" err="1"/>
              <a:t>evolving</a:t>
            </a:r>
            <a:r>
              <a:rPr lang="nl-NL" dirty="0"/>
              <a:t> non-</a:t>
            </a:r>
            <a:r>
              <a:rPr lang="nl-NL" dirty="0" err="1"/>
              <a:t>stationary</a:t>
            </a:r>
            <a:r>
              <a:rPr lang="nl-NL" dirty="0"/>
              <a:t> environments </a:t>
            </a:r>
            <a:r>
              <a:rPr lang="nl-NL" dirty="0" err="1"/>
              <a:t>with</a:t>
            </a:r>
            <a:r>
              <a:rPr lang="nl-NL" dirty="0"/>
              <a:t> </a:t>
            </a:r>
            <a:r>
              <a:rPr lang="nl-NL" dirty="0" err="1"/>
              <a:t>clearly</a:t>
            </a:r>
            <a:r>
              <a:rPr lang="nl-NL" dirty="0"/>
              <a:t> </a:t>
            </a:r>
            <a:r>
              <a:rPr lang="nl-NL" dirty="0" err="1"/>
              <a:t>defined</a:t>
            </a:r>
            <a:r>
              <a:rPr lang="nl-NL" dirty="0"/>
              <a:t> </a:t>
            </a:r>
            <a:r>
              <a:rPr lang="nl-NL" dirty="0" err="1"/>
              <a:t>rules</a:t>
            </a:r>
            <a:r>
              <a:rPr lang="nl-NL" dirty="0"/>
              <a:t>, goals, </a:t>
            </a:r>
            <a:r>
              <a:rPr lang="nl-NL" dirty="0" err="1"/>
              <a:t>and</a:t>
            </a:r>
            <a:r>
              <a:rPr lang="nl-NL" dirty="0"/>
              <a:t> </a:t>
            </a:r>
            <a:r>
              <a:rPr lang="nl-NL" dirty="0" err="1"/>
              <a:t>task</a:t>
            </a:r>
            <a:r>
              <a:rPr lang="nl-NL" dirty="0"/>
              <a:t> </a:t>
            </a:r>
            <a:r>
              <a:rPr lang="nl-NL" dirty="0" err="1"/>
              <a:t>boundaries</a:t>
            </a:r>
            <a:r>
              <a:rPr lang="nl-NL" dirty="0"/>
              <a:t>. </a:t>
            </a:r>
            <a:r>
              <a:rPr lang="nl-NL" dirty="0" err="1"/>
              <a:t>With</a:t>
            </a:r>
            <a:r>
              <a:rPr lang="nl-NL" dirty="0"/>
              <a:t> </a:t>
            </a:r>
            <a:r>
              <a:rPr lang="nl-NL" dirty="0" err="1"/>
              <a:t>continual</a:t>
            </a:r>
            <a:r>
              <a:rPr lang="nl-NL" dirty="0"/>
              <a:t> </a:t>
            </a:r>
            <a:r>
              <a:rPr lang="nl-NL" dirty="0" err="1"/>
              <a:t>learning</a:t>
            </a:r>
            <a:r>
              <a:rPr lang="nl-NL" dirty="0"/>
              <a:t> </a:t>
            </a:r>
            <a:r>
              <a:rPr lang="nl-NL" dirty="0" err="1"/>
              <a:t>aiming</a:t>
            </a:r>
            <a:r>
              <a:rPr lang="nl-NL" dirty="0"/>
              <a:t> </a:t>
            </a:r>
            <a:r>
              <a:rPr lang="nl-NL" dirty="0" err="1"/>
              <a:t>to</a:t>
            </a:r>
            <a:r>
              <a:rPr lang="nl-NL" dirty="0"/>
              <a:t> </a:t>
            </a:r>
            <a:r>
              <a:rPr lang="nl-NL" dirty="0" err="1"/>
              <a:t>solve</a:t>
            </a:r>
            <a:r>
              <a:rPr lang="nl-NL" dirty="0"/>
              <a:t> </a:t>
            </a:r>
            <a:r>
              <a:rPr lang="nl-NL" dirty="0" err="1"/>
              <a:t>the</a:t>
            </a:r>
            <a:r>
              <a:rPr lang="nl-NL" dirty="0"/>
              <a:t> </a:t>
            </a:r>
            <a:r>
              <a:rPr lang="nl-NL" dirty="0" err="1"/>
              <a:t>problem</a:t>
            </a:r>
            <a:r>
              <a:rPr lang="nl-NL" dirty="0"/>
              <a:t> of </a:t>
            </a:r>
            <a:r>
              <a:rPr lang="nl-NL" dirty="0" err="1"/>
              <a:t>how</a:t>
            </a:r>
            <a:r>
              <a:rPr lang="nl-NL" dirty="0"/>
              <a:t> </a:t>
            </a:r>
            <a:r>
              <a:rPr lang="nl-NL" dirty="0" err="1"/>
              <a:t>to</a:t>
            </a:r>
            <a:r>
              <a:rPr lang="nl-NL" dirty="0"/>
              <a:t> </a:t>
            </a:r>
            <a:r>
              <a:rPr lang="nl-NL" dirty="0" err="1"/>
              <a:t>allow</a:t>
            </a:r>
            <a:r>
              <a:rPr lang="nl-NL" dirty="0"/>
              <a:t> </a:t>
            </a:r>
            <a:r>
              <a:rPr lang="nl-NL" dirty="0" err="1"/>
              <a:t>agents</a:t>
            </a:r>
            <a:r>
              <a:rPr lang="nl-NL" dirty="0"/>
              <a:t> </a:t>
            </a:r>
            <a:r>
              <a:rPr lang="nl-NL" dirty="0" err="1"/>
              <a:t>to</a:t>
            </a:r>
            <a:r>
              <a:rPr lang="nl-NL" dirty="0"/>
              <a:t> keep </a:t>
            </a:r>
            <a:r>
              <a:rPr lang="nl-NL" dirty="0" err="1"/>
              <a:t>learning</a:t>
            </a:r>
            <a:r>
              <a:rPr lang="nl-NL" dirty="0"/>
              <a:t> </a:t>
            </a:r>
            <a:r>
              <a:rPr lang="nl-NL" dirty="0" err="1"/>
              <a:t>and</a:t>
            </a:r>
            <a:r>
              <a:rPr lang="nl-NL" dirty="0"/>
              <a:t> </a:t>
            </a:r>
            <a:r>
              <a:rPr lang="nl-NL" dirty="0" err="1"/>
              <a:t>improving</a:t>
            </a:r>
            <a:r>
              <a:rPr lang="nl-NL" dirty="0"/>
              <a:t> </a:t>
            </a:r>
            <a:r>
              <a:rPr lang="nl-NL" dirty="0" err="1"/>
              <a:t>after</a:t>
            </a:r>
            <a:r>
              <a:rPr lang="nl-NL" dirty="0"/>
              <a:t> </a:t>
            </a:r>
            <a:r>
              <a:rPr lang="nl-NL" dirty="0" err="1"/>
              <a:t>deployment</a:t>
            </a:r>
            <a:r>
              <a:rPr lang="nl-NL" dirty="0"/>
              <a:t>, we </a:t>
            </a:r>
            <a:r>
              <a:rPr lang="nl-NL" dirty="0" err="1"/>
              <a:t>believe</a:t>
            </a:r>
            <a:r>
              <a:rPr lang="nl-NL" dirty="0"/>
              <a:t> </a:t>
            </a:r>
            <a:r>
              <a:rPr lang="nl-NL" dirty="0" err="1"/>
              <a:t>that</a:t>
            </a:r>
            <a:r>
              <a:rPr lang="nl-NL" dirty="0"/>
              <a:t> non-</a:t>
            </a:r>
            <a:r>
              <a:rPr lang="nl-NL" dirty="0" err="1"/>
              <a:t>stationary</a:t>
            </a:r>
            <a:r>
              <a:rPr lang="nl-NL" dirty="0"/>
              <a:t> games </a:t>
            </a:r>
            <a:r>
              <a:rPr lang="nl-NL" dirty="0" err="1"/>
              <a:t>could</a:t>
            </a:r>
            <a:r>
              <a:rPr lang="nl-NL" dirty="0"/>
              <a:t> serve as a </a:t>
            </a:r>
            <a:r>
              <a:rPr lang="nl-NL" dirty="0" err="1"/>
              <a:t>natural</a:t>
            </a:r>
            <a:r>
              <a:rPr lang="nl-NL" dirty="0"/>
              <a:t> benchmark, </a:t>
            </a:r>
            <a:r>
              <a:rPr lang="nl-NL" dirty="0" err="1"/>
              <a:t>another</a:t>
            </a:r>
            <a:r>
              <a:rPr lang="nl-NL" dirty="0"/>
              <a:t> “</a:t>
            </a:r>
            <a:r>
              <a:rPr lang="nl-NL" dirty="0" err="1"/>
              <a:t>key</a:t>
            </a:r>
            <a:r>
              <a:rPr lang="nl-NL" dirty="0"/>
              <a:t> </a:t>
            </a:r>
            <a:r>
              <a:rPr lang="nl-NL" dirty="0" err="1"/>
              <a:t>milestone</a:t>
            </a:r>
            <a:r>
              <a:rPr lang="nl-NL" dirty="0"/>
              <a:t>” </a:t>
            </a:r>
            <a:r>
              <a:rPr lang="nl-NL" dirty="0" err="1"/>
              <a:t>for</a:t>
            </a:r>
            <a:r>
              <a:rPr lang="nl-NL" dirty="0"/>
              <a:t> AI research, </a:t>
            </a:r>
            <a:r>
              <a:rPr lang="nl-NL" dirty="0" err="1"/>
              <a:t>and</a:t>
            </a:r>
            <a:r>
              <a:rPr lang="nl-NL" dirty="0"/>
              <a:t> help </a:t>
            </a:r>
            <a:r>
              <a:rPr lang="nl-NL" dirty="0" err="1"/>
              <a:t>facilitate</a:t>
            </a:r>
            <a:r>
              <a:rPr lang="nl-NL" dirty="0"/>
              <a:t> a </a:t>
            </a:r>
            <a:r>
              <a:rPr lang="nl-NL" dirty="0" err="1"/>
              <a:t>greater</a:t>
            </a:r>
            <a:r>
              <a:rPr lang="nl-NL" dirty="0"/>
              <a:t> </a:t>
            </a:r>
            <a:r>
              <a:rPr lang="nl-NL" dirty="0" err="1"/>
              <a:t>understanding</a:t>
            </a:r>
            <a:r>
              <a:rPr lang="nl-NL" dirty="0"/>
              <a:t> of </a:t>
            </a:r>
            <a:r>
              <a:rPr lang="nl-NL" dirty="0" err="1"/>
              <a:t>how</a:t>
            </a:r>
            <a:r>
              <a:rPr lang="nl-NL" dirty="0"/>
              <a:t> </a:t>
            </a:r>
            <a:r>
              <a:rPr lang="nl-NL" dirty="0" err="1"/>
              <a:t>agents</a:t>
            </a:r>
            <a:r>
              <a:rPr lang="nl-NL" dirty="0"/>
              <a:t> </a:t>
            </a:r>
            <a:r>
              <a:rPr lang="nl-NL" dirty="0" err="1"/>
              <a:t>can</a:t>
            </a:r>
            <a:r>
              <a:rPr lang="nl-NL" dirty="0"/>
              <a:t> </a:t>
            </a:r>
            <a:r>
              <a:rPr lang="nl-NL" dirty="0" err="1"/>
              <a:t>remain</a:t>
            </a:r>
            <a:r>
              <a:rPr lang="nl-NL" dirty="0"/>
              <a:t> </a:t>
            </a:r>
            <a:r>
              <a:rPr lang="nl-NL" dirty="0" err="1"/>
              <a:t>effective</a:t>
            </a:r>
            <a:r>
              <a:rPr lang="nl-NL" dirty="0"/>
              <a:t> in </a:t>
            </a:r>
            <a:r>
              <a:rPr lang="nl-NL" dirty="0" err="1"/>
              <a:t>evolving</a:t>
            </a:r>
            <a:r>
              <a:rPr lang="nl-NL" dirty="0"/>
              <a:t> environments.</a:t>
            </a:r>
          </a:p>
        </p:txBody>
      </p:sp>
      <p:sp>
        <p:nvSpPr>
          <p:cNvPr id="4" name="Slide Number Placeholder 3"/>
          <p:cNvSpPr>
            <a:spLocks noGrp="1"/>
          </p:cNvSpPr>
          <p:nvPr>
            <p:ph type="sldNum" sz="quarter" idx="5"/>
          </p:nvPr>
        </p:nvSpPr>
        <p:spPr/>
        <p:txBody>
          <a:bodyPr/>
          <a:lstStyle/>
          <a:p>
            <a:fld id="{19775814-5E86-5743-808B-FA33B96378ED}" type="slidenum">
              <a:rPr lang="nl-NL" smtClean="0"/>
              <a:t>17</a:t>
            </a:fld>
            <a:endParaRPr lang="nl-NL"/>
          </a:p>
        </p:txBody>
      </p:sp>
    </p:spTree>
    <p:extLst>
      <p:ext uri="{BB962C8B-B14F-4D97-AF65-F5344CB8AC3E}">
        <p14:creationId xmlns:p14="http://schemas.microsoft.com/office/powerpoint/2010/main" val="3467800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3E1C-7740-0EC3-D897-0A9CA294B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82476-B374-A634-3F35-81780486AB7D}"/>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7E4F9385-3A4D-9C7F-A103-EB016C54BFFA}"/>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C81B7233-8D81-E566-2921-5CD0D27FE2C9}"/>
              </a:ext>
            </a:extLst>
          </p:cNvPr>
          <p:cNvSpPr>
            <a:spLocks noGrp="1"/>
          </p:cNvSpPr>
          <p:nvPr>
            <p:ph type="sldNum" sz="quarter" idx="5"/>
          </p:nvPr>
        </p:nvSpPr>
        <p:spPr/>
        <p:txBody>
          <a:bodyPr/>
          <a:lstStyle/>
          <a:p>
            <a:fld id="{19775814-5E86-5743-808B-FA33B96378ED}" type="slidenum">
              <a:rPr lang="nl-NL" smtClean="0"/>
              <a:t>21</a:t>
            </a:fld>
            <a:endParaRPr lang="nl-NL"/>
          </a:p>
        </p:txBody>
      </p:sp>
    </p:spTree>
    <p:extLst>
      <p:ext uri="{BB962C8B-B14F-4D97-AF65-F5344CB8AC3E}">
        <p14:creationId xmlns:p14="http://schemas.microsoft.com/office/powerpoint/2010/main" val="12853854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FS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64587" y="189852"/>
            <a:ext cx="7377145" cy="1653944"/>
          </a:xfrm>
        </p:spPr>
        <p:txBody>
          <a:bodyPr>
            <a:noAutofit/>
          </a:bodyPr>
          <a:lstStyle>
            <a:lvl1pPr>
              <a:defRPr sz="54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564588" y="1829639"/>
            <a:ext cx="4196618" cy="1314450"/>
          </a:xfrm>
        </p:spPr>
        <p:txBody>
          <a:bodyPr/>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dirty="0"/>
              <a:t>Klik om de titelstijl van het model te bewerken</a:t>
            </a:r>
          </a:p>
        </p:txBody>
      </p:sp>
      <p:pic>
        <p:nvPicPr>
          <p:cNvPr id="7" name="Afbeelding 6"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360001" y="4630499"/>
            <a:ext cx="1590638" cy="381853"/>
          </a:xfrm>
          <a:prstGeom prst="rect">
            <a:avLst/>
          </a:prstGeom>
        </p:spPr>
      </p:pic>
      <p:pic>
        <p:nvPicPr>
          <p:cNvPr id="4" name="Picture 3"/>
          <p:cNvPicPr>
            <a:picLocks noChangeAspect="1"/>
          </p:cNvPicPr>
          <p:nvPr userDrawn="1"/>
        </p:nvPicPr>
        <p:blipFill>
          <a:blip r:embed="rId3"/>
          <a:stretch>
            <a:fillRect/>
          </a:stretch>
        </p:blipFill>
        <p:spPr>
          <a:xfrm>
            <a:off x="-242887" y="1583127"/>
            <a:ext cx="11034716" cy="3560373"/>
          </a:xfrm>
          <a:prstGeom prst="rect">
            <a:avLst/>
          </a:prstGeom>
        </p:spPr>
      </p:pic>
    </p:spTree>
    <p:extLst>
      <p:ext uri="{BB962C8B-B14F-4D97-AF65-F5344CB8AC3E}">
        <p14:creationId xmlns:p14="http://schemas.microsoft.com/office/powerpoint/2010/main" val="2683276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FSE">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64587" y="189852"/>
            <a:ext cx="7377145" cy="1653944"/>
          </a:xfrm>
        </p:spPr>
        <p:txBody>
          <a:bodyPr>
            <a:noAutofit/>
          </a:bodyPr>
          <a:lstStyle>
            <a:lvl1pPr>
              <a:defRPr sz="54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564588" y="1829639"/>
            <a:ext cx="4196618" cy="1314450"/>
          </a:xfrm>
        </p:spPr>
        <p:txBody>
          <a:bodyPr/>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dirty="0"/>
              <a:t>Klik om de titelstijl van het model te bewerken</a:t>
            </a:r>
          </a:p>
        </p:txBody>
      </p:sp>
      <p:pic>
        <p:nvPicPr>
          <p:cNvPr id="7" name="Afbeelding 6"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360001" y="4630499"/>
            <a:ext cx="1590638" cy="381853"/>
          </a:xfrm>
          <a:prstGeom prst="rect">
            <a:avLst/>
          </a:prstGeom>
        </p:spPr>
      </p:pic>
      <p:pic>
        <p:nvPicPr>
          <p:cNvPr id="4" name="Picture 3"/>
          <p:cNvPicPr>
            <a:picLocks noChangeAspect="1"/>
          </p:cNvPicPr>
          <p:nvPr userDrawn="1"/>
        </p:nvPicPr>
        <p:blipFill>
          <a:blip r:embed="rId3"/>
          <a:stretch>
            <a:fillRect/>
          </a:stretch>
        </p:blipFill>
        <p:spPr>
          <a:xfrm>
            <a:off x="-242887" y="1583127"/>
            <a:ext cx="11034716" cy="3560373"/>
          </a:xfrm>
          <a:prstGeom prst="rect">
            <a:avLst/>
          </a:prstGeom>
        </p:spPr>
      </p:pic>
    </p:spTree>
    <p:extLst>
      <p:ext uri="{BB962C8B-B14F-4D97-AF65-F5344CB8AC3E}">
        <p14:creationId xmlns:p14="http://schemas.microsoft.com/office/powerpoint/2010/main" val="369650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3_Title slide FSE">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64587" y="189852"/>
            <a:ext cx="7377145" cy="1653944"/>
          </a:xfrm>
        </p:spPr>
        <p:txBody>
          <a:bodyPr>
            <a:noAutofit/>
          </a:bodyPr>
          <a:lstStyle>
            <a:lvl1pPr>
              <a:defRPr sz="54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564588" y="1829639"/>
            <a:ext cx="4196618" cy="1314450"/>
          </a:xfrm>
        </p:spPr>
        <p:txBody>
          <a:bodyPr/>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dirty="0"/>
              <a:t>Klik om de titelstijl van het model te bewerken</a:t>
            </a:r>
          </a:p>
        </p:txBody>
      </p:sp>
      <p:pic>
        <p:nvPicPr>
          <p:cNvPr id="7" name="Afbeelding 6"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360001" y="4630499"/>
            <a:ext cx="1590638" cy="381853"/>
          </a:xfrm>
          <a:prstGeom prst="rect">
            <a:avLst/>
          </a:prstGeom>
        </p:spPr>
      </p:pic>
      <p:pic>
        <p:nvPicPr>
          <p:cNvPr id="4" name="Picture 3"/>
          <p:cNvPicPr>
            <a:picLocks noChangeAspect="1"/>
          </p:cNvPicPr>
          <p:nvPr userDrawn="1"/>
        </p:nvPicPr>
        <p:blipFill>
          <a:blip r:embed="rId3"/>
          <a:stretch>
            <a:fillRect/>
          </a:stretch>
        </p:blipFill>
        <p:spPr>
          <a:xfrm>
            <a:off x="-242887" y="1583127"/>
            <a:ext cx="11034716" cy="3560373"/>
          </a:xfrm>
          <a:prstGeom prst="rect">
            <a:avLst/>
          </a:prstGeom>
        </p:spPr>
      </p:pic>
    </p:spTree>
    <p:extLst>
      <p:ext uri="{BB962C8B-B14F-4D97-AF65-F5344CB8AC3E}">
        <p14:creationId xmlns:p14="http://schemas.microsoft.com/office/powerpoint/2010/main" val="1359251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10"/>
          </p:nvPr>
        </p:nvSpPr>
        <p:spPr/>
        <p:txBody>
          <a:bodyPr/>
          <a:lstStyle/>
          <a:p>
            <a:endParaRPr lang="nl-NL"/>
          </a:p>
        </p:txBody>
      </p:sp>
      <p:sp>
        <p:nvSpPr>
          <p:cNvPr id="5" name="Tijdelijke aanduiding voor voettekst 4"/>
          <p:cNvSpPr>
            <a:spLocks noGrp="1"/>
          </p:cNvSpPr>
          <p:nvPr>
            <p:ph type="ftr" sz="quarter" idx="11"/>
          </p:nvPr>
        </p:nvSpPr>
        <p:spPr/>
        <p:txBody>
          <a:bodyPr/>
          <a:lstStyle/>
          <a:p>
            <a:r>
              <a:rPr lang="nl-NL" dirty="0" err="1"/>
              <a:t>Faculty</a:t>
            </a:r>
            <a:r>
              <a:rPr lang="nl-NL" dirty="0"/>
              <a:t> of </a:t>
            </a:r>
            <a:r>
              <a:rPr lang="nl-NL" dirty="0" err="1"/>
              <a:t>Science</a:t>
            </a:r>
            <a:r>
              <a:rPr lang="nl-NL" dirty="0"/>
              <a:t> </a:t>
            </a:r>
            <a:r>
              <a:rPr lang="nl-NL" dirty="0" err="1"/>
              <a:t>and</a:t>
            </a:r>
            <a:r>
              <a:rPr lang="nl-NL" dirty="0"/>
              <a:t> Engineering</a:t>
            </a:r>
          </a:p>
          <a:p>
            <a:endParaRPr lang="nl-NL" dirty="0"/>
          </a:p>
        </p:txBody>
      </p:sp>
      <p:sp>
        <p:nvSpPr>
          <p:cNvPr id="6" name="Tijdelijke aanduiding voor dianummer 5"/>
          <p:cNvSpPr>
            <a:spLocks noGrp="1"/>
          </p:cNvSpPr>
          <p:nvPr>
            <p:ph type="sldNum" sz="quarter" idx="12"/>
          </p:nvPr>
        </p:nvSpPr>
        <p:spPr/>
        <p:txBody>
          <a:bodyPr/>
          <a:lstStyle/>
          <a:p>
            <a:fld id="{09B7AD4A-C94A-7B42-9E17-606C7F366C4B}" type="slidenum">
              <a:rPr lang="nl-NL" smtClean="0"/>
              <a:t>‹#›</a:t>
            </a:fld>
            <a:endParaRPr lang="nl-NL"/>
          </a:p>
        </p:txBody>
      </p:sp>
      <p:pic>
        <p:nvPicPr>
          <p:cNvPr id="7" name="Afbeelding 6"/>
          <p:cNvPicPr>
            <a:picLocks noChangeAspect="1"/>
          </p:cNvPicPr>
          <p:nvPr userDrawn="1"/>
        </p:nvPicPr>
        <p:blipFill rotWithShape="1">
          <a:blip r:embed="rId2"/>
          <a:srcRect r="19769"/>
          <a:stretch/>
        </p:blipFill>
        <p:spPr>
          <a:xfrm>
            <a:off x="360001" y="4630216"/>
            <a:ext cx="1602792" cy="379730"/>
          </a:xfrm>
          <a:prstGeom prst="rect">
            <a:avLst/>
          </a:prstGeom>
        </p:spPr>
      </p:pic>
    </p:spTree>
    <p:extLst>
      <p:ext uri="{BB962C8B-B14F-4D97-AF65-F5344CB8AC3E}">
        <p14:creationId xmlns:p14="http://schemas.microsoft.com/office/powerpoint/2010/main" val="2942172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ext slide dark blue">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10"/>
          </p:nvPr>
        </p:nvSpPr>
        <p:spPr/>
        <p:txBody>
          <a:bodyPr/>
          <a:lstStyle>
            <a:lvl1pPr>
              <a:defRPr>
                <a:solidFill>
                  <a:srgbClr val="FFFFFF"/>
                </a:solidFill>
              </a:defRPr>
            </a:lvl1pPr>
          </a:lstStyle>
          <a:p>
            <a:endParaRPr lang="nl-NL" dirty="0"/>
          </a:p>
        </p:txBody>
      </p:sp>
      <p:sp>
        <p:nvSpPr>
          <p:cNvPr id="5" name="Tijdelijke aanduiding voor voettekst 4"/>
          <p:cNvSpPr>
            <a:spLocks noGrp="1"/>
          </p:cNvSpPr>
          <p:nvPr>
            <p:ph type="ftr" sz="quarter" idx="11"/>
          </p:nvPr>
        </p:nvSpPr>
        <p:spPr/>
        <p:txBody>
          <a:bodyPr/>
          <a:lstStyle>
            <a:lvl1pPr>
              <a:defRPr>
                <a:solidFill>
                  <a:srgbClr val="FFFFFF"/>
                </a:solidFill>
              </a:defRPr>
            </a:lvl1pPr>
          </a:lstStyle>
          <a:p>
            <a:r>
              <a:rPr lang="nl-NL" dirty="0" err="1"/>
              <a:t>Faculty</a:t>
            </a:r>
            <a:r>
              <a:rPr lang="nl-NL" dirty="0"/>
              <a:t> of </a:t>
            </a:r>
            <a:r>
              <a:rPr lang="nl-NL" dirty="0" err="1"/>
              <a:t>Science</a:t>
            </a:r>
            <a:r>
              <a:rPr lang="nl-NL" dirty="0"/>
              <a:t> </a:t>
            </a:r>
            <a:r>
              <a:rPr lang="nl-NL" dirty="0" err="1"/>
              <a:t>and</a:t>
            </a:r>
            <a:r>
              <a:rPr lang="nl-NL" dirty="0"/>
              <a:t> Engineering</a:t>
            </a:r>
          </a:p>
          <a:p>
            <a:endParaRPr lang="nl-NL" dirty="0"/>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1235"/>
          <a:stretch/>
        </p:blipFill>
        <p:spPr>
          <a:xfrm>
            <a:off x="360001" y="4630499"/>
            <a:ext cx="1572408" cy="381853"/>
          </a:xfrm>
          <a:prstGeom prst="rect">
            <a:avLst/>
          </a:prstGeom>
        </p:spPr>
      </p:pic>
    </p:spTree>
    <p:extLst>
      <p:ext uri="{BB962C8B-B14F-4D97-AF65-F5344CB8AC3E}">
        <p14:creationId xmlns:p14="http://schemas.microsoft.com/office/powerpoint/2010/main" val="2773197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ext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nl-NL" dirty="0"/>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10"/>
          </p:nvPr>
        </p:nvSpPr>
        <p:spPr/>
        <p:txBody>
          <a:bodyPr/>
          <a:lstStyle>
            <a:lvl1pPr>
              <a:defRPr>
                <a:solidFill>
                  <a:srgbClr val="FFFFFF"/>
                </a:solidFill>
              </a:defRPr>
            </a:lvl1pPr>
          </a:lstStyle>
          <a:p>
            <a:endParaRPr lang="nl-NL" dirty="0"/>
          </a:p>
        </p:txBody>
      </p:sp>
      <p:sp>
        <p:nvSpPr>
          <p:cNvPr id="5" name="Tijdelijke aanduiding voor voettekst 4"/>
          <p:cNvSpPr>
            <a:spLocks noGrp="1"/>
          </p:cNvSpPr>
          <p:nvPr>
            <p:ph type="ftr" sz="quarter" idx="11"/>
          </p:nvPr>
        </p:nvSpPr>
        <p:spPr/>
        <p:txBody>
          <a:bodyPr/>
          <a:lstStyle>
            <a:lvl1pPr>
              <a:defRPr>
                <a:solidFill>
                  <a:srgbClr val="FFFFFF"/>
                </a:solidFill>
              </a:defRPr>
            </a:lvl1pPr>
          </a:lstStyle>
          <a:p>
            <a:r>
              <a:rPr lang="nl-NL" dirty="0" err="1"/>
              <a:t>Faculty</a:t>
            </a:r>
            <a:r>
              <a:rPr lang="nl-NL" dirty="0"/>
              <a:t> of </a:t>
            </a:r>
            <a:r>
              <a:rPr lang="nl-NL" dirty="0" err="1"/>
              <a:t>Science</a:t>
            </a:r>
            <a:r>
              <a:rPr lang="nl-NL" dirty="0"/>
              <a:t> </a:t>
            </a:r>
            <a:r>
              <a:rPr lang="nl-NL" dirty="0" err="1"/>
              <a:t>and</a:t>
            </a:r>
            <a:r>
              <a:rPr lang="nl-NL" dirty="0"/>
              <a:t> Engineering</a:t>
            </a:r>
          </a:p>
          <a:p>
            <a:endParaRPr lang="nl-NL" dirty="0"/>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360001" y="4630501"/>
            <a:ext cx="1590638" cy="381853"/>
          </a:xfrm>
          <a:prstGeom prst="rect">
            <a:avLst/>
          </a:prstGeom>
        </p:spPr>
      </p:pic>
    </p:spTree>
    <p:extLst>
      <p:ext uri="{BB962C8B-B14F-4D97-AF65-F5344CB8AC3E}">
        <p14:creationId xmlns:p14="http://schemas.microsoft.com/office/powerpoint/2010/main" val="1516089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photo slide">
    <p:spTree>
      <p:nvGrpSpPr>
        <p:cNvPr id="1" name=""/>
        <p:cNvGrpSpPr/>
        <p:nvPr/>
      </p:nvGrpSpPr>
      <p:grpSpPr>
        <a:xfrm>
          <a:off x="0" y="0"/>
          <a:ext cx="0" cy="0"/>
          <a:chOff x="0" y="0"/>
          <a:chExt cx="0" cy="0"/>
        </a:xfrm>
      </p:grpSpPr>
      <p:sp>
        <p:nvSpPr>
          <p:cNvPr id="2" name="Titel 1"/>
          <p:cNvSpPr>
            <a:spLocks noGrp="1"/>
          </p:cNvSpPr>
          <p:nvPr>
            <p:ph type="title"/>
          </p:nvPr>
        </p:nvSpPr>
        <p:spPr>
          <a:xfrm>
            <a:off x="360001" y="310695"/>
            <a:ext cx="3934625" cy="1174423"/>
          </a:xfrm>
        </p:spPr>
        <p:txBody>
          <a:bodyPr/>
          <a:lstStyle/>
          <a:p>
            <a:r>
              <a:rPr lang="nl-NL" dirty="0"/>
              <a:t>Titelstijl van model bewerken</a:t>
            </a:r>
          </a:p>
        </p:txBody>
      </p:sp>
      <p:sp>
        <p:nvSpPr>
          <p:cNvPr id="3" name="Tijdelijke aanduiding voor inhoud 2"/>
          <p:cNvSpPr>
            <a:spLocks noGrp="1"/>
          </p:cNvSpPr>
          <p:nvPr>
            <p:ph idx="1"/>
          </p:nvPr>
        </p:nvSpPr>
        <p:spPr>
          <a:xfrm>
            <a:off x="360001" y="1485117"/>
            <a:ext cx="3934624" cy="2857572"/>
          </a:xfrm>
        </p:spPr>
        <p:txBody>
          <a:bodyPr/>
          <a:lstStyle>
            <a:lvl3pPr marL="715962" indent="0">
              <a:buNone/>
              <a:defRPr/>
            </a:lvl3pPr>
          </a:lstStyle>
          <a:p>
            <a:pPr lvl="0"/>
            <a:r>
              <a:rPr lang="nl-NL" dirty="0"/>
              <a:t>Klik om de tekststijl van het model te bewerken</a:t>
            </a:r>
          </a:p>
          <a:p>
            <a:pPr lvl="1"/>
            <a:r>
              <a:rPr lang="nl-NL" dirty="0"/>
              <a:t>Tweede niveau</a:t>
            </a:r>
          </a:p>
        </p:txBody>
      </p:sp>
      <p:sp>
        <p:nvSpPr>
          <p:cNvPr id="4" name="Tijdelijke aanduiding voor datum 3"/>
          <p:cNvSpPr>
            <a:spLocks noGrp="1"/>
          </p:cNvSpPr>
          <p:nvPr>
            <p:ph type="dt" sz="half" idx="10"/>
          </p:nvPr>
        </p:nvSpPr>
        <p:spPr>
          <a:xfrm>
            <a:off x="4595043" y="4738971"/>
            <a:ext cx="550734" cy="273844"/>
          </a:xfrm>
        </p:spPr>
        <p:txBody>
          <a:bodyPr/>
          <a:lstStyle/>
          <a:p>
            <a:endParaRPr lang="nl-NL"/>
          </a:p>
        </p:txBody>
      </p:sp>
      <p:sp>
        <p:nvSpPr>
          <p:cNvPr id="5" name="Tijdelijke aanduiding voor voettekst 4"/>
          <p:cNvSpPr>
            <a:spLocks noGrp="1"/>
          </p:cNvSpPr>
          <p:nvPr>
            <p:ph type="ftr" sz="quarter" idx="11"/>
          </p:nvPr>
        </p:nvSpPr>
        <p:spPr>
          <a:xfrm>
            <a:off x="4745252" y="4738971"/>
            <a:ext cx="3449951" cy="273844"/>
          </a:xfrm>
        </p:spPr>
        <p:txBody>
          <a:bodyPr/>
          <a:lstStyle/>
          <a:p>
            <a:r>
              <a:rPr lang="en-US"/>
              <a:t>Faculty of Science and Engineering </a:t>
            </a:r>
            <a:endParaRPr lang="nl-NL"/>
          </a:p>
        </p:txBody>
      </p:sp>
      <p:sp>
        <p:nvSpPr>
          <p:cNvPr id="6" name="Tijdelijke aanduiding voor dianummer 5"/>
          <p:cNvSpPr>
            <a:spLocks noGrp="1"/>
          </p:cNvSpPr>
          <p:nvPr>
            <p:ph type="sldNum" sz="quarter" idx="12"/>
          </p:nvPr>
        </p:nvSpPr>
        <p:spPr>
          <a:xfrm>
            <a:off x="8195205" y="4738800"/>
            <a:ext cx="569977" cy="273844"/>
          </a:xfrm>
        </p:spPr>
        <p:txBody>
          <a:bodyPr/>
          <a:lstStyle/>
          <a:p>
            <a:fld id="{09B7AD4A-C94A-7B42-9E17-606C7F366C4B}" type="slidenum">
              <a:rPr lang="nl-NL" smtClean="0"/>
              <a:t>‹#›</a:t>
            </a:fld>
            <a:endParaRPr lang="nl-NL"/>
          </a:p>
        </p:txBody>
      </p:sp>
      <p:sp>
        <p:nvSpPr>
          <p:cNvPr id="8" name="Tijdelijke aanduiding voor afbeelding 7"/>
          <p:cNvSpPr>
            <a:spLocks noGrp="1"/>
          </p:cNvSpPr>
          <p:nvPr>
            <p:ph type="pic" sz="quarter" idx="13"/>
          </p:nvPr>
        </p:nvSpPr>
        <p:spPr>
          <a:xfrm>
            <a:off x="4595044" y="0"/>
            <a:ext cx="4548957" cy="5143500"/>
          </a:xfrm>
          <a:solidFill>
            <a:schemeClr val="bg1">
              <a:lumMod val="85000"/>
            </a:schemeClr>
          </a:solidFill>
        </p:spPr>
        <p:txBody>
          <a:bodyPr/>
          <a:lstStyle/>
          <a:p>
            <a:endParaRPr lang="nl-NL"/>
          </a:p>
        </p:txBody>
      </p:sp>
      <p:pic>
        <p:nvPicPr>
          <p:cNvPr id="9" name="Afbeelding 8"/>
          <p:cNvPicPr>
            <a:picLocks noChangeAspect="1"/>
          </p:cNvPicPr>
          <p:nvPr userDrawn="1"/>
        </p:nvPicPr>
        <p:blipFill rotWithShape="1">
          <a:blip r:embed="rId2"/>
          <a:srcRect r="19769"/>
          <a:stretch/>
        </p:blipFill>
        <p:spPr>
          <a:xfrm>
            <a:off x="360001" y="4630216"/>
            <a:ext cx="1602792" cy="379730"/>
          </a:xfrm>
          <a:prstGeom prst="rect">
            <a:avLst/>
          </a:prstGeom>
        </p:spPr>
      </p:pic>
    </p:spTree>
    <p:extLst>
      <p:ext uri="{BB962C8B-B14F-4D97-AF65-F5344CB8AC3E}">
        <p14:creationId xmlns:p14="http://schemas.microsoft.com/office/powerpoint/2010/main" val="258325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sli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0" y="0"/>
            <a:ext cx="9144000" cy="5143500"/>
          </a:xfrm>
          <a:solidFill>
            <a:schemeClr val="bg2">
              <a:lumMod val="85000"/>
            </a:schemeClr>
          </a:solidFill>
        </p:spPr>
        <p:txBody>
          <a:bodyPr/>
          <a:lstStyle/>
          <a:p>
            <a:endParaRPr lang="nl-NL" dirty="0"/>
          </a:p>
        </p:txBody>
      </p:sp>
      <p:sp>
        <p:nvSpPr>
          <p:cNvPr id="11" name="Tijdelijke aanduiding voor tekst 6">
            <a:extLst>
              <a:ext uri="{FF2B5EF4-FFF2-40B4-BE49-F238E27FC236}">
                <a16:creationId xmlns:a16="http://schemas.microsoft.com/office/drawing/2014/main" id="{65C5AF04-DC40-0847-A150-8AD1FF13551E}"/>
              </a:ext>
            </a:extLst>
          </p:cNvPr>
          <p:cNvSpPr>
            <a:spLocks noGrp="1"/>
          </p:cNvSpPr>
          <p:nvPr>
            <p:ph type="body" sz="quarter" idx="15" hasCustomPrompt="1"/>
          </p:nvPr>
        </p:nvSpPr>
        <p:spPr>
          <a:xfrm>
            <a:off x="358700" y="4686937"/>
            <a:ext cx="1533600" cy="233363"/>
          </a:xfrm>
          <a:blipFill>
            <a:blip r:embed="rId2"/>
            <a:stretch>
              <a:fillRect/>
            </a:stretch>
          </a:blipFill>
        </p:spPr>
        <p:txBody>
          <a:bodyPr/>
          <a:lstStyle>
            <a:lvl1pPr marL="0" indent="0" algn="ctr">
              <a:buNone/>
              <a:defRPr sz="800"/>
            </a:lvl1pPr>
            <a:lvl2pPr marL="358775" indent="0">
              <a:buNone/>
              <a:defRPr sz="800"/>
            </a:lvl2pPr>
            <a:lvl3pPr marL="715962" indent="0">
              <a:buNone/>
              <a:defRPr sz="800"/>
            </a:lvl3pPr>
            <a:lvl4pPr marL="1074738" indent="0">
              <a:buNone/>
              <a:defRPr sz="800"/>
            </a:lvl4pPr>
            <a:lvl5pPr marL="1433512" indent="0">
              <a:buNone/>
              <a:defRPr sz="800"/>
            </a:lvl5pPr>
          </a:lstStyle>
          <a:p>
            <a:pPr lvl="0"/>
            <a:r>
              <a:rPr lang="nl-NL" dirty="0"/>
              <a:t>  </a:t>
            </a:r>
          </a:p>
        </p:txBody>
      </p:sp>
      <p:sp>
        <p:nvSpPr>
          <p:cNvPr id="6" name="Date Placeholder 5"/>
          <p:cNvSpPr>
            <a:spLocks noGrp="1"/>
          </p:cNvSpPr>
          <p:nvPr>
            <p:ph type="dt" sz="half" idx="16"/>
          </p:nvPr>
        </p:nvSpPr>
        <p:spPr/>
        <p:txBody>
          <a:bodyPr/>
          <a:lstStyle/>
          <a:p>
            <a:endParaRPr lang="nl-NL" dirty="0"/>
          </a:p>
        </p:txBody>
      </p:sp>
      <p:sp>
        <p:nvSpPr>
          <p:cNvPr id="7" name="Footer Placeholder 6"/>
          <p:cNvSpPr>
            <a:spLocks noGrp="1"/>
          </p:cNvSpPr>
          <p:nvPr>
            <p:ph type="ftr" sz="quarter" idx="17"/>
          </p:nvPr>
        </p:nvSpPr>
        <p:spPr/>
        <p:txBody>
          <a:bodyPr/>
          <a:lstStyle/>
          <a:p>
            <a:r>
              <a:rPr lang="en-US"/>
              <a:t>Faculty of Science and Engineering </a:t>
            </a:r>
            <a:endParaRPr lang="nl-NL" dirty="0"/>
          </a:p>
        </p:txBody>
      </p:sp>
      <p:sp>
        <p:nvSpPr>
          <p:cNvPr id="8" name="Slide Number Placeholder 7"/>
          <p:cNvSpPr>
            <a:spLocks noGrp="1"/>
          </p:cNvSpPr>
          <p:nvPr>
            <p:ph type="sldNum" sz="quarter" idx="18"/>
          </p:nvPr>
        </p:nvSpPr>
        <p:spPr/>
        <p:txBody>
          <a:body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1078255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Titelstijl van model bewerken</a:t>
            </a:r>
          </a:p>
        </p:txBody>
      </p:sp>
      <p:sp>
        <p:nvSpPr>
          <p:cNvPr id="3" name="Tijdelijke aanduiding voor datum 2"/>
          <p:cNvSpPr>
            <a:spLocks noGrp="1"/>
          </p:cNvSpPr>
          <p:nvPr>
            <p:ph type="dt" sz="half" idx="10"/>
          </p:nvPr>
        </p:nvSpPr>
        <p:spPr/>
        <p:txBody>
          <a:bodyPr/>
          <a:lstStyle/>
          <a:p>
            <a:endParaRPr lang="nl-NL"/>
          </a:p>
        </p:txBody>
      </p:sp>
      <p:sp>
        <p:nvSpPr>
          <p:cNvPr id="4" name="Tijdelijke aanduiding voor voettekst 3"/>
          <p:cNvSpPr>
            <a:spLocks noGrp="1"/>
          </p:cNvSpPr>
          <p:nvPr>
            <p:ph type="ftr" sz="quarter" idx="11"/>
          </p:nvPr>
        </p:nvSpPr>
        <p:spPr/>
        <p:txBody>
          <a:bodyPr/>
          <a:lstStyle/>
          <a:p>
            <a:r>
              <a:rPr lang="nl-NL" dirty="0" err="1"/>
              <a:t>Faculty</a:t>
            </a:r>
            <a:r>
              <a:rPr lang="nl-NL" dirty="0"/>
              <a:t> of </a:t>
            </a:r>
            <a:r>
              <a:rPr lang="nl-NL" dirty="0" err="1"/>
              <a:t>Science</a:t>
            </a:r>
            <a:r>
              <a:rPr lang="nl-NL" dirty="0"/>
              <a:t> </a:t>
            </a:r>
            <a:r>
              <a:rPr lang="nl-NL" dirty="0" err="1"/>
              <a:t>and</a:t>
            </a:r>
            <a:r>
              <a:rPr lang="nl-NL" dirty="0"/>
              <a:t> Engineering</a:t>
            </a:r>
          </a:p>
          <a:p>
            <a:endParaRPr lang="nl-NL" dirty="0"/>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t>‹#›</a:t>
            </a:fld>
            <a:endParaRPr lang="nl-NL"/>
          </a:p>
        </p:txBody>
      </p:sp>
      <p:sp>
        <p:nvSpPr>
          <p:cNvPr id="7" name="Tijdelijke aanduiding voor tabel 6"/>
          <p:cNvSpPr>
            <a:spLocks noGrp="1"/>
          </p:cNvSpPr>
          <p:nvPr>
            <p:ph type="tbl" sz="quarter" idx="13"/>
          </p:nvPr>
        </p:nvSpPr>
        <p:spPr>
          <a:xfrm>
            <a:off x="360364" y="972000"/>
            <a:ext cx="8326437" cy="3231923"/>
          </a:xfrm>
        </p:spPr>
        <p:txBody>
          <a:bodyPr/>
          <a:lstStyle/>
          <a:p>
            <a:endParaRPr lang="nl-NL"/>
          </a:p>
        </p:txBody>
      </p:sp>
      <p:pic>
        <p:nvPicPr>
          <p:cNvPr id="8" name="Afbeelding 7"/>
          <p:cNvPicPr>
            <a:picLocks noChangeAspect="1"/>
          </p:cNvPicPr>
          <p:nvPr userDrawn="1"/>
        </p:nvPicPr>
        <p:blipFill rotWithShape="1">
          <a:blip r:embed="rId2"/>
          <a:srcRect r="19769"/>
          <a:stretch/>
        </p:blipFill>
        <p:spPr>
          <a:xfrm>
            <a:off x="360001" y="4630216"/>
            <a:ext cx="1602792" cy="379730"/>
          </a:xfrm>
          <a:prstGeom prst="rect">
            <a:avLst/>
          </a:prstGeom>
        </p:spPr>
      </p:pic>
    </p:spTree>
    <p:extLst>
      <p:ext uri="{BB962C8B-B14F-4D97-AF65-F5344CB8AC3E}">
        <p14:creationId xmlns:p14="http://schemas.microsoft.com/office/powerpoint/2010/main" val="2621371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360000" y="310695"/>
            <a:ext cx="8326799" cy="567000"/>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360000" y="972000"/>
            <a:ext cx="8326799" cy="3333862"/>
          </a:xfrm>
          <a:prstGeom prst="rect">
            <a:avLst/>
          </a:prstGeom>
        </p:spPr>
        <p:txBody>
          <a:bodyPr vert="horz" lIns="0" tIns="0" rIns="0" bIns="0" rtlCol="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3234468" y="4738971"/>
            <a:ext cx="914465" cy="273844"/>
          </a:xfrm>
          <a:prstGeom prst="rect">
            <a:avLst/>
          </a:prstGeom>
        </p:spPr>
        <p:txBody>
          <a:bodyPr vert="horz" lIns="0" tIns="0" rIns="0" bIns="0" rtlCol="0" anchor="t" anchorCtr="0"/>
          <a:lstStyle>
            <a:lvl1pPr algn="r">
              <a:defRPr sz="1000">
                <a:solidFill>
                  <a:schemeClr val="tx1"/>
                </a:solidFill>
                <a:latin typeface="+mj-lt"/>
                <a:cs typeface="Verdana"/>
              </a:defRPr>
            </a:lvl1pPr>
          </a:lstStyle>
          <a:p>
            <a:endParaRPr lang="nl-NL" dirty="0"/>
          </a:p>
        </p:txBody>
      </p:sp>
      <p:sp>
        <p:nvSpPr>
          <p:cNvPr id="5" name="Tijdelijke aanduiding voor voettekst 4"/>
          <p:cNvSpPr>
            <a:spLocks noGrp="1"/>
          </p:cNvSpPr>
          <p:nvPr>
            <p:ph type="ftr" sz="quarter" idx="3"/>
          </p:nvPr>
        </p:nvSpPr>
        <p:spPr>
          <a:xfrm>
            <a:off x="4273246" y="4738971"/>
            <a:ext cx="3977658" cy="273844"/>
          </a:xfrm>
          <a:prstGeom prst="rect">
            <a:avLst/>
          </a:prstGeom>
        </p:spPr>
        <p:txBody>
          <a:bodyPr vert="horz" lIns="0" tIns="0" rIns="0" bIns="0" rtlCol="0" anchor="t" anchorCtr="0"/>
          <a:lstStyle>
            <a:lvl1pPr algn="r">
              <a:defRPr sz="1000">
                <a:solidFill>
                  <a:schemeClr val="tx1"/>
                </a:solidFill>
                <a:latin typeface="+mn-lt"/>
                <a:cs typeface="Verdana"/>
              </a:defRPr>
            </a:lvl1pPr>
          </a:lstStyle>
          <a:p>
            <a:r>
              <a:rPr lang="en-US"/>
              <a:t>Faculty of Science and Engineering </a:t>
            </a:r>
            <a:endParaRPr lang="nl-NL" dirty="0"/>
          </a:p>
        </p:txBody>
      </p:sp>
      <p:sp>
        <p:nvSpPr>
          <p:cNvPr id="6" name="Tijdelijke aanduiding voor dianummer 5"/>
          <p:cNvSpPr>
            <a:spLocks noGrp="1"/>
          </p:cNvSpPr>
          <p:nvPr>
            <p:ph type="sldNum" sz="quarter" idx="4"/>
          </p:nvPr>
        </p:nvSpPr>
        <p:spPr>
          <a:xfrm>
            <a:off x="8316142" y="4738800"/>
            <a:ext cx="370657" cy="273844"/>
          </a:xfrm>
          <a:prstGeom prst="rect">
            <a:avLst/>
          </a:prstGeom>
        </p:spPr>
        <p:txBody>
          <a:bodyPr vert="horz" lIns="0" tIns="0" rIns="0" bIns="0" rtlCol="0" anchor="t" anchorCtr="0"/>
          <a:lstStyle>
            <a:lvl1pPr algn="r">
              <a:defRPr sz="1000">
                <a:solidFill>
                  <a:schemeClr val="tx1"/>
                </a:solidFill>
                <a:latin typeface="+mn-lt"/>
                <a:cs typeface="Verdana"/>
              </a:defRPr>
            </a:lvl1p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182581593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50" r:id="rId4"/>
    <p:sldLayoutId id="2147483655" r:id="rId5"/>
    <p:sldLayoutId id="2147483656" r:id="rId6"/>
    <p:sldLayoutId id="2147483663" r:id="rId7"/>
    <p:sldLayoutId id="2147483659" r:id="rId8"/>
    <p:sldLayoutId id="2147483654" r:id="rId9"/>
  </p:sldLayoutIdLst>
  <p:hf hdr="0" dt="0"/>
  <p:txStyles>
    <p:titleStyle>
      <a:lvl1pPr algn="l" defTabSz="457200" rtl="0" eaLnBrk="1" latinLnBrk="0" hangingPunct="1">
        <a:spcBef>
          <a:spcPct val="0"/>
        </a:spcBef>
        <a:buNone/>
        <a:defRPr sz="3200" b="1" kern="1200">
          <a:solidFill>
            <a:schemeClr val="tx2"/>
          </a:solidFill>
          <a:latin typeface="+mj-lt"/>
          <a:ea typeface="+mj-ea"/>
          <a:cs typeface="Verdana"/>
        </a:defRPr>
      </a:lvl1pPr>
    </p:titleStyle>
    <p:bodyStyle>
      <a:lvl1pPr marL="342900" indent="-342900" algn="l" defTabSz="457200" rtl="0" eaLnBrk="1" latinLnBrk="0" hangingPunct="1">
        <a:spcBef>
          <a:spcPts val="0"/>
        </a:spcBef>
        <a:buFont typeface="Arial"/>
        <a:buChar char="•"/>
        <a:defRPr sz="3200" kern="1200">
          <a:solidFill>
            <a:schemeClr val="tx1"/>
          </a:solidFill>
          <a:latin typeface="+mj-lt"/>
          <a:ea typeface="+mn-ea"/>
          <a:cs typeface="Verdana"/>
        </a:defRPr>
      </a:lvl1pPr>
      <a:lvl2pPr marL="717550" indent="-358775" algn="l" defTabSz="457200" rtl="0" eaLnBrk="1" latinLnBrk="0" hangingPunct="1">
        <a:spcBef>
          <a:spcPts val="0"/>
        </a:spcBef>
        <a:buFont typeface="Lucida Grande"/>
        <a:buChar char="-"/>
        <a:defRPr sz="2800" kern="1200">
          <a:solidFill>
            <a:schemeClr val="tx1"/>
          </a:solidFill>
          <a:latin typeface="+mj-lt"/>
          <a:ea typeface="+mn-ea"/>
          <a:cs typeface="Verdana"/>
        </a:defRPr>
      </a:lvl2pPr>
      <a:lvl3pPr marL="1073150" indent="-357188" algn="l" defTabSz="457200" rtl="0" eaLnBrk="1" latinLnBrk="0" hangingPunct="1">
        <a:spcBef>
          <a:spcPts val="0"/>
        </a:spcBef>
        <a:buFont typeface="Lucida Grande"/>
        <a:buChar char="-"/>
        <a:defRPr sz="2400" kern="1200">
          <a:solidFill>
            <a:schemeClr val="tx1"/>
          </a:solidFill>
          <a:latin typeface="+mj-lt"/>
          <a:ea typeface="+mn-ea"/>
          <a:cs typeface="Verdana"/>
        </a:defRPr>
      </a:lvl3pPr>
      <a:lvl4pPr marL="1430338" indent="-355600" algn="l" defTabSz="457200" rtl="0" eaLnBrk="1" latinLnBrk="0" hangingPunct="1">
        <a:spcBef>
          <a:spcPts val="0"/>
        </a:spcBef>
        <a:buFont typeface="Lucida Grande"/>
        <a:buChar char="-"/>
        <a:defRPr sz="2000" kern="1200">
          <a:solidFill>
            <a:schemeClr val="tx1"/>
          </a:solidFill>
          <a:latin typeface="+mj-lt"/>
          <a:ea typeface="+mn-ea"/>
          <a:cs typeface="Verdana"/>
        </a:defRPr>
      </a:lvl4pPr>
      <a:lvl5pPr marL="1793875" indent="-360363" algn="l" defTabSz="457200" rtl="0" eaLnBrk="1" latinLnBrk="0" hangingPunct="1">
        <a:spcBef>
          <a:spcPts val="0"/>
        </a:spcBef>
        <a:buFont typeface="Lucida Grande"/>
        <a:buChar char="-"/>
        <a:defRPr sz="2000" kern="1200">
          <a:solidFill>
            <a:schemeClr val="tx1"/>
          </a:solidFill>
          <a:latin typeface="+mj-lt"/>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mailto:thomas.vroom@maastrichtuniversity.nl"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2800" noProof="0" dirty="0"/>
              <a:t>Continual Reinforcement Learning for Evolving</a:t>
            </a:r>
            <a:br>
              <a:rPr lang="en-US" sz="2800" noProof="0" dirty="0"/>
            </a:br>
            <a:r>
              <a:rPr lang="en-US" sz="2800" noProof="0" dirty="0"/>
              <a:t>Games: Learning Across Game Updates in</a:t>
            </a:r>
            <a:br>
              <a:rPr lang="en-US" sz="2800" noProof="0" dirty="0"/>
            </a:br>
            <a:r>
              <a:rPr lang="en-US" sz="2800" noProof="0" dirty="0"/>
              <a:t>Competitive Pokémon</a:t>
            </a:r>
          </a:p>
        </p:txBody>
      </p:sp>
      <p:sp>
        <p:nvSpPr>
          <p:cNvPr id="3" name="Subtitle 2"/>
          <p:cNvSpPr>
            <a:spLocks noGrp="1"/>
          </p:cNvSpPr>
          <p:nvPr>
            <p:ph type="subTitle" idx="1"/>
          </p:nvPr>
        </p:nvSpPr>
        <p:spPr/>
        <p:txBody>
          <a:bodyPr/>
          <a:lstStyle/>
          <a:p>
            <a:r>
              <a:rPr lang="en-US" b="1" noProof="0" dirty="0"/>
              <a:t>Thomas Vroom</a:t>
            </a:r>
            <a:r>
              <a:rPr lang="en-US" noProof="0" dirty="0"/>
              <a:t>, Dennis J.N.J. </a:t>
            </a:r>
            <a:r>
              <a:rPr lang="en-US" noProof="0" dirty="0" err="1"/>
              <a:t>Soemers</a:t>
            </a:r>
            <a:endParaRPr lang="en-US" noProof="0" dirty="0"/>
          </a:p>
          <a:p>
            <a:r>
              <a:rPr lang="en-US" noProof="0" dirty="0"/>
              <a:t>BNAIC 2026</a:t>
            </a:r>
          </a:p>
        </p:txBody>
      </p:sp>
    </p:spTree>
    <p:extLst>
      <p:ext uri="{BB962C8B-B14F-4D97-AF65-F5344CB8AC3E}">
        <p14:creationId xmlns:p14="http://schemas.microsoft.com/office/powerpoint/2010/main" val="2232366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Introduction</a:t>
            </a:r>
          </a:p>
        </p:txBody>
      </p:sp>
      <p:sp>
        <p:nvSpPr>
          <p:cNvPr id="3" name="Content Placeholder 2"/>
          <p:cNvSpPr>
            <a:spLocks noGrp="1"/>
          </p:cNvSpPr>
          <p:nvPr>
            <p:ph idx="1"/>
          </p:nvPr>
        </p:nvSpPr>
        <p:spPr/>
        <p:txBody>
          <a:bodyPr/>
          <a:lstStyle/>
          <a:p>
            <a:r>
              <a:rPr lang="en-US" sz="2200" dirty="0"/>
              <a:t>Games have been the source of major breakthroughs in AI research:</a:t>
            </a:r>
          </a:p>
          <a:p>
            <a:pPr lvl="1"/>
            <a:r>
              <a:rPr lang="en-US" sz="2000" i="1" dirty="0"/>
              <a:t>Chess, Go, Atari, </a:t>
            </a:r>
            <a:r>
              <a:rPr lang="en-US" sz="2000" i="1" dirty="0" err="1"/>
              <a:t>Starcraft</a:t>
            </a:r>
            <a:r>
              <a:rPr lang="en-US" sz="2000" i="1" dirty="0"/>
              <a:t>, Dota, ...</a:t>
            </a:r>
          </a:p>
          <a:p>
            <a:pPr marL="0" indent="0">
              <a:buNone/>
            </a:pPr>
            <a:endParaRPr lang="en-US" sz="2200" i="1" noProof="0" dirty="0"/>
          </a:p>
          <a:p>
            <a:r>
              <a:rPr lang="en-US" sz="2200" dirty="0"/>
              <a:t>Modern games are often </a:t>
            </a:r>
            <a:r>
              <a:rPr lang="en-US" sz="2200" i="1" dirty="0"/>
              <a:t>live-service</a:t>
            </a:r>
            <a:r>
              <a:rPr lang="en-US" sz="2200" dirty="0"/>
              <a:t>: they receive frequent content updates, balance patches, seasonal events, etc.</a:t>
            </a:r>
          </a:p>
          <a:p>
            <a:pPr lvl="1"/>
            <a:r>
              <a:rPr lang="en-US" sz="2000" i="1" dirty="0"/>
              <a:t>Keep using the same strategy? </a:t>
            </a:r>
            <a:r>
              <a:rPr lang="en-US" sz="2000" dirty="0"/>
              <a:t>→ Unpredictable performance</a:t>
            </a:r>
          </a:p>
          <a:p>
            <a:pPr lvl="1"/>
            <a:r>
              <a:rPr lang="en-US" sz="2000" i="1" dirty="0"/>
              <a:t>Retrain after every update? </a:t>
            </a:r>
            <a:r>
              <a:rPr lang="en-US" sz="2000" dirty="0"/>
              <a:t>→ Expensive training costs</a:t>
            </a:r>
          </a:p>
          <a:p>
            <a:pPr lvl="1"/>
            <a:endParaRPr lang="en-US" sz="2200" noProof="0" dirty="0"/>
          </a:p>
          <a:p>
            <a:r>
              <a:rPr lang="en-US" sz="2200" dirty="0"/>
              <a:t>We investigate whether </a:t>
            </a:r>
            <a:r>
              <a:rPr lang="en-US" sz="2200" i="1" dirty="0"/>
              <a:t>continual reinforcement learning </a:t>
            </a:r>
            <a:r>
              <a:rPr lang="en-US" sz="2200" dirty="0"/>
              <a:t>can facilitate effective knowledge transfer </a:t>
            </a:r>
            <a:r>
              <a:rPr lang="en-US" sz="2200" i="1" dirty="0"/>
              <a:t>across</a:t>
            </a:r>
            <a:r>
              <a:rPr lang="en-US" sz="2200" dirty="0"/>
              <a:t> game updates.</a:t>
            </a:r>
          </a:p>
          <a:p>
            <a:pPr lvl="1"/>
            <a:r>
              <a:rPr lang="en-US" sz="1700" dirty="0"/>
              <a:t>Enable</a:t>
            </a:r>
            <a:r>
              <a:rPr lang="en-US" sz="1700" noProof="0" dirty="0"/>
              <a:t> agents to adapt over time, without forgetting previously learned knowledge.</a:t>
            </a:r>
          </a:p>
        </p:txBody>
      </p:sp>
      <p:sp>
        <p:nvSpPr>
          <p:cNvPr id="4" name="Footer Placeholder 3"/>
          <p:cNvSpPr>
            <a:spLocks noGrp="1"/>
          </p:cNvSpPr>
          <p:nvPr>
            <p:ph type="ftr" sz="quarter" idx="11"/>
          </p:nvPr>
        </p:nvSpPr>
        <p:spPr/>
        <p:txBody>
          <a:bodyPr/>
          <a:lstStyle/>
          <a:p>
            <a:r>
              <a:rPr lang="en-US" noProof="0" dirty="0"/>
              <a:t>Faculty of Science and Engineering</a:t>
            </a:r>
          </a:p>
          <a:p>
            <a:endParaRPr lang="en-US" noProof="0" dirty="0"/>
          </a:p>
        </p:txBody>
      </p:sp>
      <p:sp>
        <p:nvSpPr>
          <p:cNvPr id="5" name="Slide Number Placeholder 4"/>
          <p:cNvSpPr>
            <a:spLocks noGrp="1"/>
          </p:cNvSpPr>
          <p:nvPr>
            <p:ph type="sldNum" sz="quarter" idx="12"/>
          </p:nvPr>
        </p:nvSpPr>
        <p:spPr/>
        <p:txBody>
          <a:bodyPr/>
          <a:lstStyle/>
          <a:p>
            <a:fld id="{09B7AD4A-C94A-7B42-9E17-606C7F366C4B}" type="slidenum">
              <a:rPr lang="en-US" noProof="0" smtClean="0"/>
              <a:t>2</a:t>
            </a:fld>
            <a:endParaRPr lang="en-US" noProof="0" dirty="0"/>
          </a:p>
        </p:txBody>
      </p:sp>
    </p:spTree>
    <p:extLst>
      <p:ext uri="{BB962C8B-B14F-4D97-AF65-F5344CB8AC3E}">
        <p14:creationId xmlns:p14="http://schemas.microsoft.com/office/powerpoint/2010/main" val="360816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203CE-1298-2919-753F-6EAD00CA2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91AE4-8ADD-84C3-4C13-A754EFD6168E}"/>
              </a:ext>
            </a:extLst>
          </p:cNvPr>
          <p:cNvSpPr>
            <a:spLocks noGrp="1"/>
          </p:cNvSpPr>
          <p:nvPr>
            <p:ph type="title"/>
          </p:nvPr>
        </p:nvSpPr>
        <p:spPr/>
        <p:txBody>
          <a:bodyPr/>
          <a:lstStyle/>
          <a:p>
            <a:r>
              <a:rPr lang="en-US" noProof="0" dirty="0"/>
              <a:t>Introduction</a:t>
            </a:r>
          </a:p>
        </p:txBody>
      </p:sp>
      <p:sp>
        <p:nvSpPr>
          <p:cNvPr id="3" name="Content Placeholder 2">
            <a:extLst>
              <a:ext uri="{FF2B5EF4-FFF2-40B4-BE49-F238E27FC236}">
                <a16:creationId xmlns:a16="http://schemas.microsoft.com/office/drawing/2014/main" id="{FA8A6337-4E28-B979-E39B-522618987AA7}"/>
              </a:ext>
            </a:extLst>
          </p:cNvPr>
          <p:cNvSpPr>
            <a:spLocks noGrp="1"/>
          </p:cNvSpPr>
          <p:nvPr>
            <p:ph idx="1"/>
          </p:nvPr>
        </p:nvSpPr>
        <p:spPr/>
        <p:txBody>
          <a:bodyPr/>
          <a:lstStyle/>
          <a:p>
            <a:r>
              <a:rPr lang="en-US" sz="2400" dirty="0"/>
              <a:t>Our domain is competitive Pokémon, also known as </a:t>
            </a:r>
            <a:r>
              <a:rPr lang="en-US" sz="2400" i="1" dirty="0"/>
              <a:t>VGC</a:t>
            </a:r>
            <a:r>
              <a:rPr lang="en-US" sz="2400" dirty="0"/>
              <a:t>.</a:t>
            </a:r>
          </a:p>
          <a:p>
            <a:endParaRPr lang="en-US" sz="2400" dirty="0"/>
          </a:p>
          <a:p>
            <a:r>
              <a:rPr lang="en-US" sz="2400" dirty="0"/>
              <a:t>A very challenging game for AI (</a:t>
            </a:r>
            <a:r>
              <a:rPr lang="en-US" sz="2400" i="1" dirty="0"/>
              <a:t>simultaneous moves, high stochasticity, vast partial observability, etc.</a:t>
            </a:r>
            <a:r>
              <a:rPr lang="en-US" sz="2400" dirty="0"/>
              <a:t>).</a:t>
            </a:r>
          </a:p>
          <a:p>
            <a:endParaRPr lang="en-US" sz="2400" i="1" dirty="0"/>
          </a:p>
          <a:p>
            <a:r>
              <a:rPr lang="en-US" sz="2400" dirty="0"/>
              <a:t>Non-stationarity through seasonal rulesets.</a:t>
            </a:r>
          </a:p>
          <a:p>
            <a:pPr lvl="1"/>
            <a:r>
              <a:rPr lang="en-US" sz="2200" dirty="0"/>
              <a:t>Realistic example of non-stationarity.</a:t>
            </a:r>
          </a:p>
          <a:p>
            <a:pPr lvl="1"/>
            <a:r>
              <a:rPr lang="en-US" sz="2200" dirty="0"/>
              <a:t>Clear opportunity for knowledge transfer.</a:t>
            </a:r>
          </a:p>
        </p:txBody>
      </p:sp>
      <p:sp>
        <p:nvSpPr>
          <p:cNvPr id="4" name="Footer Placeholder 3">
            <a:extLst>
              <a:ext uri="{FF2B5EF4-FFF2-40B4-BE49-F238E27FC236}">
                <a16:creationId xmlns:a16="http://schemas.microsoft.com/office/drawing/2014/main" id="{3C70DC80-1A66-2388-7007-4126441DE77E}"/>
              </a:ext>
            </a:extLst>
          </p:cNvPr>
          <p:cNvSpPr>
            <a:spLocks noGrp="1"/>
          </p:cNvSpPr>
          <p:nvPr>
            <p:ph type="ftr" sz="quarter" idx="11"/>
          </p:nvPr>
        </p:nvSpPr>
        <p:spPr/>
        <p:txBody>
          <a:bodyPr/>
          <a:lstStyle/>
          <a:p>
            <a:r>
              <a:rPr lang="en-US" noProof="0" dirty="0"/>
              <a:t>Faculty of Science and Engineering</a:t>
            </a:r>
          </a:p>
          <a:p>
            <a:endParaRPr lang="en-US" noProof="0" dirty="0"/>
          </a:p>
        </p:txBody>
      </p:sp>
      <p:sp>
        <p:nvSpPr>
          <p:cNvPr id="5" name="Slide Number Placeholder 4">
            <a:extLst>
              <a:ext uri="{FF2B5EF4-FFF2-40B4-BE49-F238E27FC236}">
                <a16:creationId xmlns:a16="http://schemas.microsoft.com/office/drawing/2014/main" id="{58CF1C52-724D-D9F8-A956-D8D081B40085}"/>
              </a:ext>
            </a:extLst>
          </p:cNvPr>
          <p:cNvSpPr>
            <a:spLocks noGrp="1"/>
          </p:cNvSpPr>
          <p:nvPr>
            <p:ph type="sldNum" sz="quarter" idx="12"/>
          </p:nvPr>
        </p:nvSpPr>
        <p:spPr/>
        <p:txBody>
          <a:bodyPr/>
          <a:lstStyle/>
          <a:p>
            <a:fld id="{09B7AD4A-C94A-7B42-9E17-606C7F366C4B}" type="slidenum">
              <a:rPr lang="en-US" noProof="0" smtClean="0"/>
              <a:t>3</a:t>
            </a:fld>
            <a:endParaRPr lang="en-US" noProof="0" dirty="0"/>
          </a:p>
        </p:txBody>
      </p:sp>
      <p:pic>
        <p:nvPicPr>
          <p:cNvPr id="6" name="Picture 5">
            <a:extLst>
              <a:ext uri="{FF2B5EF4-FFF2-40B4-BE49-F238E27FC236}">
                <a16:creationId xmlns:a16="http://schemas.microsoft.com/office/drawing/2014/main" id="{8B040935-4D48-D1AA-B9EB-7688220A1D9C}"/>
              </a:ext>
            </a:extLst>
          </p:cNvPr>
          <p:cNvPicPr>
            <a:picLocks noChangeAspect="1"/>
          </p:cNvPicPr>
          <p:nvPr/>
        </p:nvPicPr>
        <p:blipFill>
          <a:blip r:embed="rId3"/>
          <a:srcRect r="59599"/>
          <a:stretch>
            <a:fillRect/>
          </a:stretch>
        </p:blipFill>
        <p:spPr>
          <a:xfrm>
            <a:off x="6453392" y="2330020"/>
            <a:ext cx="2330608" cy="2192226"/>
          </a:xfrm>
          <a:prstGeom prst="rect">
            <a:avLst/>
          </a:prstGeom>
        </p:spPr>
      </p:pic>
    </p:spTree>
    <p:extLst>
      <p:ext uri="{BB962C8B-B14F-4D97-AF65-F5344CB8AC3E}">
        <p14:creationId xmlns:p14="http://schemas.microsoft.com/office/powerpoint/2010/main" val="3136441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9E5D5-11E2-59E0-35B2-E5C39E331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99CC5-FCC0-4EC8-BF44-3B1AA2BECF44}"/>
              </a:ext>
            </a:extLst>
          </p:cNvPr>
          <p:cNvSpPr>
            <a:spLocks noGrp="1"/>
          </p:cNvSpPr>
          <p:nvPr>
            <p:ph type="title"/>
          </p:nvPr>
        </p:nvSpPr>
        <p:spPr/>
        <p:txBody>
          <a:bodyPr/>
          <a:lstStyle/>
          <a:p>
            <a:r>
              <a:rPr lang="en-US" noProof="0" dirty="0"/>
              <a:t>Preliminary</a:t>
            </a:r>
          </a:p>
        </p:txBody>
      </p:sp>
      <p:sp>
        <p:nvSpPr>
          <p:cNvPr id="3" name="Content Placeholder 2">
            <a:extLst>
              <a:ext uri="{FF2B5EF4-FFF2-40B4-BE49-F238E27FC236}">
                <a16:creationId xmlns:a16="http://schemas.microsoft.com/office/drawing/2014/main" id="{896F107C-05D4-1D78-78A3-EF951161D22F}"/>
              </a:ext>
            </a:extLst>
          </p:cNvPr>
          <p:cNvSpPr>
            <a:spLocks noGrp="1"/>
          </p:cNvSpPr>
          <p:nvPr>
            <p:ph idx="1"/>
          </p:nvPr>
        </p:nvSpPr>
        <p:spPr/>
        <p:txBody>
          <a:bodyPr/>
          <a:lstStyle/>
          <a:p>
            <a:r>
              <a:rPr lang="en-US" sz="2400" dirty="0"/>
              <a:t>Our work is based on </a:t>
            </a:r>
            <a:r>
              <a:rPr lang="en-US" sz="2400" i="1" dirty="0"/>
              <a:t>VGC-Bench</a:t>
            </a:r>
            <a:r>
              <a:rPr lang="en-US" sz="2400" dirty="0"/>
              <a:t> by Angliss et al. </a:t>
            </a:r>
            <a:r>
              <a:rPr lang="en-US" sz="2400" dirty="0">
                <a:solidFill>
                  <a:schemeClr val="bg2">
                    <a:lumMod val="50000"/>
                  </a:schemeClr>
                </a:solidFill>
              </a:rPr>
              <a:t>[1]</a:t>
            </a:r>
          </a:p>
          <a:p>
            <a:pPr lvl="1"/>
            <a:r>
              <a:rPr lang="en-US" sz="2000" dirty="0"/>
              <a:t>Multi-Agent RL environment for VGC.</a:t>
            </a:r>
          </a:p>
          <a:p>
            <a:pPr lvl="1"/>
            <a:r>
              <a:rPr lang="en-US" sz="2000" dirty="0"/>
              <a:t>Transformer-based self-play PPO agents capable of beating humans.</a:t>
            </a:r>
          </a:p>
          <a:p>
            <a:pPr lvl="1"/>
            <a:endParaRPr lang="en-US" sz="2000" dirty="0"/>
          </a:p>
          <a:p>
            <a:r>
              <a:rPr lang="en-US" sz="2400" dirty="0"/>
              <a:t>We start with an agent trained exclusively on regulation </a:t>
            </a:r>
            <a:r>
              <a:rPr lang="en-US" sz="2400" b="1" dirty="0"/>
              <a:t>A</a:t>
            </a:r>
            <a:r>
              <a:rPr lang="en-US" sz="2400" dirty="0"/>
              <a:t>, then transfer to regulation </a:t>
            </a:r>
            <a:r>
              <a:rPr lang="en-US" sz="2400" b="1" dirty="0"/>
              <a:t>B</a:t>
            </a:r>
            <a:r>
              <a:rPr lang="en-US" sz="2400" dirty="0"/>
              <a:t>, regulation </a:t>
            </a:r>
            <a:r>
              <a:rPr lang="en-US" sz="2400" b="1" dirty="0"/>
              <a:t>C</a:t>
            </a:r>
            <a:r>
              <a:rPr lang="en-US" sz="2400" dirty="0"/>
              <a:t>, etc.</a:t>
            </a:r>
          </a:p>
          <a:p>
            <a:pPr lvl="1"/>
            <a:r>
              <a:rPr lang="en-US" sz="2000" dirty="0"/>
              <a:t>Once we leave a regulation, we never come back.</a:t>
            </a:r>
          </a:p>
        </p:txBody>
      </p:sp>
      <p:sp>
        <p:nvSpPr>
          <p:cNvPr id="4" name="Footer Placeholder 3">
            <a:extLst>
              <a:ext uri="{FF2B5EF4-FFF2-40B4-BE49-F238E27FC236}">
                <a16:creationId xmlns:a16="http://schemas.microsoft.com/office/drawing/2014/main" id="{CE18B078-1B76-9D3E-1CA7-CD7319EEF632}"/>
              </a:ext>
            </a:extLst>
          </p:cNvPr>
          <p:cNvSpPr>
            <a:spLocks noGrp="1"/>
          </p:cNvSpPr>
          <p:nvPr>
            <p:ph type="ftr" sz="quarter" idx="11"/>
          </p:nvPr>
        </p:nvSpPr>
        <p:spPr/>
        <p:txBody>
          <a:bodyPr/>
          <a:lstStyle/>
          <a:p>
            <a:r>
              <a:rPr lang="en-US" noProof="0" dirty="0"/>
              <a:t>Faculty of Science and Engineering</a:t>
            </a:r>
          </a:p>
          <a:p>
            <a:endParaRPr lang="en-US" noProof="0" dirty="0"/>
          </a:p>
        </p:txBody>
      </p:sp>
      <p:sp>
        <p:nvSpPr>
          <p:cNvPr id="5" name="Slide Number Placeholder 4">
            <a:extLst>
              <a:ext uri="{FF2B5EF4-FFF2-40B4-BE49-F238E27FC236}">
                <a16:creationId xmlns:a16="http://schemas.microsoft.com/office/drawing/2014/main" id="{6E3C28AF-8533-1CCE-6437-B258343ED005}"/>
              </a:ext>
            </a:extLst>
          </p:cNvPr>
          <p:cNvSpPr>
            <a:spLocks noGrp="1"/>
          </p:cNvSpPr>
          <p:nvPr>
            <p:ph type="sldNum" sz="quarter" idx="12"/>
          </p:nvPr>
        </p:nvSpPr>
        <p:spPr/>
        <p:txBody>
          <a:bodyPr/>
          <a:lstStyle/>
          <a:p>
            <a:fld id="{09B7AD4A-C94A-7B42-9E17-606C7F366C4B}" type="slidenum">
              <a:rPr lang="en-US" noProof="0" smtClean="0"/>
              <a:t>4</a:t>
            </a:fld>
            <a:endParaRPr lang="en-US" noProof="0" dirty="0"/>
          </a:p>
        </p:txBody>
      </p:sp>
      <p:sp>
        <p:nvSpPr>
          <p:cNvPr id="7" name="TextBox 5">
            <a:extLst>
              <a:ext uri="{FF2B5EF4-FFF2-40B4-BE49-F238E27FC236}">
                <a16:creationId xmlns:a16="http://schemas.microsoft.com/office/drawing/2014/main" id="{7BA8C221-97B4-2970-F155-184AD343E9E9}"/>
              </a:ext>
            </a:extLst>
          </p:cNvPr>
          <p:cNvSpPr txBox="1"/>
          <p:nvPr/>
        </p:nvSpPr>
        <p:spPr>
          <a:xfrm>
            <a:off x="590975" y="4368357"/>
            <a:ext cx="7962051" cy="307777"/>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 sz="1400" dirty="0">
                <a:solidFill>
                  <a:schemeClr val="bg2">
                    <a:lumMod val="50000"/>
                  </a:schemeClr>
                </a:solidFill>
              </a:rPr>
              <a:t>[1] Angliss et al. "VGC-Bench: Towards Mastering Diverse Team Strategies in Competitive </a:t>
            </a:r>
            <a:r>
              <a:rPr lang="en-US" sz="1400" dirty="0">
                <a:solidFill>
                  <a:schemeClr val="bg2">
                    <a:lumMod val="50000"/>
                  </a:schemeClr>
                </a:solidFill>
              </a:rPr>
              <a:t>Pokémon</a:t>
            </a:r>
            <a:r>
              <a:rPr lang="" sz="1400" dirty="0">
                <a:solidFill>
                  <a:schemeClr val="bg2">
                    <a:lumMod val="50000"/>
                  </a:schemeClr>
                </a:solidFill>
              </a:rPr>
              <a:t>.“ (2025)</a:t>
            </a:r>
            <a:endParaRPr lang="en-US" sz="1400" dirty="0">
              <a:solidFill>
                <a:schemeClr val="bg2">
                  <a:lumMod val="50000"/>
                </a:schemeClr>
              </a:solidFill>
            </a:endParaRPr>
          </a:p>
        </p:txBody>
      </p:sp>
    </p:spTree>
    <p:extLst>
      <p:ext uri="{BB962C8B-B14F-4D97-AF65-F5344CB8AC3E}">
        <p14:creationId xmlns:p14="http://schemas.microsoft.com/office/powerpoint/2010/main" val="3894914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C513-5F52-780F-4C89-6E705305A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92AE5-E90E-C9F9-6D10-A438240E9C09}"/>
              </a:ext>
            </a:extLst>
          </p:cNvPr>
          <p:cNvSpPr>
            <a:spLocks noGrp="1"/>
          </p:cNvSpPr>
          <p:nvPr>
            <p:ph type="title"/>
          </p:nvPr>
        </p:nvSpPr>
        <p:spPr/>
        <p:txBody>
          <a:bodyPr/>
          <a:lstStyle/>
          <a:p>
            <a:r>
              <a:rPr lang="en-US" noProof="0" dirty="0"/>
              <a:t>Preliminary</a:t>
            </a:r>
          </a:p>
        </p:txBody>
      </p:sp>
      <p:sp>
        <p:nvSpPr>
          <p:cNvPr id="3" name="Content Placeholder 2">
            <a:extLst>
              <a:ext uri="{FF2B5EF4-FFF2-40B4-BE49-F238E27FC236}">
                <a16:creationId xmlns:a16="http://schemas.microsoft.com/office/drawing/2014/main" id="{06B5937A-358D-4639-7340-C9576BC93CE7}"/>
              </a:ext>
            </a:extLst>
          </p:cNvPr>
          <p:cNvSpPr>
            <a:spLocks noGrp="1"/>
          </p:cNvSpPr>
          <p:nvPr>
            <p:ph idx="1"/>
          </p:nvPr>
        </p:nvSpPr>
        <p:spPr/>
        <p:txBody>
          <a:bodyPr/>
          <a:lstStyle/>
          <a:p>
            <a:r>
              <a:rPr lang="en-US" sz="2400" dirty="0"/>
              <a:t>Are agents capable of transfer using full fine-tuning?</a:t>
            </a:r>
          </a:p>
          <a:p>
            <a:pPr lvl="1"/>
            <a:r>
              <a:rPr lang="en-US" sz="2000" i="1" dirty="0"/>
              <a:t>1000 episodes, 3 seeds, in-distribution data, same parameters.</a:t>
            </a:r>
          </a:p>
        </p:txBody>
      </p:sp>
      <p:sp>
        <p:nvSpPr>
          <p:cNvPr id="5" name="Slide Number Placeholder 4">
            <a:extLst>
              <a:ext uri="{FF2B5EF4-FFF2-40B4-BE49-F238E27FC236}">
                <a16:creationId xmlns:a16="http://schemas.microsoft.com/office/drawing/2014/main" id="{FDD60CF8-352B-25DB-9EA3-C9658352A087}"/>
              </a:ext>
            </a:extLst>
          </p:cNvPr>
          <p:cNvSpPr>
            <a:spLocks noGrp="1"/>
          </p:cNvSpPr>
          <p:nvPr>
            <p:ph type="sldNum" sz="quarter" idx="12"/>
          </p:nvPr>
        </p:nvSpPr>
        <p:spPr/>
        <p:txBody>
          <a:bodyPr/>
          <a:lstStyle/>
          <a:p>
            <a:fld id="{09B7AD4A-C94A-7B42-9E17-606C7F366C4B}" type="slidenum">
              <a:rPr lang="en-US" noProof="0" smtClean="0"/>
              <a:t>5</a:t>
            </a:fld>
            <a:endParaRPr lang="en-US" noProof="0" dirty="0"/>
          </a:p>
        </p:txBody>
      </p:sp>
      <p:pic>
        <p:nvPicPr>
          <p:cNvPr id="7" name="Picture 6">
            <a:extLst>
              <a:ext uri="{FF2B5EF4-FFF2-40B4-BE49-F238E27FC236}">
                <a16:creationId xmlns:a16="http://schemas.microsoft.com/office/drawing/2014/main" id="{4A7D7FC3-2247-781D-7BC7-8533CF86A204}"/>
              </a:ext>
            </a:extLst>
          </p:cNvPr>
          <p:cNvPicPr>
            <a:picLocks noChangeAspect="1"/>
          </p:cNvPicPr>
          <p:nvPr/>
        </p:nvPicPr>
        <p:blipFill>
          <a:blip r:embed="rId3"/>
          <a:stretch>
            <a:fillRect/>
          </a:stretch>
        </p:blipFill>
        <p:spPr>
          <a:xfrm>
            <a:off x="2359785" y="1738334"/>
            <a:ext cx="4327228" cy="3094471"/>
          </a:xfrm>
          <a:prstGeom prst="rect">
            <a:avLst/>
          </a:prstGeom>
        </p:spPr>
      </p:pic>
      <p:sp>
        <p:nvSpPr>
          <p:cNvPr id="4" name="Footer Placeholder 3">
            <a:extLst>
              <a:ext uri="{FF2B5EF4-FFF2-40B4-BE49-F238E27FC236}">
                <a16:creationId xmlns:a16="http://schemas.microsoft.com/office/drawing/2014/main" id="{936CBA03-607A-DCC4-766D-411B556EF7D5}"/>
              </a:ext>
            </a:extLst>
          </p:cNvPr>
          <p:cNvSpPr>
            <a:spLocks noGrp="1"/>
          </p:cNvSpPr>
          <p:nvPr>
            <p:ph type="ftr" sz="quarter" idx="11"/>
          </p:nvPr>
        </p:nvSpPr>
        <p:spPr/>
        <p:txBody>
          <a:bodyPr/>
          <a:lstStyle/>
          <a:p>
            <a:r>
              <a:rPr lang="en-US" noProof="0" dirty="0"/>
              <a:t>Faculty of Science and Engineering</a:t>
            </a:r>
          </a:p>
          <a:p>
            <a:endParaRPr lang="en-US" noProof="0" dirty="0"/>
          </a:p>
        </p:txBody>
      </p:sp>
    </p:spTree>
    <p:extLst>
      <p:ext uri="{BB962C8B-B14F-4D97-AF65-F5344CB8AC3E}">
        <p14:creationId xmlns:p14="http://schemas.microsoft.com/office/powerpoint/2010/main" val="8073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EF13B-C4FC-CBF0-C121-A87FBF923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74844-01B8-7F94-0359-F4B2444408C4}"/>
              </a:ext>
            </a:extLst>
          </p:cNvPr>
          <p:cNvSpPr>
            <a:spLocks noGrp="1"/>
          </p:cNvSpPr>
          <p:nvPr>
            <p:ph type="title"/>
          </p:nvPr>
        </p:nvSpPr>
        <p:spPr/>
        <p:txBody>
          <a:bodyPr/>
          <a:lstStyle/>
          <a:p>
            <a:r>
              <a:rPr lang="en-US" dirty="0"/>
              <a:t>Methods</a:t>
            </a:r>
            <a:endParaRPr lang="en-US" noProof="0" dirty="0"/>
          </a:p>
        </p:txBody>
      </p:sp>
      <p:sp>
        <p:nvSpPr>
          <p:cNvPr id="3" name="Content Placeholder 2">
            <a:extLst>
              <a:ext uri="{FF2B5EF4-FFF2-40B4-BE49-F238E27FC236}">
                <a16:creationId xmlns:a16="http://schemas.microsoft.com/office/drawing/2014/main" id="{163E94C2-230C-648A-6F79-E2E4C35E83AD}"/>
              </a:ext>
            </a:extLst>
          </p:cNvPr>
          <p:cNvSpPr>
            <a:spLocks noGrp="1"/>
          </p:cNvSpPr>
          <p:nvPr>
            <p:ph idx="1"/>
          </p:nvPr>
        </p:nvSpPr>
        <p:spPr>
          <a:xfrm>
            <a:off x="360001" y="972000"/>
            <a:ext cx="4212000" cy="3333862"/>
          </a:xfrm>
        </p:spPr>
        <p:txBody>
          <a:bodyPr/>
          <a:lstStyle/>
          <a:p>
            <a:r>
              <a:rPr lang="en-US" sz="2000" dirty="0"/>
              <a:t>Sometimes we observe unstable behavior from the value function…</a:t>
            </a:r>
          </a:p>
          <a:p>
            <a:endParaRPr lang="en-US" sz="2000" dirty="0"/>
          </a:p>
          <a:p>
            <a:r>
              <a:rPr lang="en-US" sz="2000" dirty="0"/>
              <a:t>We hypothesize that this has to do with VGC-Bench’s policy architecture.</a:t>
            </a:r>
          </a:p>
        </p:txBody>
      </p:sp>
      <p:sp>
        <p:nvSpPr>
          <p:cNvPr id="5" name="Slide Number Placeholder 4">
            <a:extLst>
              <a:ext uri="{FF2B5EF4-FFF2-40B4-BE49-F238E27FC236}">
                <a16:creationId xmlns:a16="http://schemas.microsoft.com/office/drawing/2014/main" id="{699FA055-AE32-7938-65BE-97DB383A4FC7}"/>
              </a:ext>
            </a:extLst>
          </p:cNvPr>
          <p:cNvSpPr>
            <a:spLocks noGrp="1"/>
          </p:cNvSpPr>
          <p:nvPr>
            <p:ph type="sldNum" sz="quarter" idx="12"/>
          </p:nvPr>
        </p:nvSpPr>
        <p:spPr/>
        <p:txBody>
          <a:bodyPr/>
          <a:lstStyle/>
          <a:p>
            <a:fld id="{09B7AD4A-C94A-7B42-9E17-606C7F366C4B}" type="slidenum">
              <a:rPr lang="en-US" noProof="0" smtClean="0"/>
              <a:t>6</a:t>
            </a:fld>
            <a:endParaRPr lang="en-US" noProof="0" dirty="0"/>
          </a:p>
        </p:txBody>
      </p:sp>
      <p:sp>
        <p:nvSpPr>
          <p:cNvPr id="4" name="Footer Placeholder 3">
            <a:extLst>
              <a:ext uri="{FF2B5EF4-FFF2-40B4-BE49-F238E27FC236}">
                <a16:creationId xmlns:a16="http://schemas.microsoft.com/office/drawing/2014/main" id="{C091AAC5-C75D-1138-7322-49DE8A794F7D}"/>
              </a:ext>
            </a:extLst>
          </p:cNvPr>
          <p:cNvSpPr>
            <a:spLocks noGrp="1"/>
          </p:cNvSpPr>
          <p:nvPr>
            <p:ph type="ftr" sz="quarter" idx="11"/>
          </p:nvPr>
        </p:nvSpPr>
        <p:spPr/>
        <p:txBody>
          <a:bodyPr/>
          <a:lstStyle/>
          <a:p>
            <a:r>
              <a:rPr lang="en-US" noProof="0" dirty="0"/>
              <a:t>Faculty of Science and Engineering</a:t>
            </a:r>
          </a:p>
          <a:p>
            <a:endParaRPr lang="en-US" noProof="0" dirty="0"/>
          </a:p>
        </p:txBody>
      </p:sp>
      <p:pic>
        <p:nvPicPr>
          <p:cNvPr id="9" name="Picture 8">
            <a:extLst>
              <a:ext uri="{FF2B5EF4-FFF2-40B4-BE49-F238E27FC236}">
                <a16:creationId xmlns:a16="http://schemas.microsoft.com/office/drawing/2014/main" id="{9DE30AFA-C258-3B9D-DD6B-63ED8F945BA3}"/>
              </a:ext>
            </a:extLst>
          </p:cNvPr>
          <p:cNvPicPr>
            <a:picLocks noChangeAspect="1"/>
          </p:cNvPicPr>
          <p:nvPr/>
        </p:nvPicPr>
        <p:blipFill>
          <a:blip r:embed="rId3"/>
          <a:stretch>
            <a:fillRect/>
          </a:stretch>
        </p:blipFill>
        <p:spPr>
          <a:xfrm>
            <a:off x="5122717" y="310695"/>
            <a:ext cx="3193425" cy="2204552"/>
          </a:xfrm>
          <a:prstGeom prst="rect">
            <a:avLst/>
          </a:prstGeom>
        </p:spPr>
      </p:pic>
      <p:pic>
        <p:nvPicPr>
          <p:cNvPr id="11" name="Picture 10">
            <a:extLst>
              <a:ext uri="{FF2B5EF4-FFF2-40B4-BE49-F238E27FC236}">
                <a16:creationId xmlns:a16="http://schemas.microsoft.com/office/drawing/2014/main" id="{B9EBE6A0-9AE3-9635-DC46-A371C6E6229B}"/>
              </a:ext>
            </a:extLst>
          </p:cNvPr>
          <p:cNvPicPr>
            <a:picLocks noChangeAspect="1"/>
          </p:cNvPicPr>
          <p:nvPr/>
        </p:nvPicPr>
        <p:blipFill>
          <a:blip r:embed="rId4"/>
          <a:srcRect/>
          <a:stretch/>
        </p:blipFill>
        <p:spPr>
          <a:xfrm>
            <a:off x="5140860" y="2515247"/>
            <a:ext cx="3157136" cy="2204552"/>
          </a:xfrm>
          <a:prstGeom prst="rect">
            <a:avLst/>
          </a:prstGeom>
        </p:spPr>
      </p:pic>
    </p:spTree>
    <p:extLst>
      <p:ext uri="{BB962C8B-B14F-4D97-AF65-F5344CB8AC3E}">
        <p14:creationId xmlns:p14="http://schemas.microsoft.com/office/powerpoint/2010/main" val="2816618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6537-BF92-40F7-6338-01CCC951F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C1257-ED56-5481-8F43-18B3ABAE1711}"/>
              </a:ext>
            </a:extLst>
          </p:cNvPr>
          <p:cNvSpPr>
            <a:spLocks noGrp="1"/>
          </p:cNvSpPr>
          <p:nvPr>
            <p:ph type="title"/>
          </p:nvPr>
        </p:nvSpPr>
        <p:spPr/>
        <p:txBody>
          <a:bodyPr/>
          <a:lstStyle/>
          <a:p>
            <a:r>
              <a:rPr lang="en-US" dirty="0"/>
              <a:t>Methods</a:t>
            </a:r>
            <a:endParaRPr lang="en-US" noProof="0" dirty="0"/>
          </a:p>
        </p:txBody>
      </p:sp>
      <p:sp>
        <p:nvSpPr>
          <p:cNvPr id="3" name="Content Placeholder 2">
            <a:extLst>
              <a:ext uri="{FF2B5EF4-FFF2-40B4-BE49-F238E27FC236}">
                <a16:creationId xmlns:a16="http://schemas.microsoft.com/office/drawing/2014/main" id="{53B533CC-2820-8E54-F591-10B3F1798038}"/>
              </a:ext>
            </a:extLst>
          </p:cNvPr>
          <p:cNvSpPr>
            <a:spLocks noGrp="1"/>
          </p:cNvSpPr>
          <p:nvPr>
            <p:ph idx="1"/>
          </p:nvPr>
        </p:nvSpPr>
        <p:spPr>
          <a:xfrm>
            <a:off x="360001" y="972000"/>
            <a:ext cx="4212000" cy="3333862"/>
          </a:xfrm>
        </p:spPr>
        <p:txBody>
          <a:bodyPr/>
          <a:lstStyle/>
          <a:p>
            <a:r>
              <a:rPr lang="en-US" sz="2000" dirty="0"/>
              <a:t>Sometimes we observe unstable behavior from the value function…</a:t>
            </a:r>
          </a:p>
          <a:p>
            <a:endParaRPr lang="en-US" sz="2000" dirty="0"/>
          </a:p>
          <a:p>
            <a:r>
              <a:rPr lang="en-US" sz="2000" dirty="0"/>
              <a:t>We hypothesize that this has to do with VGC-Bench’s policy architecture.</a:t>
            </a:r>
          </a:p>
        </p:txBody>
      </p:sp>
      <p:sp>
        <p:nvSpPr>
          <p:cNvPr id="5" name="Slide Number Placeholder 4">
            <a:extLst>
              <a:ext uri="{FF2B5EF4-FFF2-40B4-BE49-F238E27FC236}">
                <a16:creationId xmlns:a16="http://schemas.microsoft.com/office/drawing/2014/main" id="{1C36D0A7-F1F4-BC6C-A259-7D134D4642CC}"/>
              </a:ext>
            </a:extLst>
          </p:cNvPr>
          <p:cNvSpPr>
            <a:spLocks noGrp="1"/>
          </p:cNvSpPr>
          <p:nvPr>
            <p:ph type="sldNum" sz="quarter" idx="12"/>
          </p:nvPr>
        </p:nvSpPr>
        <p:spPr/>
        <p:txBody>
          <a:bodyPr/>
          <a:lstStyle/>
          <a:p>
            <a:fld id="{09B7AD4A-C94A-7B42-9E17-606C7F366C4B}" type="slidenum">
              <a:rPr lang="en-US" noProof="0" smtClean="0"/>
              <a:t>7</a:t>
            </a:fld>
            <a:endParaRPr lang="en-US" noProof="0" dirty="0"/>
          </a:p>
        </p:txBody>
      </p:sp>
      <p:sp>
        <p:nvSpPr>
          <p:cNvPr id="4" name="Footer Placeholder 3">
            <a:extLst>
              <a:ext uri="{FF2B5EF4-FFF2-40B4-BE49-F238E27FC236}">
                <a16:creationId xmlns:a16="http://schemas.microsoft.com/office/drawing/2014/main" id="{0B32EF24-C206-B053-A6F5-24930B5163DD}"/>
              </a:ext>
            </a:extLst>
          </p:cNvPr>
          <p:cNvSpPr>
            <a:spLocks noGrp="1"/>
          </p:cNvSpPr>
          <p:nvPr>
            <p:ph type="ftr" sz="quarter" idx="11"/>
          </p:nvPr>
        </p:nvSpPr>
        <p:spPr/>
        <p:txBody>
          <a:bodyPr/>
          <a:lstStyle/>
          <a:p>
            <a:r>
              <a:rPr lang="en-US" noProof="0" dirty="0"/>
              <a:t>Faculty of Science and Engineering</a:t>
            </a:r>
          </a:p>
          <a:p>
            <a:endParaRPr lang="en-US" noProof="0" dirty="0"/>
          </a:p>
        </p:txBody>
      </p:sp>
      <p:pic>
        <p:nvPicPr>
          <p:cNvPr id="9" name="Picture 8">
            <a:extLst>
              <a:ext uri="{FF2B5EF4-FFF2-40B4-BE49-F238E27FC236}">
                <a16:creationId xmlns:a16="http://schemas.microsoft.com/office/drawing/2014/main" id="{A61EBACF-9D6C-FFA7-3D47-9522E3A5B81B}"/>
              </a:ext>
            </a:extLst>
          </p:cNvPr>
          <p:cNvPicPr>
            <a:picLocks noChangeAspect="1"/>
          </p:cNvPicPr>
          <p:nvPr/>
        </p:nvPicPr>
        <p:blipFill>
          <a:blip r:embed="rId3"/>
          <a:stretch>
            <a:fillRect/>
          </a:stretch>
        </p:blipFill>
        <p:spPr>
          <a:xfrm>
            <a:off x="5122717" y="310695"/>
            <a:ext cx="3193425" cy="2204552"/>
          </a:xfrm>
          <a:prstGeom prst="rect">
            <a:avLst/>
          </a:prstGeom>
        </p:spPr>
      </p:pic>
      <p:pic>
        <p:nvPicPr>
          <p:cNvPr id="11" name="Picture 10">
            <a:extLst>
              <a:ext uri="{FF2B5EF4-FFF2-40B4-BE49-F238E27FC236}">
                <a16:creationId xmlns:a16="http://schemas.microsoft.com/office/drawing/2014/main" id="{4DBB0785-4C87-63C4-C93F-4FBAB8A4B7B8}"/>
              </a:ext>
            </a:extLst>
          </p:cNvPr>
          <p:cNvPicPr>
            <a:picLocks noChangeAspect="1"/>
          </p:cNvPicPr>
          <p:nvPr/>
        </p:nvPicPr>
        <p:blipFill>
          <a:blip r:embed="rId4"/>
          <a:srcRect/>
          <a:stretch/>
        </p:blipFill>
        <p:spPr>
          <a:xfrm>
            <a:off x="5140860" y="2515247"/>
            <a:ext cx="3157136" cy="2204552"/>
          </a:xfrm>
          <a:prstGeom prst="rect">
            <a:avLst/>
          </a:prstGeom>
        </p:spPr>
      </p:pic>
      <p:pic>
        <p:nvPicPr>
          <p:cNvPr id="13" name="Picture 12">
            <a:extLst>
              <a:ext uri="{FF2B5EF4-FFF2-40B4-BE49-F238E27FC236}">
                <a16:creationId xmlns:a16="http://schemas.microsoft.com/office/drawing/2014/main" id="{0113BD70-8548-94B7-9292-CBC30A48970B}"/>
              </a:ext>
            </a:extLst>
          </p:cNvPr>
          <p:cNvPicPr>
            <a:picLocks noChangeAspect="1"/>
          </p:cNvPicPr>
          <p:nvPr/>
        </p:nvPicPr>
        <p:blipFill>
          <a:blip r:embed="rId5"/>
          <a:stretch>
            <a:fillRect/>
          </a:stretch>
        </p:blipFill>
        <p:spPr>
          <a:xfrm>
            <a:off x="4881491" y="799814"/>
            <a:ext cx="3678904" cy="3392522"/>
          </a:xfrm>
          <a:prstGeom prst="rect">
            <a:avLst/>
          </a:prstGeom>
          <a:ln>
            <a:solidFill>
              <a:schemeClr val="tx1"/>
            </a:solidFill>
          </a:ln>
        </p:spPr>
      </p:pic>
    </p:spTree>
    <p:extLst>
      <p:ext uri="{BB962C8B-B14F-4D97-AF65-F5344CB8AC3E}">
        <p14:creationId xmlns:p14="http://schemas.microsoft.com/office/powerpoint/2010/main" val="3085393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897D-1E3A-6358-7427-CCC1D676F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6F2D5-3475-F2F9-06CF-90C004A8C805}"/>
              </a:ext>
            </a:extLst>
          </p:cNvPr>
          <p:cNvSpPr>
            <a:spLocks noGrp="1"/>
          </p:cNvSpPr>
          <p:nvPr>
            <p:ph type="title"/>
          </p:nvPr>
        </p:nvSpPr>
        <p:spPr/>
        <p:txBody>
          <a:bodyPr/>
          <a:lstStyle/>
          <a:p>
            <a:r>
              <a:rPr lang="en-US" dirty="0"/>
              <a:t>Methods</a:t>
            </a:r>
            <a:endParaRPr lang="en-US" noProof="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59EDED-E82D-8A92-9ACC-AA623DAD5DCA}"/>
                  </a:ext>
                </a:extLst>
              </p:cNvPr>
              <p:cNvSpPr>
                <a:spLocks noGrp="1"/>
              </p:cNvSpPr>
              <p:nvPr>
                <p:ph idx="1"/>
              </p:nvPr>
            </p:nvSpPr>
            <p:spPr>
              <a:xfrm>
                <a:off x="360001" y="972000"/>
                <a:ext cx="4212000" cy="3333862"/>
              </a:xfrm>
            </p:spPr>
            <p:txBody>
              <a:bodyPr/>
              <a:lstStyle/>
              <a:p>
                <a:r>
                  <a:rPr lang="en-US" sz="2000" dirty="0"/>
                  <a:t>Sometimes we observe unstable behavior from the value function…</a:t>
                </a:r>
              </a:p>
              <a:p>
                <a:endParaRPr lang="en-US" sz="2000" dirty="0"/>
              </a:p>
              <a:p>
                <a:r>
                  <a:rPr lang="en-US" sz="2000" dirty="0"/>
                  <a:t>We hypothesize that this has to do with VGC-Bench’s policy architecture.</a:t>
                </a:r>
              </a:p>
              <a:p>
                <a:pPr marL="514350" indent="-514350">
                  <a:buFont typeface="+mj-lt"/>
                  <a:buAutoNum type="arabicPeriod"/>
                </a:pPr>
                <a:r>
                  <a:rPr lang="en-US" sz="1800" dirty="0"/>
                  <a:t>These </a:t>
                </a:r>
                <a:r>
                  <a:rPr lang="en-US" sz="1800" dirty="0">
                    <a:solidFill>
                      <a:schemeClr val="accent1"/>
                    </a:solidFill>
                  </a:rPr>
                  <a:t>embeddings</a:t>
                </a:r>
                <a:r>
                  <a:rPr lang="en-US" sz="1800" dirty="0"/>
                  <a:t> receive sparse, vanishing gradients. We change their initialization: </a:t>
                </a:r>
                <a14:m>
                  <m:oMath xmlns:m="http://schemas.openxmlformats.org/officeDocument/2006/math">
                    <m:r>
                      <a:rPr lang="en-US" sz="1800" i="1">
                        <a:latin typeface="Cambria Math" panose="02040503050406030204" pitchFamily="18" charset="0"/>
                        <a:ea typeface="Cambria Math" panose="02040503050406030204" pitchFamily="18" charset="0"/>
                      </a:rPr>
                      <m:t>𝒩</m:t>
                    </m:r>
                    <m:r>
                      <a:rPr lang="en-GB" sz="1800" i="1">
                        <a:latin typeface="Cambria Math" panose="02040503050406030204" pitchFamily="18" charset="0"/>
                        <a:ea typeface="Cambria Math" panose="02040503050406030204" pitchFamily="18" charset="0"/>
                      </a:rPr>
                      <m:t>(0,1)→</m:t>
                    </m:r>
                    <m:r>
                      <a:rPr lang="en-GB" sz="1800" i="1">
                        <a:latin typeface="Cambria Math" panose="02040503050406030204" pitchFamily="18" charset="0"/>
                        <a:ea typeface="Cambria Math" panose="02040503050406030204" pitchFamily="18" charset="0"/>
                      </a:rPr>
                      <m:t>𝒩</m:t>
                    </m:r>
                    <m:r>
                      <a:rPr lang="en-GB" sz="1800" i="1">
                        <a:latin typeface="Cambria Math" panose="02040503050406030204" pitchFamily="18" charset="0"/>
                        <a:ea typeface="Cambria Math" panose="02040503050406030204" pitchFamily="18" charset="0"/>
                      </a:rPr>
                      <m:t>(0,0.02)</m:t>
                    </m:r>
                  </m:oMath>
                </a14:m>
                <a:endParaRPr lang="en-US" sz="1800" dirty="0"/>
              </a:p>
              <a:p>
                <a:pPr lvl="1">
                  <a:buFont typeface="+mj-lt"/>
                  <a:buAutoNum type="arabicPeriod"/>
                </a:pPr>
                <a:endParaRPr lang="en-US" sz="1800" dirty="0"/>
              </a:p>
            </p:txBody>
          </p:sp>
        </mc:Choice>
        <mc:Fallback xmlns="">
          <p:sp>
            <p:nvSpPr>
              <p:cNvPr id="3" name="Content Placeholder 2">
                <a:extLst>
                  <a:ext uri="{FF2B5EF4-FFF2-40B4-BE49-F238E27FC236}">
                    <a16:creationId xmlns:a16="http://schemas.microsoft.com/office/drawing/2014/main" id="{BC59EDED-E82D-8A92-9ACC-AA623DAD5DCA}"/>
                  </a:ext>
                </a:extLst>
              </p:cNvPr>
              <p:cNvSpPr>
                <a:spLocks noGrp="1" noRot="1" noChangeAspect="1" noMove="1" noResize="1" noEditPoints="1" noAdjustHandles="1" noChangeArrowheads="1" noChangeShapeType="1" noTextEdit="1"/>
              </p:cNvSpPr>
              <p:nvPr>
                <p:ph idx="1"/>
              </p:nvPr>
            </p:nvSpPr>
            <p:spPr>
              <a:xfrm>
                <a:off x="360001" y="972000"/>
                <a:ext cx="4212000" cy="3333862"/>
              </a:xfrm>
              <a:blipFill>
                <a:blip r:embed="rId3"/>
                <a:stretch>
                  <a:fillRect l="-3473" t="-2377" r="-3763"/>
                </a:stretch>
              </a:blipFill>
            </p:spPr>
            <p:txBody>
              <a:bodyPr/>
              <a:lstStyle/>
              <a:p>
                <a:r>
                  <a:rPr lang="nl-NL">
                    <a:noFill/>
                  </a:rPr>
                  <a:t> </a:t>
                </a:r>
              </a:p>
            </p:txBody>
          </p:sp>
        </mc:Fallback>
      </mc:AlternateContent>
      <p:sp>
        <p:nvSpPr>
          <p:cNvPr id="5" name="Slide Number Placeholder 4">
            <a:extLst>
              <a:ext uri="{FF2B5EF4-FFF2-40B4-BE49-F238E27FC236}">
                <a16:creationId xmlns:a16="http://schemas.microsoft.com/office/drawing/2014/main" id="{258543C9-F629-7BC1-72BE-A04C5E9D4187}"/>
              </a:ext>
            </a:extLst>
          </p:cNvPr>
          <p:cNvSpPr>
            <a:spLocks noGrp="1"/>
          </p:cNvSpPr>
          <p:nvPr>
            <p:ph type="sldNum" sz="quarter" idx="12"/>
          </p:nvPr>
        </p:nvSpPr>
        <p:spPr/>
        <p:txBody>
          <a:bodyPr/>
          <a:lstStyle/>
          <a:p>
            <a:fld id="{09B7AD4A-C94A-7B42-9E17-606C7F366C4B}" type="slidenum">
              <a:rPr lang="en-US" noProof="0" smtClean="0"/>
              <a:t>8</a:t>
            </a:fld>
            <a:endParaRPr lang="en-US" noProof="0" dirty="0"/>
          </a:p>
        </p:txBody>
      </p:sp>
      <p:sp>
        <p:nvSpPr>
          <p:cNvPr id="4" name="Footer Placeholder 3">
            <a:extLst>
              <a:ext uri="{FF2B5EF4-FFF2-40B4-BE49-F238E27FC236}">
                <a16:creationId xmlns:a16="http://schemas.microsoft.com/office/drawing/2014/main" id="{058E7159-C429-6098-FD38-C1A7B1C74412}"/>
              </a:ext>
            </a:extLst>
          </p:cNvPr>
          <p:cNvSpPr>
            <a:spLocks noGrp="1"/>
          </p:cNvSpPr>
          <p:nvPr>
            <p:ph type="ftr" sz="quarter" idx="11"/>
          </p:nvPr>
        </p:nvSpPr>
        <p:spPr/>
        <p:txBody>
          <a:bodyPr/>
          <a:lstStyle/>
          <a:p>
            <a:r>
              <a:rPr lang="en-US" noProof="0" dirty="0"/>
              <a:t>Faculty of Science and Engineering</a:t>
            </a:r>
          </a:p>
          <a:p>
            <a:endParaRPr lang="en-US" noProof="0" dirty="0"/>
          </a:p>
        </p:txBody>
      </p:sp>
      <p:pic>
        <p:nvPicPr>
          <p:cNvPr id="9" name="Picture 8">
            <a:extLst>
              <a:ext uri="{FF2B5EF4-FFF2-40B4-BE49-F238E27FC236}">
                <a16:creationId xmlns:a16="http://schemas.microsoft.com/office/drawing/2014/main" id="{7ACCBCC1-0BCE-B714-E81B-590E9E5DBF88}"/>
              </a:ext>
            </a:extLst>
          </p:cNvPr>
          <p:cNvPicPr>
            <a:picLocks noChangeAspect="1"/>
          </p:cNvPicPr>
          <p:nvPr/>
        </p:nvPicPr>
        <p:blipFill>
          <a:blip r:embed="rId4"/>
          <a:stretch>
            <a:fillRect/>
          </a:stretch>
        </p:blipFill>
        <p:spPr>
          <a:xfrm>
            <a:off x="5122717" y="310695"/>
            <a:ext cx="3193425" cy="2204552"/>
          </a:xfrm>
          <a:prstGeom prst="rect">
            <a:avLst/>
          </a:prstGeom>
        </p:spPr>
      </p:pic>
      <p:pic>
        <p:nvPicPr>
          <p:cNvPr id="11" name="Picture 10">
            <a:extLst>
              <a:ext uri="{FF2B5EF4-FFF2-40B4-BE49-F238E27FC236}">
                <a16:creationId xmlns:a16="http://schemas.microsoft.com/office/drawing/2014/main" id="{A7511006-FD67-4E59-D6B3-667940D49652}"/>
              </a:ext>
            </a:extLst>
          </p:cNvPr>
          <p:cNvPicPr>
            <a:picLocks noChangeAspect="1"/>
          </p:cNvPicPr>
          <p:nvPr/>
        </p:nvPicPr>
        <p:blipFill>
          <a:blip r:embed="rId5"/>
          <a:srcRect/>
          <a:stretch/>
        </p:blipFill>
        <p:spPr>
          <a:xfrm>
            <a:off x="5140860" y="2515247"/>
            <a:ext cx="3157136" cy="2204552"/>
          </a:xfrm>
          <a:prstGeom prst="rect">
            <a:avLst/>
          </a:prstGeom>
        </p:spPr>
      </p:pic>
      <p:pic>
        <p:nvPicPr>
          <p:cNvPr id="13" name="Picture 12">
            <a:extLst>
              <a:ext uri="{FF2B5EF4-FFF2-40B4-BE49-F238E27FC236}">
                <a16:creationId xmlns:a16="http://schemas.microsoft.com/office/drawing/2014/main" id="{775711D4-C9A3-8F67-F691-27CEE65F74FC}"/>
              </a:ext>
            </a:extLst>
          </p:cNvPr>
          <p:cNvPicPr>
            <a:picLocks noChangeAspect="1"/>
          </p:cNvPicPr>
          <p:nvPr/>
        </p:nvPicPr>
        <p:blipFill>
          <a:blip r:embed="rId6"/>
          <a:stretch>
            <a:fillRect/>
          </a:stretch>
        </p:blipFill>
        <p:spPr>
          <a:xfrm>
            <a:off x="4881491" y="799814"/>
            <a:ext cx="3678904" cy="3392522"/>
          </a:xfrm>
          <a:prstGeom prst="rect">
            <a:avLst/>
          </a:prstGeom>
          <a:ln>
            <a:solidFill>
              <a:schemeClr val="tx1"/>
            </a:solidFill>
          </a:ln>
        </p:spPr>
      </p:pic>
      <p:sp>
        <p:nvSpPr>
          <p:cNvPr id="6" name="Rectangle 5">
            <a:extLst>
              <a:ext uri="{FF2B5EF4-FFF2-40B4-BE49-F238E27FC236}">
                <a16:creationId xmlns:a16="http://schemas.microsoft.com/office/drawing/2014/main" id="{43A8604E-F72D-73DE-FA35-A5F7EED255C5}"/>
              </a:ext>
            </a:extLst>
          </p:cNvPr>
          <p:cNvSpPr/>
          <p:nvPr/>
        </p:nvSpPr>
        <p:spPr>
          <a:xfrm>
            <a:off x="4902589" y="1596683"/>
            <a:ext cx="3615601" cy="239151"/>
          </a:xfrm>
          <a:prstGeom prst="rect">
            <a:avLst/>
          </a:prstGeom>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nl-NL"/>
          </a:p>
        </p:txBody>
      </p:sp>
    </p:spTree>
    <p:extLst>
      <p:ext uri="{BB962C8B-B14F-4D97-AF65-F5344CB8AC3E}">
        <p14:creationId xmlns:p14="http://schemas.microsoft.com/office/powerpoint/2010/main" val="960827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06CC-E0D4-6081-09DB-5A0E01243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7AE226-99D2-6F2C-FDDB-FFBE7A18AD07}"/>
              </a:ext>
            </a:extLst>
          </p:cNvPr>
          <p:cNvSpPr>
            <a:spLocks noGrp="1"/>
          </p:cNvSpPr>
          <p:nvPr>
            <p:ph type="title"/>
          </p:nvPr>
        </p:nvSpPr>
        <p:spPr/>
        <p:txBody>
          <a:bodyPr/>
          <a:lstStyle/>
          <a:p>
            <a:r>
              <a:rPr lang="en-US" dirty="0"/>
              <a:t>Methods</a:t>
            </a:r>
            <a:endParaRPr lang="en-US" noProof="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4865B9-01BC-79D0-895C-4C0916FEA1E2}"/>
                  </a:ext>
                </a:extLst>
              </p:cNvPr>
              <p:cNvSpPr>
                <a:spLocks noGrp="1"/>
              </p:cNvSpPr>
              <p:nvPr>
                <p:ph idx="1"/>
              </p:nvPr>
            </p:nvSpPr>
            <p:spPr>
              <a:xfrm>
                <a:off x="360001" y="972000"/>
                <a:ext cx="4212000" cy="3333862"/>
              </a:xfrm>
            </p:spPr>
            <p:txBody>
              <a:bodyPr/>
              <a:lstStyle/>
              <a:p>
                <a:r>
                  <a:rPr lang="en-US" sz="2000" dirty="0"/>
                  <a:t>Sometimes we observe unstable behavior from the value function…</a:t>
                </a:r>
              </a:p>
              <a:p>
                <a:endParaRPr lang="en-US" sz="2000" dirty="0"/>
              </a:p>
              <a:p>
                <a:r>
                  <a:rPr lang="en-US" sz="2000" dirty="0"/>
                  <a:t>We hypothesize that this has to do with VGC-Bench’s policy architecture.</a:t>
                </a:r>
              </a:p>
              <a:p>
                <a:pPr marL="514350" indent="-514350">
                  <a:buFont typeface="+mj-lt"/>
                  <a:buAutoNum type="arabicPeriod"/>
                </a:pPr>
                <a:r>
                  <a:rPr lang="en-US" sz="1800" dirty="0"/>
                  <a:t>These </a:t>
                </a:r>
                <a:r>
                  <a:rPr lang="en-US" sz="1800" dirty="0">
                    <a:solidFill>
                      <a:schemeClr val="accent1"/>
                    </a:solidFill>
                  </a:rPr>
                  <a:t>embeddings</a:t>
                </a:r>
                <a:r>
                  <a:rPr lang="en-US" sz="1800" dirty="0"/>
                  <a:t> receive sparse, vanishing gradients. We change their initialization: </a:t>
                </a:r>
                <a14:m>
                  <m:oMath xmlns:m="http://schemas.openxmlformats.org/officeDocument/2006/math">
                    <m:r>
                      <a:rPr lang="en-US" sz="1800" i="1">
                        <a:latin typeface="Cambria Math" panose="02040503050406030204" pitchFamily="18" charset="0"/>
                        <a:ea typeface="Cambria Math" panose="02040503050406030204" pitchFamily="18" charset="0"/>
                      </a:rPr>
                      <m:t>𝒩</m:t>
                    </m:r>
                    <m:r>
                      <a:rPr lang="en-GB" sz="1800" i="1">
                        <a:latin typeface="Cambria Math" panose="02040503050406030204" pitchFamily="18" charset="0"/>
                        <a:ea typeface="Cambria Math" panose="02040503050406030204" pitchFamily="18" charset="0"/>
                      </a:rPr>
                      <m:t>(0,1)→</m:t>
                    </m:r>
                    <m:r>
                      <a:rPr lang="en-GB" sz="1800" i="1">
                        <a:latin typeface="Cambria Math" panose="02040503050406030204" pitchFamily="18" charset="0"/>
                        <a:ea typeface="Cambria Math" panose="02040503050406030204" pitchFamily="18" charset="0"/>
                      </a:rPr>
                      <m:t>𝒩</m:t>
                    </m:r>
                    <m:r>
                      <a:rPr lang="en-GB" sz="1800" i="1">
                        <a:latin typeface="Cambria Math" panose="02040503050406030204" pitchFamily="18" charset="0"/>
                        <a:ea typeface="Cambria Math" panose="02040503050406030204" pitchFamily="18" charset="0"/>
                      </a:rPr>
                      <m:t>(0,0.02)</m:t>
                    </m:r>
                  </m:oMath>
                </a14:m>
                <a:endParaRPr lang="en-US" sz="1800" dirty="0"/>
              </a:p>
              <a:p>
                <a:pPr marL="514350" indent="-514350">
                  <a:buFont typeface="+mj-lt"/>
                  <a:buAutoNum type="arabicPeriod"/>
                </a:pPr>
                <a:r>
                  <a:rPr lang="en-US" sz="1800" dirty="0"/>
                  <a:t>This </a:t>
                </a:r>
                <a:r>
                  <a:rPr lang="en-US" sz="1800" dirty="0">
                    <a:solidFill>
                      <a:schemeClr val="tx2"/>
                    </a:solidFill>
                  </a:rPr>
                  <a:t>linear layer </a:t>
                </a:r>
                <a:r>
                  <a:rPr lang="en-US" sz="1800" dirty="0"/>
                  <a:t>has a high initial bias. We change its gain from 1 to 0.01.</a:t>
                </a:r>
              </a:p>
              <a:p>
                <a:pPr lvl="1">
                  <a:buFont typeface="+mj-lt"/>
                  <a:buAutoNum type="arabicPeriod"/>
                </a:pPr>
                <a:endParaRPr lang="en-US" sz="1800" dirty="0"/>
              </a:p>
            </p:txBody>
          </p:sp>
        </mc:Choice>
        <mc:Fallback xmlns="">
          <p:sp>
            <p:nvSpPr>
              <p:cNvPr id="3" name="Content Placeholder 2">
                <a:extLst>
                  <a:ext uri="{FF2B5EF4-FFF2-40B4-BE49-F238E27FC236}">
                    <a16:creationId xmlns:a16="http://schemas.microsoft.com/office/drawing/2014/main" id="{D34865B9-01BC-79D0-895C-4C0916FEA1E2}"/>
                  </a:ext>
                </a:extLst>
              </p:cNvPr>
              <p:cNvSpPr>
                <a:spLocks noGrp="1" noRot="1" noChangeAspect="1" noMove="1" noResize="1" noEditPoints="1" noAdjustHandles="1" noChangeArrowheads="1" noChangeShapeType="1" noTextEdit="1"/>
              </p:cNvSpPr>
              <p:nvPr>
                <p:ph idx="1"/>
              </p:nvPr>
            </p:nvSpPr>
            <p:spPr>
              <a:xfrm>
                <a:off x="360001" y="972000"/>
                <a:ext cx="4212000" cy="3333862"/>
              </a:xfrm>
              <a:blipFill>
                <a:blip r:embed="rId3"/>
                <a:stretch>
                  <a:fillRect l="-3473" t="-2377" r="-3763"/>
                </a:stretch>
              </a:blipFill>
            </p:spPr>
            <p:txBody>
              <a:bodyPr/>
              <a:lstStyle/>
              <a:p>
                <a:r>
                  <a:rPr lang="nl-NL">
                    <a:noFill/>
                  </a:rPr>
                  <a:t> </a:t>
                </a:r>
              </a:p>
            </p:txBody>
          </p:sp>
        </mc:Fallback>
      </mc:AlternateContent>
      <p:sp>
        <p:nvSpPr>
          <p:cNvPr id="5" name="Slide Number Placeholder 4">
            <a:extLst>
              <a:ext uri="{FF2B5EF4-FFF2-40B4-BE49-F238E27FC236}">
                <a16:creationId xmlns:a16="http://schemas.microsoft.com/office/drawing/2014/main" id="{9AEFAE50-D467-C761-C8B7-EF22E0FA3204}"/>
              </a:ext>
            </a:extLst>
          </p:cNvPr>
          <p:cNvSpPr>
            <a:spLocks noGrp="1"/>
          </p:cNvSpPr>
          <p:nvPr>
            <p:ph type="sldNum" sz="quarter" idx="12"/>
          </p:nvPr>
        </p:nvSpPr>
        <p:spPr/>
        <p:txBody>
          <a:bodyPr/>
          <a:lstStyle/>
          <a:p>
            <a:fld id="{09B7AD4A-C94A-7B42-9E17-606C7F366C4B}" type="slidenum">
              <a:rPr lang="en-US" noProof="0" smtClean="0"/>
              <a:t>9</a:t>
            </a:fld>
            <a:endParaRPr lang="en-US" noProof="0" dirty="0"/>
          </a:p>
        </p:txBody>
      </p:sp>
      <p:sp>
        <p:nvSpPr>
          <p:cNvPr id="4" name="Footer Placeholder 3">
            <a:extLst>
              <a:ext uri="{FF2B5EF4-FFF2-40B4-BE49-F238E27FC236}">
                <a16:creationId xmlns:a16="http://schemas.microsoft.com/office/drawing/2014/main" id="{5AE21121-5F17-9AA9-7B7F-E57D7D8C9E1F}"/>
              </a:ext>
            </a:extLst>
          </p:cNvPr>
          <p:cNvSpPr>
            <a:spLocks noGrp="1"/>
          </p:cNvSpPr>
          <p:nvPr>
            <p:ph type="ftr" sz="quarter" idx="11"/>
          </p:nvPr>
        </p:nvSpPr>
        <p:spPr/>
        <p:txBody>
          <a:bodyPr/>
          <a:lstStyle/>
          <a:p>
            <a:r>
              <a:rPr lang="en-US" noProof="0" dirty="0"/>
              <a:t>Faculty of Science and Engineering</a:t>
            </a:r>
          </a:p>
          <a:p>
            <a:endParaRPr lang="en-US" noProof="0" dirty="0"/>
          </a:p>
        </p:txBody>
      </p:sp>
      <p:pic>
        <p:nvPicPr>
          <p:cNvPr id="9" name="Picture 8">
            <a:extLst>
              <a:ext uri="{FF2B5EF4-FFF2-40B4-BE49-F238E27FC236}">
                <a16:creationId xmlns:a16="http://schemas.microsoft.com/office/drawing/2014/main" id="{DFE6964E-2FDD-3DBE-6C23-8A1E50F1A28D}"/>
              </a:ext>
            </a:extLst>
          </p:cNvPr>
          <p:cNvPicPr>
            <a:picLocks noChangeAspect="1"/>
          </p:cNvPicPr>
          <p:nvPr/>
        </p:nvPicPr>
        <p:blipFill>
          <a:blip r:embed="rId4"/>
          <a:stretch>
            <a:fillRect/>
          </a:stretch>
        </p:blipFill>
        <p:spPr>
          <a:xfrm>
            <a:off x="5122717" y="310695"/>
            <a:ext cx="3193425" cy="2204552"/>
          </a:xfrm>
          <a:prstGeom prst="rect">
            <a:avLst/>
          </a:prstGeom>
        </p:spPr>
      </p:pic>
      <p:pic>
        <p:nvPicPr>
          <p:cNvPr id="11" name="Picture 10">
            <a:extLst>
              <a:ext uri="{FF2B5EF4-FFF2-40B4-BE49-F238E27FC236}">
                <a16:creationId xmlns:a16="http://schemas.microsoft.com/office/drawing/2014/main" id="{DC523C1F-3FBB-7B15-0AB3-CAFFDFF5E6DA}"/>
              </a:ext>
            </a:extLst>
          </p:cNvPr>
          <p:cNvPicPr>
            <a:picLocks noChangeAspect="1"/>
          </p:cNvPicPr>
          <p:nvPr/>
        </p:nvPicPr>
        <p:blipFill>
          <a:blip r:embed="rId5"/>
          <a:srcRect/>
          <a:stretch/>
        </p:blipFill>
        <p:spPr>
          <a:xfrm>
            <a:off x="5140860" y="2515247"/>
            <a:ext cx="3157136" cy="2204552"/>
          </a:xfrm>
          <a:prstGeom prst="rect">
            <a:avLst/>
          </a:prstGeom>
        </p:spPr>
      </p:pic>
      <p:pic>
        <p:nvPicPr>
          <p:cNvPr id="13" name="Picture 12">
            <a:extLst>
              <a:ext uri="{FF2B5EF4-FFF2-40B4-BE49-F238E27FC236}">
                <a16:creationId xmlns:a16="http://schemas.microsoft.com/office/drawing/2014/main" id="{7E3F4EFA-4F97-D970-75D2-E62B91536374}"/>
              </a:ext>
            </a:extLst>
          </p:cNvPr>
          <p:cNvPicPr>
            <a:picLocks noChangeAspect="1"/>
          </p:cNvPicPr>
          <p:nvPr/>
        </p:nvPicPr>
        <p:blipFill>
          <a:blip r:embed="rId6"/>
          <a:stretch>
            <a:fillRect/>
          </a:stretch>
        </p:blipFill>
        <p:spPr>
          <a:xfrm>
            <a:off x="4881491" y="799814"/>
            <a:ext cx="3678904" cy="3392522"/>
          </a:xfrm>
          <a:prstGeom prst="rect">
            <a:avLst/>
          </a:prstGeom>
          <a:ln>
            <a:solidFill>
              <a:schemeClr val="tx1"/>
            </a:solidFill>
          </a:ln>
        </p:spPr>
      </p:pic>
      <p:sp>
        <p:nvSpPr>
          <p:cNvPr id="6" name="Rectangle 5">
            <a:extLst>
              <a:ext uri="{FF2B5EF4-FFF2-40B4-BE49-F238E27FC236}">
                <a16:creationId xmlns:a16="http://schemas.microsoft.com/office/drawing/2014/main" id="{636F0D7E-1240-5392-0AF1-D738614CF501}"/>
              </a:ext>
            </a:extLst>
          </p:cNvPr>
          <p:cNvSpPr/>
          <p:nvPr/>
        </p:nvSpPr>
        <p:spPr>
          <a:xfrm>
            <a:off x="4902589" y="1596683"/>
            <a:ext cx="3615601" cy="239151"/>
          </a:xfrm>
          <a:prstGeom prst="rect">
            <a:avLst/>
          </a:prstGeom>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nl-NL"/>
          </a:p>
        </p:txBody>
      </p:sp>
      <p:sp>
        <p:nvSpPr>
          <p:cNvPr id="8" name="Rectangle 7">
            <a:extLst>
              <a:ext uri="{FF2B5EF4-FFF2-40B4-BE49-F238E27FC236}">
                <a16:creationId xmlns:a16="http://schemas.microsoft.com/office/drawing/2014/main" id="{E7EFBF54-FC1B-AA6C-05AF-5DC1B4E8CCBC}"/>
              </a:ext>
            </a:extLst>
          </p:cNvPr>
          <p:cNvSpPr/>
          <p:nvPr/>
        </p:nvSpPr>
        <p:spPr>
          <a:xfrm>
            <a:off x="7111218" y="3433244"/>
            <a:ext cx="1027782" cy="308762"/>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nl-NL"/>
          </a:p>
        </p:txBody>
      </p:sp>
    </p:spTree>
    <p:extLst>
      <p:ext uri="{BB962C8B-B14F-4D97-AF65-F5344CB8AC3E}">
        <p14:creationId xmlns:p14="http://schemas.microsoft.com/office/powerpoint/2010/main" val="4126297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7FAD4-5ACB-A028-1818-33FC99F01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77BCC-A51C-3DF5-839A-80C4B45E3925}"/>
              </a:ext>
            </a:extLst>
          </p:cNvPr>
          <p:cNvSpPr>
            <a:spLocks noGrp="1"/>
          </p:cNvSpPr>
          <p:nvPr>
            <p:ph type="title"/>
          </p:nvPr>
        </p:nvSpPr>
        <p:spPr/>
        <p:txBody>
          <a:bodyPr/>
          <a:lstStyle/>
          <a:p>
            <a:r>
              <a:rPr lang="en-US" dirty="0"/>
              <a:t>Methods – Progressive Architecture</a:t>
            </a:r>
            <a:endParaRPr lang="nl-NL" dirty="0"/>
          </a:p>
        </p:txBody>
      </p:sp>
      <p:sp>
        <p:nvSpPr>
          <p:cNvPr id="3" name="Content Placeholder 2">
            <a:extLst>
              <a:ext uri="{FF2B5EF4-FFF2-40B4-BE49-F238E27FC236}">
                <a16:creationId xmlns:a16="http://schemas.microsoft.com/office/drawing/2014/main" id="{FE09D921-0C5F-34D4-57B7-025B0933A2B1}"/>
              </a:ext>
            </a:extLst>
          </p:cNvPr>
          <p:cNvSpPr>
            <a:spLocks noGrp="1"/>
          </p:cNvSpPr>
          <p:nvPr>
            <p:ph idx="1"/>
          </p:nvPr>
        </p:nvSpPr>
        <p:spPr/>
        <p:txBody>
          <a:bodyPr/>
          <a:lstStyle/>
          <a:p>
            <a:r>
              <a:rPr lang="en-US" sz="2400" dirty="0"/>
              <a:t>We identify 2 CRL methods that have good potential.</a:t>
            </a:r>
          </a:p>
          <a:p>
            <a:pPr marL="457200" indent="-457200">
              <a:buFont typeface="+mj-lt"/>
              <a:buAutoNum type="arabicPeriod"/>
            </a:pPr>
            <a:endParaRPr lang="en-US" sz="2400" b="1" dirty="0"/>
          </a:p>
          <a:p>
            <a:pPr marL="457200" indent="-457200">
              <a:buFont typeface="+mj-lt"/>
              <a:buAutoNum type="arabicPeriod"/>
            </a:pPr>
            <a:r>
              <a:rPr lang="en-US" sz="2400" b="1" dirty="0"/>
              <a:t>Progressive Neural Networks </a:t>
            </a:r>
            <a:r>
              <a:rPr lang="en-US" sz="2400" dirty="0">
                <a:solidFill>
                  <a:schemeClr val="bg2">
                    <a:lumMod val="50000"/>
                  </a:schemeClr>
                </a:solidFill>
              </a:rPr>
              <a:t>[2]</a:t>
            </a:r>
            <a:endParaRPr lang="en-US" sz="2400" b="1" dirty="0"/>
          </a:p>
          <a:p>
            <a:pPr marL="831850" lvl="1" indent="-457200"/>
            <a:r>
              <a:rPr lang="en-US" sz="2200" dirty="0"/>
              <a:t>Allocate separate columns of a network to different tasks, lateral connections to previous columns (no loss of plasticity).</a:t>
            </a:r>
          </a:p>
          <a:p>
            <a:pPr marL="831850" lvl="1" indent="-457200"/>
            <a:r>
              <a:rPr lang="en-US" sz="2200" dirty="0"/>
              <a:t>No prior work on the adaptation of transformer models.</a:t>
            </a:r>
            <a:endParaRPr lang="nl-NL" sz="2200" dirty="0"/>
          </a:p>
        </p:txBody>
      </p:sp>
      <p:sp>
        <p:nvSpPr>
          <p:cNvPr id="4" name="Footer Placeholder 3">
            <a:extLst>
              <a:ext uri="{FF2B5EF4-FFF2-40B4-BE49-F238E27FC236}">
                <a16:creationId xmlns:a16="http://schemas.microsoft.com/office/drawing/2014/main" id="{BC017B0E-FEF5-2187-8910-D2672EFC1EE0}"/>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C73C9818-2BC9-B85E-0488-8B73C320BDA7}"/>
              </a:ext>
            </a:extLst>
          </p:cNvPr>
          <p:cNvSpPr>
            <a:spLocks noGrp="1"/>
          </p:cNvSpPr>
          <p:nvPr>
            <p:ph type="sldNum" sz="quarter" idx="12"/>
          </p:nvPr>
        </p:nvSpPr>
        <p:spPr/>
        <p:txBody>
          <a:bodyPr/>
          <a:lstStyle/>
          <a:p>
            <a:fld id="{09B7AD4A-C94A-7B42-9E17-606C7F366C4B}" type="slidenum">
              <a:rPr lang="nl-NL" smtClean="0"/>
              <a:t>10</a:t>
            </a:fld>
            <a:endParaRPr lang="nl-NL"/>
          </a:p>
        </p:txBody>
      </p:sp>
      <p:sp>
        <p:nvSpPr>
          <p:cNvPr id="8" name="TextBox 5">
            <a:extLst>
              <a:ext uri="{FF2B5EF4-FFF2-40B4-BE49-F238E27FC236}">
                <a16:creationId xmlns:a16="http://schemas.microsoft.com/office/drawing/2014/main" id="{94B9B6D3-1FB8-CD91-209F-C52A12B01CDC}"/>
              </a:ext>
            </a:extLst>
          </p:cNvPr>
          <p:cNvSpPr txBox="1"/>
          <p:nvPr/>
        </p:nvSpPr>
        <p:spPr>
          <a:xfrm>
            <a:off x="590975" y="4368357"/>
            <a:ext cx="3974806" cy="307777"/>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 sz="1400" dirty="0">
                <a:solidFill>
                  <a:schemeClr val="bg2">
                    <a:lumMod val="50000"/>
                  </a:schemeClr>
                </a:solidFill>
              </a:rPr>
              <a:t>[2] Rusu et al. "Progressive neural networks.“ (2016)</a:t>
            </a:r>
            <a:endParaRPr lang="en-US" sz="1400" dirty="0">
              <a:solidFill>
                <a:schemeClr val="bg2">
                  <a:lumMod val="50000"/>
                </a:schemeClr>
              </a:solidFill>
            </a:endParaRPr>
          </a:p>
        </p:txBody>
      </p:sp>
    </p:spTree>
    <p:extLst>
      <p:ext uri="{BB962C8B-B14F-4D97-AF65-F5344CB8AC3E}">
        <p14:creationId xmlns:p14="http://schemas.microsoft.com/office/powerpoint/2010/main" val="1079355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38DC9-314F-4894-DF9F-ED5A7C499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58CA7-A600-F93A-AE48-AA770AF65B83}"/>
              </a:ext>
            </a:extLst>
          </p:cNvPr>
          <p:cNvSpPr>
            <a:spLocks noGrp="1"/>
          </p:cNvSpPr>
          <p:nvPr>
            <p:ph type="title"/>
          </p:nvPr>
        </p:nvSpPr>
        <p:spPr/>
        <p:txBody>
          <a:bodyPr/>
          <a:lstStyle/>
          <a:p>
            <a:r>
              <a:rPr lang="en-US" dirty="0"/>
              <a:t>Methods – Progressive Architecture</a:t>
            </a:r>
            <a:endParaRPr lang="nl-NL" dirty="0"/>
          </a:p>
        </p:txBody>
      </p:sp>
      <p:sp>
        <p:nvSpPr>
          <p:cNvPr id="4" name="Footer Placeholder 3">
            <a:extLst>
              <a:ext uri="{FF2B5EF4-FFF2-40B4-BE49-F238E27FC236}">
                <a16:creationId xmlns:a16="http://schemas.microsoft.com/office/drawing/2014/main" id="{2A58E767-E5D0-7DB5-6D2D-7E488984348A}"/>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2DF49A8A-9FD9-E384-5D6F-EB800FDECF78}"/>
              </a:ext>
            </a:extLst>
          </p:cNvPr>
          <p:cNvSpPr>
            <a:spLocks noGrp="1"/>
          </p:cNvSpPr>
          <p:nvPr>
            <p:ph type="sldNum" sz="quarter" idx="12"/>
          </p:nvPr>
        </p:nvSpPr>
        <p:spPr/>
        <p:txBody>
          <a:bodyPr/>
          <a:lstStyle/>
          <a:p>
            <a:fld id="{09B7AD4A-C94A-7B42-9E17-606C7F366C4B}" type="slidenum">
              <a:rPr lang="nl-NL" smtClean="0"/>
              <a:t>11</a:t>
            </a:fld>
            <a:endParaRPr lang="nl-NL"/>
          </a:p>
        </p:txBody>
      </p:sp>
      <p:pic>
        <p:nvPicPr>
          <p:cNvPr id="9" name="Picture 8">
            <a:extLst>
              <a:ext uri="{FF2B5EF4-FFF2-40B4-BE49-F238E27FC236}">
                <a16:creationId xmlns:a16="http://schemas.microsoft.com/office/drawing/2014/main" id="{72A381E9-14A3-A358-5319-38342A094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000" y="877695"/>
            <a:ext cx="5125913" cy="4261112"/>
          </a:xfrm>
          <a:prstGeom prst="rect">
            <a:avLst/>
          </a:prstGeom>
        </p:spPr>
      </p:pic>
      <p:pic>
        <p:nvPicPr>
          <p:cNvPr id="10" name="Picture 9">
            <a:extLst>
              <a:ext uri="{FF2B5EF4-FFF2-40B4-BE49-F238E27FC236}">
                <a16:creationId xmlns:a16="http://schemas.microsoft.com/office/drawing/2014/main" id="{506260A5-70B6-51CA-24F2-0FFA53541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9981" y="2225376"/>
            <a:ext cx="3513198" cy="1565749"/>
          </a:xfrm>
          <a:prstGeom prst="rect">
            <a:avLst/>
          </a:prstGeom>
          <a:ln>
            <a:solidFill>
              <a:schemeClr val="tx1"/>
            </a:solidFill>
          </a:ln>
        </p:spPr>
      </p:pic>
    </p:spTree>
    <p:extLst>
      <p:ext uri="{BB962C8B-B14F-4D97-AF65-F5344CB8AC3E}">
        <p14:creationId xmlns:p14="http://schemas.microsoft.com/office/powerpoint/2010/main" val="3412152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37CF-C521-2983-7B00-E5A164ADA3FD}"/>
              </a:ext>
            </a:extLst>
          </p:cNvPr>
          <p:cNvSpPr>
            <a:spLocks noGrp="1"/>
          </p:cNvSpPr>
          <p:nvPr>
            <p:ph type="title"/>
          </p:nvPr>
        </p:nvSpPr>
        <p:spPr/>
        <p:txBody>
          <a:bodyPr/>
          <a:lstStyle/>
          <a:p>
            <a:r>
              <a:rPr lang="en-US" dirty="0"/>
              <a:t>Methods – Tuned PPO</a:t>
            </a:r>
            <a:endParaRPr lang="nl-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A414B9-277E-5708-E6BE-CDB018013825}"/>
                  </a:ext>
                </a:extLst>
              </p:cNvPr>
              <p:cNvSpPr>
                <a:spLocks noGrp="1"/>
              </p:cNvSpPr>
              <p:nvPr>
                <p:ph idx="1"/>
              </p:nvPr>
            </p:nvSpPr>
            <p:spPr/>
            <p:txBody>
              <a:bodyPr/>
              <a:lstStyle/>
              <a:p>
                <a:r>
                  <a:rPr lang="en-US" sz="2400" dirty="0"/>
                  <a:t>We identify 2 CRL methods that have good potential.</a:t>
                </a:r>
              </a:p>
              <a:p>
                <a:pPr marL="457200" indent="-457200">
                  <a:buFont typeface="+mj-lt"/>
                  <a:buAutoNum type="arabicPeriod"/>
                </a:pPr>
                <a:endParaRPr lang="en-US" sz="2400" b="1" dirty="0"/>
              </a:p>
              <a:p>
                <a:pPr marL="457200" indent="-457200">
                  <a:buFont typeface="+mj-lt"/>
                  <a:buAutoNum type="arabicPeriod" startAt="2"/>
                </a:pPr>
                <a:r>
                  <a:rPr lang="en-US" sz="2400" b="1" dirty="0"/>
                  <a:t>Tuned PPO</a:t>
                </a:r>
              </a:p>
              <a:p>
                <a:pPr marL="831850" lvl="1" indent="-457200"/>
                <a:r>
                  <a:rPr lang="en-US" sz="2200" dirty="0"/>
                  <a:t>Specialized optimization methods like </a:t>
                </a:r>
                <a:r>
                  <a:rPr lang="en-US" sz="2200" i="1" dirty="0" err="1"/>
                  <a:t>ReDo</a:t>
                </a:r>
                <a:r>
                  <a:rPr lang="en-US" sz="2200" dirty="0"/>
                  <a:t> and </a:t>
                </a:r>
                <a:r>
                  <a:rPr lang="en-US" sz="2200" i="1" dirty="0"/>
                  <a:t>Continual Backprop </a:t>
                </a:r>
                <a:r>
                  <a:rPr lang="en-US" sz="2200" dirty="0"/>
                  <a:t>reinitialize stagnant neurons to increase plasticity.</a:t>
                </a:r>
              </a:p>
              <a:p>
                <a:pPr marL="831850" lvl="1" indent="-457200"/>
                <a:r>
                  <a:rPr lang="en-US" sz="2200" dirty="0"/>
                  <a:t>No prior work on the adaptation of transformer models.</a:t>
                </a:r>
              </a:p>
              <a:p>
                <a:pPr marL="831850" lvl="1" indent="-457200"/>
                <a:r>
                  <a:rPr lang="en-US" sz="2200" dirty="0"/>
                  <a:t>Lyle et al. </a:t>
                </a:r>
                <a:r>
                  <a:rPr lang="en-US" sz="2200" dirty="0">
                    <a:solidFill>
                      <a:schemeClr val="bg2">
                        <a:lumMod val="50000"/>
                      </a:schemeClr>
                    </a:solidFill>
                  </a:rPr>
                  <a:t>[3]</a:t>
                </a:r>
                <a:r>
                  <a:rPr lang="en-US" sz="2200" dirty="0"/>
                  <a:t> and Dohare et al. </a:t>
                </a:r>
                <a:r>
                  <a:rPr lang="en-US" sz="2200" dirty="0">
                    <a:solidFill>
                      <a:schemeClr val="bg2">
                        <a:lumMod val="50000"/>
                      </a:schemeClr>
                    </a:solidFill>
                  </a:rPr>
                  <a:t>[4]</a:t>
                </a:r>
                <a:r>
                  <a:rPr lang="en-US" sz="2200" dirty="0"/>
                  <a:t> showed these methods have limited benefit over PPO tuned for plasticity in CRL settings:</a:t>
                </a:r>
              </a:p>
              <a:p>
                <a:pPr marL="1187450" lvl="2" indent="-457200"/>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𝛽</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𝛽</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=0.99</m:t>
                    </m:r>
                  </m:oMath>
                </a14:m>
                <a:r>
                  <a:rPr lang="nl-NL" sz="1800" dirty="0"/>
                  <a:t> (Adam </a:t>
                </a:r>
                <a:r>
                  <a:rPr lang="nl-NL" sz="1800" dirty="0" err="1"/>
                  <a:t>optimizer</a:t>
                </a:r>
                <a:r>
                  <a:rPr lang="nl-NL" sz="1800" dirty="0"/>
                  <a:t>), L2 </a:t>
                </a:r>
                <a:r>
                  <a:rPr lang="nl-NL" sz="1800" dirty="0" err="1"/>
                  <a:t>Regularization</a:t>
                </a:r>
                <a:r>
                  <a:rPr lang="nl-NL" sz="1800" dirty="0"/>
                  <a:t> (</a:t>
                </a:r>
                <a14:m>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=1</m:t>
                    </m:r>
                    <m:r>
                      <m:rPr>
                        <m:nor/>
                      </m:rPr>
                      <a:rPr lang="en-US" sz="1800" b="0" i="0" smtClean="0">
                        <a:latin typeface="Cambria Math" panose="02040503050406030204" pitchFamily="18" charset="0"/>
                      </a:rPr>
                      <m:t>e−6</m:t>
                    </m:r>
                  </m:oMath>
                </a14:m>
                <a:r>
                  <a:rPr lang="nl-NL" sz="1800" dirty="0"/>
                  <a:t>)</a:t>
                </a:r>
              </a:p>
            </p:txBody>
          </p:sp>
        </mc:Choice>
        <mc:Fallback xmlns="">
          <p:sp>
            <p:nvSpPr>
              <p:cNvPr id="3" name="Content Placeholder 2">
                <a:extLst>
                  <a:ext uri="{FF2B5EF4-FFF2-40B4-BE49-F238E27FC236}">
                    <a16:creationId xmlns:a16="http://schemas.microsoft.com/office/drawing/2014/main" id="{2FA414B9-277E-5708-E6BE-CDB018013825}"/>
                  </a:ext>
                </a:extLst>
              </p:cNvPr>
              <p:cNvSpPr>
                <a:spLocks noGrp="1" noRot="1" noChangeAspect="1" noMove="1" noResize="1" noEditPoints="1" noAdjustHandles="1" noChangeArrowheads="1" noChangeShapeType="1" noTextEdit="1"/>
              </p:cNvSpPr>
              <p:nvPr>
                <p:ph idx="1"/>
              </p:nvPr>
            </p:nvSpPr>
            <p:spPr>
              <a:blipFill>
                <a:blip r:embed="rId2"/>
                <a:stretch>
                  <a:fillRect l="-2269" t="-2742"/>
                </a:stretch>
              </a:blipFill>
            </p:spPr>
            <p:txBody>
              <a:bodyPr/>
              <a:lstStyle/>
              <a:p>
                <a:r>
                  <a:rPr lang="nl-NL">
                    <a:noFill/>
                  </a:rPr>
                  <a:t> </a:t>
                </a:r>
              </a:p>
            </p:txBody>
          </p:sp>
        </mc:Fallback>
      </mc:AlternateContent>
      <p:sp>
        <p:nvSpPr>
          <p:cNvPr id="4" name="Footer Placeholder 3">
            <a:extLst>
              <a:ext uri="{FF2B5EF4-FFF2-40B4-BE49-F238E27FC236}">
                <a16:creationId xmlns:a16="http://schemas.microsoft.com/office/drawing/2014/main" id="{3CDA4FF5-27E8-E58D-79C1-40421B65ED6E}"/>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0A8F98A5-453C-661B-2CB8-A00D8BC5538A}"/>
              </a:ext>
            </a:extLst>
          </p:cNvPr>
          <p:cNvSpPr>
            <a:spLocks noGrp="1"/>
          </p:cNvSpPr>
          <p:nvPr>
            <p:ph type="sldNum" sz="quarter" idx="12"/>
          </p:nvPr>
        </p:nvSpPr>
        <p:spPr/>
        <p:txBody>
          <a:bodyPr/>
          <a:lstStyle/>
          <a:p>
            <a:fld id="{09B7AD4A-C94A-7B42-9E17-606C7F366C4B}" type="slidenum">
              <a:rPr lang="nl-NL" smtClean="0"/>
              <a:t>12</a:t>
            </a:fld>
            <a:endParaRPr lang="nl-NL"/>
          </a:p>
        </p:txBody>
      </p:sp>
      <p:sp>
        <p:nvSpPr>
          <p:cNvPr id="8" name="TextBox 5">
            <a:extLst>
              <a:ext uri="{FF2B5EF4-FFF2-40B4-BE49-F238E27FC236}">
                <a16:creationId xmlns:a16="http://schemas.microsoft.com/office/drawing/2014/main" id="{B108203B-A2BA-8462-1460-242FF5847C21}"/>
              </a:ext>
            </a:extLst>
          </p:cNvPr>
          <p:cNvSpPr txBox="1"/>
          <p:nvPr/>
        </p:nvSpPr>
        <p:spPr>
          <a:xfrm>
            <a:off x="590975" y="4171500"/>
            <a:ext cx="5244897" cy="523220"/>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 sz="1400" dirty="0">
                <a:solidFill>
                  <a:schemeClr val="bg2">
                    <a:lumMod val="50000"/>
                  </a:schemeClr>
                </a:solidFill>
              </a:rPr>
              <a:t>[3] Lyle et al. “Understanding plasticity in neural networks” (2023)</a:t>
            </a:r>
          </a:p>
          <a:p>
            <a:r>
              <a:rPr lang="" sz="1400" dirty="0">
                <a:solidFill>
                  <a:schemeClr val="bg2">
                    <a:lumMod val="50000"/>
                  </a:schemeClr>
                </a:solidFill>
              </a:rPr>
              <a:t>[4] Dohare et al. "Loss of plasticity in deep continual learning."</a:t>
            </a:r>
            <a:r>
              <a:rPr lang="" sz="1400" i="1" dirty="0">
                <a:solidFill>
                  <a:schemeClr val="bg2">
                    <a:lumMod val="50000"/>
                  </a:schemeClr>
                </a:solidFill>
              </a:rPr>
              <a:t> </a:t>
            </a:r>
            <a:r>
              <a:rPr lang="" sz="1400" dirty="0">
                <a:solidFill>
                  <a:schemeClr val="bg2">
                    <a:lumMod val="50000"/>
                  </a:schemeClr>
                </a:solidFill>
              </a:rPr>
              <a:t>(2024)</a:t>
            </a:r>
          </a:p>
        </p:txBody>
      </p:sp>
    </p:spTree>
    <p:extLst>
      <p:ext uri="{BB962C8B-B14F-4D97-AF65-F5344CB8AC3E}">
        <p14:creationId xmlns:p14="http://schemas.microsoft.com/office/powerpoint/2010/main" val="2855856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E5FE6-D230-6F0A-FAB3-1FEAE51E3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0D930-C522-B4E4-C2FF-C670E59F91B5}"/>
              </a:ext>
            </a:extLst>
          </p:cNvPr>
          <p:cNvSpPr>
            <a:spLocks noGrp="1"/>
          </p:cNvSpPr>
          <p:nvPr>
            <p:ph type="title"/>
          </p:nvPr>
        </p:nvSpPr>
        <p:spPr/>
        <p:txBody>
          <a:bodyPr/>
          <a:lstStyle/>
          <a:p>
            <a:r>
              <a:rPr lang="en-US" dirty="0"/>
              <a:t>Experiments – Stationary</a:t>
            </a:r>
            <a:endParaRPr lang="nl-NL" dirty="0"/>
          </a:p>
        </p:txBody>
      </p:sp>
      <p:sp>
        <p:nvSpPr>
          <p:cNvPr id="3" name="Content Placeholder 2">
            <a:extLst>
              <a:ext uri="{FF2B5EF4-FFF2-40B4-BE49-F238E27FC236}">
                <a16:creationId xmlns:a16="http://schemas.microsoft.com/office/drawing/2014/main" id="{2B5F9505-40AE-6D95-150D-0CB88C0FBDD6}"/>
              </a:ext>
            </a:extLst>
          </p:cNvPr>
          <p:cNvSpPr>
            <a:spLocks noGrp="1"/>
          </p:cNvSpPr>
          <p:nvPr>
            <p:ph idx="1"/>
          </p:nvPr>
        </p:nvSpPr>
        <p:spPr/>
        <p:txBody>
          <a:bodyPr/>
          <a:lstStyle/>
          <a:p>
            <a:r>
              <a:rPr lang="en-US" sz="1800" dirty="0"/>
              <a:t>Mean win rate of row agent against column agent (1000 games, in-distribution data).</a:t>
            </a:r>
          </a:p>
        </p:txBody>
      </p:sp>
      <p:sp>
        <p:nvSpPr>
          <p:cNvPr id="4" name="Footer Placeholder 3">
            <a:extLst>
              <a:ext uri="{FF2B5EF4-FFF2-40B4-BE49-F238E27FC236}">
                <a16:creationId xmlns:a16="http://schemas.microsoft.com/office/drawing/2014/main" id="{50030AFE-D98B-10B2-B1F6-5C8668101E16}"/>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D0EA9106-6A93-C383-A5CF-70A92317FCA4}"/>
              </a:ext>
            </a:extLst>
          </p:cNvPr>
          <p:cNvSpPr>
            <a:spLocks noGrp="1"/>
          </p:cNvSpPr>
          <p:nvPr>
            <p:ph type="sldNum" sz="quarter" idx="12"/>
          </p:nvPr>
        </p:nvSpPr>
        <p:spPr/>
        <p:txBody>
          <a:bodyPr/>
          <a:lstStyle/>
          <a:p>
            <a:fld id="{09B7AD4A-C94A-7B42-9E17-606C7F366C4B}" type="slidenum">
              <a:rPr lang="nl-NL" smtClean="0"/>
              <a:t>13</a:t>
            </a:fld>
            <a:endParaRPr lang="nl-NL"/>
          </a:p>
        </p:txBody>
      </p:sp>
      <p:pic>
        <p:nvPicPr>
          <p:cNvPr id="7" name="Picture 6">
            <a:extLst>
              <a:ext uri="{FF2B5EF4-FFF2-40B4-BE49-F238E27FC236}">
                <a16:creationId xmlns:a16="http://schemas.microsoft.com/office/drawing/2014/main" id="{446BA415-56EA-1CFE-46C7-0B3BBE37ED1A}"/>
              </a:ext>
            </a:extLst>
          </p:cNvPr>
          <p:cNvPicPr>
            <a:picLocks noChangeAspect="1"/>
          </p:cNvPicPr>
          <p:nvPr/>
        </p:nvPicPr>
        <p:blipFill>
          <a:blip r:embed="rId2"/>
          <a:stretch>
            <a:fillRect/>
          </a:stretch>
        </p:blipFill>
        <p:spPr>
          <a:xfrm>
            <a:off x="228600" y="1400622"/>
            <a:ext cx="8686799" cy="3183318"/>
          </a:xfrm>
          <a:prstGeom prst="rect">
            <a:avLst/>
          </a:prstGeom>
        </p:spPr>
      </p:pic>
    </p:spTree>
    <p:extLst>
      <p:ext uri="{BB962C8B-B14F-4D97-AF65-F5344CB8AC3E}">
        <p14:creationId xmlns:p14="http://schemas.microsoft.com/office/powerpoint/2010/main" val="3294827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0274B-B430-BE5D-C0E3-C41613644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B2983-61EA-FB39-9B9A-826E66215EFE}"/>
              </a:ext>
            </a:extLst>
          </p:cNvPr>
          <p:cNvSpPr>
            <a:spLocks noGrp="1"/>
          </p:cNvSpPr>
          <p:nvPr>
            <p:ph type="title"/>
          </p:nvPr>
        </p:nvSpPr>
        <p:spPr/>
        <p:txBody>
          <a:bodyPr/>
          <a:lstStyle/>
          <a:p>
            <a:r>
              <a:rPr lang="en-US" dirty="0"/>
              <a:t>Experiments – Non-Stationary</a:t>
            </a:r>
            <a:endParaRPr lang="nl-NL" dirty="0"/>
          </a:p>
        </p:txBody>
      </p:sp>
      <p:sp>
        <p:nvSpPr>
          <p:cNvPr id="4" name="Footer Placeholder 3">
            <a:extLst>
              <a:ext uri="{FF2B5EF4-FFF2-40B4-BE49-F238E27FC236}">
                <a16:creationId xmlns:a16="http://schemas.microsoft.com/office/drawing/2014/main" id="{6F24F018-6EFA-F110-7C27-187992EE5974}"/>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9E9F1C08-3695-EB1F-88C7-22683AE4838E}"/>
              </a:ext>
            </a:extLst>
          </p:cNvPr>
          <p:cNvSpPr>
            <a:spLocks noGrp="1"/>
          </p:cNvSpPr>
          <p:nvPr>
            <p:ph type="sldNum" sz="quarter" idx="12"/>
          </p:nvPr>
        </p:nvSpPr>
        <p:spPr/>
        <p:txBody>
          <a:bodyPr/>
          <a:lstStyle/>
          <a:p>
            <a:fld id="{09B7AD4A-C94A-7B42-9E17-606C7F366C4B}" type="slidenum">
              <a:rPr lang="nl-NL" smtClean="0"/>
              <a:t>14</a:t>
            </a:fld>
            <a:endParaRPr lang="nl-NL"/>
          </a:p>
        </p:txBody>
      </p:sp>
      <p:pic>
        <p:nvPicPr>
          <p:cNvPr id="3" name="Picture 2">
            <a:extLst>
              <a:ext uri="{FF2B5EF4-FFF2-40B4-BE49-F238E27FC236}">
                <a16:creationId xmlns:a16="http://schemas.microsoft.com/office/drawing/2014/main" id="{7CBFCA07-AFEB-2457-CE2E-9DB45ED44B80}"/>
              </a:ext>
            </a:extLst>
          </p:cNvPr>
          <p:cNvPicPr>
            <a:picLocks noChangeAspect="1"/>
          </p:cNvPicPr>
          <p:nvPr/>
        </p:nvPicPr>
        <p:blipFill>
          <a:blip r:embed="rId3"/>
          <a:stretch>
            <a:fillRect/>
          </a:stretch>
        </p:blipFill>
        <p:spPr>
          <a:xfrm>
            <a:off x="773832" y="1273988"/>
            <a:ext cx="7596336" cy="3068348"/>
          </a:xfrm>
          <a:prstGeom prst="rect">
            <a:avLst/>
          </a:prstGeom>
        </p:spPr>
      </p:pic>
      <p:sp>
        <p:nvSpPr>
          <p:cNvPr id="9" name="TextBox 7">
            <a:extLst>
              <a:ext uri="{FF2B5EF4-FFF2-40B4-BE49-F238E27FC236}">
                <a16:creationId xmlns:a16="http://schemas.microsoft.com/office/drawing/2014/main" id="{5654E78B-7AF3-EFB1-601F-55B13E9C9678}"/>
              </a:ext>
            </a:extLst>
          </p:cNvPr>
          <p:cNvSpPr txBox="1"/>
          <p:nvPr/>
        </p:nvSpPr>
        <p:spPr>
          <a:xfrm>
            <a:off x="2334125" y="4506032"/>
            <a:ext cx="3878241" cy="369332"/>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(1000 games, progressive architecture)</a:t>
            </a:r>
          </a:p>
        </p:txBody>
      </p:sp>
    </p:spTree>
    <p:extLst>
      <p:ext uri="{BB962C8B-B14F-4D97-AF65-F5344CB8AC3E}">
        <p14:creationId xmlns:p14="http://schemas.microsoft.com/office/powerpoint/2010/main" val="2128543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5D566-7762-1071-AE21-ACEC4691F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79188-A98C-81C2-3489-B79643BF7D68}"/>
              </a:ext>
            </a:extLst>
          </p:cNvPr>
          <p:cNvSpPr>
            <a:spLocks noGrp="1"/>
          </p:cNvSpPr>
          <p:nvPr>
            <p:ph type="title"/>
          </p:nvPr>
        </p:nvSpPr>
        <p:spPr/>
        <p:txBody>
          <a:bodyPr/>
          <a:lstStyle/>
          <a:p>
            <a:r>
              <a:rPr lang="en-US" dirty="0"/>
              <a:t>Experiments – Non-Stationary</a:t>
            </a:r>
            <a:endParaRPr lang="nl-NL" dirty="0"/>
          </a:p>
        </p:txBody>
      </p:sp>
      <p:sp>
        <p:nvSpPr>
          <p:cNvPr id="4" name="Footer Placeholder 3">
            <a:extLst>
              <a:ext uri="{FF2B5EF4-FFF2-40B4-BE49-F238E27FC236}">
                <a16:creationId xmlns:a16="http://schemas.microsoft.com/office/drawing/2014/main" id="{73B469F5-BAE8-1AAE-D595-864B8B3248B1}"/>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8AE9104D-39CE-DFFF-C410-275E0F99CCA3}"/>
              </a:ext>
            </a:extLst>
          </p:cNvPr>
          <p:cNvSpPr>
            <a:spLocks noGrp="1"/>
          </p:cNvSpPr>
          <p:nvPr>
            <p:ph type="sldNum" sz="quarter" idx="12"/>
          </p:nvPr>
        </p:nvSpPr>
        <p:spPr/>
        <p:txBody>
          <a:bodyPr/>
          <a:lstStyle/>
          <a:p>
            <a:fld id="{09B7AD4A-C94A-7B42-9E17-606C7F366C4B}" type="slidenum">
              <a:rPr lang="nl-NL" smtClean="0"/>
              <a:t>15</a:t>
            </a:fld>
            <a:endParaRPr lang="nl-NL"/>
          </a:p>
        </p:txBody>
      </p:sp>
      <p:pic>
        <p:nvPicPr>
          <p:cNvPr id="3" name="Picture 2">
            <a:extLst>
              <a:ext uri="{FF2B5EF4-FFF2-40B4-BE49-F238E27FC236}">
                <a16:creationId xmlns:a16="http://schemas.microsoft.com/office/drawing/2014/main" id="{BFB1CA1E-BDF8-6730-31BB-63448E944F48}"/>
              </a:ext>
            </a:extLst>
          </p:cNvPr>
          <p:cNvPicPr>
            <a:picLocks noChangeAspect="1"/>
          </p:cNvPicPr>
          <p:nvPr/>
        </p:nvPicPr>
        <p:blipFill>
          <a:blip r:embed="rId3"/>
          <a:srcRect/>
          <a:stretch/>
        </p:blipFill>
        <p:spPr>
          <a:xfrm>
            <a:off x="825552" y="1273988"/>
            <a:ext cx="7492896" cy="3068348"/>
          </a:xfrm>
          <a:prstGeom prst="rect">
            <a:avLst/>
          </a:prstGeom>
        </p:spPr>
      </p:pic>
      <p:sp>
        <p:nvSpPr>
          <p:cNvPr id="9" name="TextBox 7">
            <a:extLst>
              <a:ext uri="{FF2B5EF4-FFF2-40B4-BE49-F238E27FC236}">
                <a16:creationId xmlns:a16="http://schemas.microsoft.com/office/drawing/2014/main" id="{6DE8692B-77C4-973E-0640-DDE00EF99743}"/>
              </a:ext>
            </a:extLst>
          </p:cNvPr>
          <p:cNvSpPr txBox="1"/>
          <p:nvPr/>
        </p:nvSpPr>
        <p:spPr>
          <a:xfrm>
            <a:off x="2992029" y="4506390"/>
            <a:ext cx="2562433" cy="369332"/>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(1000 games, tuned PPO)</a:t>
            </a:r>
          </a:p>
        </p:txBody>
      </p:sp>
    </p:spTree>
    <p:extLst>
      <p:ext uri="{BB962C8B-B14F-4D97-AF65-F5344CB8AC3E}">
        <p14:creationId xmlns:p14="http://schemas.microsoft.com/office/powerpoint/2010/main" val="256178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296A-4060-DDB4-CC13-D5864E9E9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9C961-5686-D078-3B96-7D352DB3567E}"/>
              </a:ext>
            </a:extLst>
          </p:cNvPr>
          <p:cNvSpPr>
            <a:spLocks noGrp="1"/>
          </p:cNvSpPr>
          <p:nvPr>
            <p:ph type="title"/>
          </p:nvPr>
        </p:nvSpPr>
        <p:spPr/>
        <p:txBody>
          <a:bodyPr/>
          <a:lstStyle/>
          <a:p>
            <a:r>
              <a:rPr lang="en-US" dirty="0"/>
              <a:t>Conclusion</a:t>
            </a:r>
            <a:endParaRPr lang="nl-NL" dirty="0"/>
          </a:p>
        </p:txBody>
      </p:sp>
      <p:sp>
        <p:nvSpPr>
          <p:cNvPr id="3" name="Content Placeholder 2">
            <a:extLst>
              <a:ext uri="{FF2B5EF4-FFF2-40B4-BE49-F238E27FC236}">
                <a16:creationId xmlns:a16="http://schemas.microsoft.com/office/drawing/2014/main" id="{5119FE9F-8F04-4336-E1E4-0CC0EC45930A}"/>
              </a:ext>
            </a:extLst>
          </p:cNvPr>
          <p:cNvSpPr>
            <a:spLocks noGrp="1"/>
          </p:cNvSpPr>
          <p:nvPr>
            <p:ph idx="1"/>
          </p:nvPr>
        </p:nvSpPr>
        <p:spPr/>
        <p:txBody>
          <a:bodyPr/>
          <a:lstStyle/>
          <a:p>
            <a:r>
              <a:rPr lang="en-US" sz="2400" b="1" dirty="0"/>
              <a:t>Can continual reinforcement learning methods facilitate effective knowledge transfer across game updates (in VGC)?</a:t>
            </a:r>
          </a:p>
          <a:p>
            <a:pPr lvl="1"/>
            <a:r>
              <a:rPr lang="en-US" sz="2000" b="1" dirty="0"/>
              <a:t>Tuned PPO</a:t>
            </a:r>
            <a:r>
              <a:rPr lang="en-US" sz="2000" dirty="0"/>
              <a:t>: consistently outperforms VGC-Bench and exhibits better generalization to out-of-distribution data.</a:t>
            </a:r>
            <a:endParaRPr lang="en-US" sz="2000" b="1" dirty="0"/>
          </a:p>
          <a:p>
            <a:pPr lvl="1"/>
            <a:r>
              <a:rPr lang="en-US" sz="2000" b="1" dirty="0"/>
              <a:t>Progressive Architecture</a:t>
            </a:r>
            <a:r>
              <a:rPr lang="en-US" sz="2000" dirty="0"/>
              <a:t>: worse than the VGC-Bench agents, but also exhibits better generalization.</a:t>
            </a:r>
          </a:p>
          <a:p>
            <a:pPr lvl="1"/>
            <a:endParaRPr lang="en-US" sz="2000" dirty="0"/>
          </a:p>
          <a:p>
            <a:r>
              <a:rPr lang="en-US" sz="2200" dirty="0"/>
              <a:t>Neither agent can consistently beat its own architecture retrained.</a:t>
            </a:r>
          </a:p>
          <a:p>
            <a:r>
              <a:rPr lang="en-US" sz="2200" dirty="0"/>
              <a:t>All agents consistently improve outright performance and generalization compared to VGC-Bench!</a:t>
            </a:r>
          </a:p>
          <a:p>
            <a:endParaRPr lang="nl-NL" sz="2400" dirty="0"/>
          </a:p>
        </p:txBody>
      </p:sp>
      <p:sp>
        <p:nvSpPr>
          <p:cNvPr id="4" name="Footer Placeholder 3">
            <a:extLst>
              <a:ext uri="{FF2B5EF4-FFF2-40B4-BE49-F238E27FC236}">
                <a16:creationId xmlns:a16="http://schemas.microsoft.com/office/drawing/2014/main" id="{D96C298F-0437-2376-9A76-6D3933A817E9}"/>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4889EB25-836B-0D39-0EDD-0B471FC5DE97}"/>
              </a:ext>
            </a:extLst>
          </p:cNvPr>
          <p:cNvSpPr>
            <a:spLocks noGrp="1"/>
          </p:cNvSpPr>
          <p:nvPr>
            <p:ph type="sldNum" sz="quarter" idx="12"/>
          </p:nvPr>
        </p:nvSpPr>
        <p:spPr/>
        <p:txBody>
          <a:bodyPr/>
          <a:lstStyle/>
          <a:p>
            <a:fld id="{09B7AD4A-C94A-7B42-9E17-606C7F366C4B}" type="slidenum">
              <a:rPr lang="nl-NL" smtClean="0"/>
              <a:t>16</a:t>
            </a:fld>
            <a:endParaRPr lang="nl-NL"/>
          </a:p>
        </p:txBody>
      </p:sp>
    </p:spTree>
    <p:extLst>
      <p:ext uri="{BB962C8B-B14F-4D97-AF65-F5344CB8AC3E}">
        <p14:creationId xmlns:p14="http://schemas.microsoft.com/office/powerpoint/2010/main" val="2984813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B0C21-876D-5FA1-B1C8-2B2943D7A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A7BB0-A3DB-D8DB-5297-E9EC8264D7DA}"/>
              </a:ext>
            </a:extLst>
          </p:cNvPr>
          <p:cNvSpPr>
            <a:spLocks noGrp="1"/>
          </p:cNvSpPr>
          <p:nvPr>
            <p:ph type="title"/>
          </p:nvPr>
        </p:nvSpPr>
        <p:spPr/>
        <p:txBody>
          <a:bodyPr/>
          <a:lstStyle/>
          <a:p>
            <a:r>
              <a:rPr lang="en-US" dirty="0"/>
              <a:t>Future Work</a:t>
            </a:r>
            <a:endParaRPr lang="nl-NL" dirty="0"/>
          </a:p>
        </p:txBody>
      </p:sp>
      <p:sp>
        <p:nvSpPr>
          <p:cNvPr id="3" name="Content Placeholder 2">
            <a:extLst>
              <a:ext uri="{FF2B5EF4-FFF2-40B4-BE49-F238E27FC236}">
                <a16:creationId xmlns:a16="http://schemas.microsoft.com/office/drawing/2014/main" id="{AE683BEA-C602-578D-24C8-557BAF29D4A1}"/>
              </a:ext>
            </a:extLst>
          </p:cNvPr>
          <p:cNvSpPr>
            <a:spLocks noGrp="1"/>
          </p:cNvSpPr>
          <p:nvPr>
            <p:ph idx="1"/>
          </p:nvPr>
        </p:nvSpPr>
        <p:spPr/>
        <p:txBody>
          <a:bodyPr/>
          <a:lstStyle/>
          <a:p>
            <a:r>
              <a:rPr lang="en-US" sz="2400" dirty="0"/>
              <a:t>Seeing what tuned PPO achieves with only a few parameter adjustments, there is likely more on the table.</a:t>
            </a:r>
          </a:p>
          <a:p>
            <a:endParaRPr lang="en-US" sz="2400" dirty="0"/>
          </a:p>
          <a:p>
            <a:r>
              <a:rPr lang="en-US" sz="2400" dirty="0"/>
              <a:t>Other continual learning methods (like </a:t>
            </a:r>
            <a:r>
              <a:rPr lang="en-US" sz="2400" dirty="0" err="1"/>
              <a:t>ReDo</a:t>
            </a:r>
            <a:r>
              <a:rPr lang="en-US" sz="2400" dirty="0"/>
              <a:t> and Continual Backprop) are a natural next step.</a:t>
            </a:r>
          </a:p>
          <a:p>
            <a:endParaRPr lang="en-US" sz="2400" dirty="0"/>
          </a:p>
          <a:p>
            <a:r>
              <a:rPr lang="en-US" sz="2400" dirty="0"/>
              <a:t>Continual learning in non-stationary games is an understudied domain with great potential!</a:t>
            </a:r>
          </a:p>
        </p:txBody>
      </p:sp>
      <p:sp>
        <p:nvSpPr>
          <p:cNvPr id="4" name="Footer Placeholder 3">
            <a:extLst>
              <a:ext uri="{FF2B5EF4-FFF2-40B4-BE49-F238E27FC236}">
                <a16:creationId xmlns:a16="http://schemas.microsoft.com/office/drawing/2014/main" id="{47A503C9-EFF8-A17D-7552-A0CB8CF89E7B}"/>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4D3AFB64-9A0D-322F-DAEF-BA158FACA099}"/>
              </a:ext>
            </a:extLst>
          </p:cNvPr>
          <p:cNvSpPr>
            <a:spLocks noGrp="1"/>
          </p:cNvSpPr>
          <p:nvPr>
            <p:ph type="sldNum" sz="quarter" idx="12"/>
          </p:nvPr>
        </p:nvSpPr>
        <p:spPr/>
        <p:txBody>
          <a:bodyPr/>
          <a:lstStyle/>
          <a:p>
            <a:fld id="{09B7AD4A-C94A-7B42-9E17-606C7F366C4B}" type="slidenum">
              <a:rPr lang="nl-NL" smtClean="0"/>
              <a:t>17</a:t>
            </a:fld>
            <a:endParaRPr lang="nl-NL"/>
          </a:p>
        </p:txBody>
      </p:sp>
    </p:spTree>
    <p:extLst>
      <p:ext uri="{BB962C8B-B14F-4D97-AF65-F5344CB8AC3E}">
        <p14:creationId xmlns:p14="http://schemas.microsoft.com/office/powerpoint/2010/main" val="2144843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2EF5-1863-9363-3B48-40BF82310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D3C94-0953-F484-810B-E3000DD84B62}"/>
              </a:ext>
            </a:extLst>
          </p:cNvPr>
          <p:cNvSpPr>
            <a:spLocks noGrp="1"/>
          </p:cNvSpPr>
          <p:nvPr>
            <p:ph type="ctrTitle"/>
          </p:nvPr>
        </p:nvSpPr>
        <p:spPr/>
        <p:txBody>
          <a:bodyPr/>
          <a:lstStyle/>
          <a:p>
            <a:r>
              <a:rPr lang="en-US" sz="2800" noProof="0" dirty="0"/>
              <a:t>Continual Reinforcement Learning for Evolving</a:t>
            </a:r>
            <a:br>
              <a:rPr lang="en-US" sz="2800" noProof="0" dirty="0"/>
            </a:br>
            <a:r>
              <a:rPr lang="en-US" sz="2800" noProof="0" dirty="0"/>
              <a:t>Games: Learning Across Game Updates in</a:t>
            </a:r>
            <a:br>
              <a:rPr lang="en-US" sz="2800" noProof="0" dirty="0"/>
            </a:br>
            <a:r>
              <a:rPr lang="en-US" sz="2800" noProof="0" dirty="0"/>
              <a:t>Competitive Pokémon</a:t>
            </a:r>
          </a:p>
        </p:txBody>
      </p:sp>
      <p:sp>
        <p:nvSpPr>
          <p:cNvPr id="3" name="Subtitle 2">
            <a:extLst>
              <a:ext uri="{FF2B5EF4-FFF2-40B4-BE49-F238E27FC236}">
                <a16:creationId xmlns:a16="http://schemas.microsoft.com/office/drawing/2014/main" id="{88E9DD94-2D3B-737E-1CA6-95048C2B62DB}"/>
              </a:ext>
            </a:extLst>
          </p:cNvPr>
          <p:cNvSpPr>
            <a:spLocks noGrp="1"/>
          </p:cNvSpPr>
          <p:nvPr>
            <p:ph type="subTitle" idx="1"/>
          </p:nvPr>
        </p:nvSpPr>
        <p:spPr/>
        <p:txBody>
          <a:bodyPr/>
          <a:lstStyle/>
          <a:p>
            <a:r>
              <a:rPr lang="en-US" dirty="0">
                <a:solidFill>
                  <a:schemeClr val="bg1"/>
                </a:solidFill>
                <a:hlinkClick r:id="rId2">
                  <a:extLst>
                    <a:ext uri="{A12FA001-AC4F-418D-AE19-62706E023703}">
                      <ahyp:hlinkClr xmlns:ahyp="http://schemas.microsoft.com/office/drawing/2018/hyperlinkcolor" val="tx"/>
                    </a:ext>
                  </a:extLst>
                </a:hlinkClick>
              </a:rPr>
              <a:t>thomas.vroom@maastrichtuniversity.nl</a:t>
            </a:r>
            <a:endParaRPr lang="en-US" dirty="0">
              <a:solidFill>
                <a:schemeClr val="bg1"/>
              </a:solidFill>
            </a:endParaRPr>
          </a:p>
          <a:p>
            <a:r>
              <a:rPr lang="en-US" dirty="0">
                <a:solidFill>
                  <a:schemeClr val="bg1"/>
                </a:solidFill>
              </a:rPr>
              <a:t>BNAIC 2026</a:t>
            </a:r>
          </a:p>
        </p:txBody>
      </p:sp>
    </p:spTree>
    <p:extLst>
      <p:ext uri="{BB962C8B-B14F-4D97-AF65-F5344CB8AC3E}">
        <p14:creationId xmlns:p14="http://schemas.microsoft.com/office/powerpoint/2010/main" val="1123982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4901B-BFE9-0A3D-BF9A-462842CEA34E}"/>
              </a:ext>
            </a:extLst>
          </p:cNvPr>
          <p:cNvSpPr>
            <a:spLocks noGrp="1"/>
          </p:cNvSpPr>
          <p:nvPr>
            <p:ph type="ctrTitle"/>
          </p:nvPr>
        </p:nvSpPr>
        <p:spPr/>
        <p:txBody>
          <a:bodyPr/>
          <a:lstStyle/>
          <a:p>
            <a:r>
              <a:rPr lang="en-US" dirty="0"/>
              <a:t>Appendix</a:t>
            </a:r>
            <a:endParaRPr lang="nl-NL" dirty="0"/>
          </a:p>
        </p:txBody>
      </p:sp>
    </p:spTree>
    <p:extLst>
      <p:ext uri="{BB962C8B-B14F-4D97-AF65-F5344CB8AC3E}">
        <p14:creationId xmlns:p14="http://schemas.microsoft.com/office/powerpoint/2010/main" val="2572057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ED67-7D79-578B-50E0-368B95A80BE7}"/>
              </a:ext>
            </a:extLst>
          </p:cNvPr>
          <p:cNvSpPr>
            <a:spLocks noGrp="1"/>
          </p:cNvSpPr>
          <p:nvPr>
            <p:ph type="title"/>
          </p:nvPr>
        </p:nvSpPr>
        <p:spPr/>
        <p:txBody>
          <a:bodyPr/>
          <a:lstStyle/>
          <a:p>
            <a:r>
              <a:rPr lang="en-US" dirty="0"/>
              <a:t>VGC-Bench Hyperparameters</a:t>
            </a:r>
            <a:endParaRPr lang="nl-NL" dirty="0"/>
          </a:p>
        </p:txBody>
      </p:sp>
      <p:sp>
        <p:nvSpPr>
          <p:cNvPr id="4" name="Footer Placeholder 3">
            <a:extLst>
              <a:ext uri="{FF2B5EF4-FFF2-40B4-BE49-F238E27FC236}">
                <a16:creationId xmlns:a16="http://schemas.microsoft.com/office/drawing/2014/main" id="{FB8B81B6-D4B3-061C-D9DA-B8B411B2A127}"/>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F13FC16B-5EAA-16FE-822B-F6CD531E6F70}"/>
              </a:ext>
            </a:extLst>
          </p:cNvPr>
          <p:cNvSpPr>
            <a:spLocks noGrp="1"/>
          </p:cNvSpPr>
          <p:nvPr>
            <p:ph type="sldNum" sz="quarter" idx="12"/>
          </p:nvPr>
        </p:nvSpPr>
        <p:spPr/>
        <p:txBody>
          <a:bodyPr/>
          <a:lstStyle/>
          <a:p>
            <a:fld id="{09B7AD4A-C94A-7B42-9E17-606C7F366C4B}" type="slidenum">
              <a:rPr lang="nl-NL" smtClean="0"/>
              <a:t>20</a:t>
            </a:fld>
            <a:endParaRPr lang="nl-NL"/>
          </a:p>
        </p:txBody>
      </p:sp>
      <p:pic>
        <p:nvPicPr>
          <p:cNvPr id="6" name="Picture 5">
            <a:extLst>
              <a:ext uri="{FF2B5EF4-FFF2-40B4-BE49-F238E27FC236}">
                <a16:creationId xmlns:a16="http://schemas.microsoft.com/office/drawing/2014/main" id="{B771ACDD-135E-8E28-5E2D-6709C61A87B3}"/>
              </a:ext>
            </a:extLst>
          </p:cNvPr>
          <p:cNvPicPr>
            <a:picLocks noChangeAspect="1"/>
          </p:cNvPicPr>
          <p:nvPr/>
        </p:nvPicPr>
        <p:blipFill>
          <a:blip r:embed="rId2"/>
          <a:stretch>
            <a:fillRect/>
          </a:stretch>
        </p:blipFill>
        <p:spPr>
          <a:xfrm>
            <a:off x="408600" y="1102387"/>
            <a:ext cx="8326799" cy="3411550"/>
          </a:xfrm>
          <a:prstGeom prst="rect">
            <a:avLst/>
          </a:prstGeom>
        </p:spPr>
      </p:pic>
      <p:sp>
        <p:nvSpPr>
          <p:cNvPr id="7" name="TextBox 7">
            <a:extLst>
              <a:ext uri="{FF2B5EF4-FFF2-40B4-BE49-F238E27FC236}">
                <a16:creationId xmlns:a16="http://schemas.microsoft.com/office/drawing/2014/main" id="{D76D5BF5-B63E-79D3-592A-D08D4C302BA9}"/>
              </a:ext>
            </a:extLst>
          </p:cNvPr>
          <p:cNvSpPr txBox="1"/>
          <p:nvPr/>
        </p:nvSpPr>
        <p:spPr>
          <a:xfrm>
            <a:off x="496687" y="4416784"/>
            <a:ext cx="8053423" cy="307777"/>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 sz="1400" dirty="0">
                <a:solidFill>
                  <a:schemeClr val="accent6"/>
                </a:solidFill>
              </a:rPr>
              <a:t>[10] Angliss et al. "VGC-Bench: Towards Mastering Diverse Team Strategies in Competitive </a:t>
            </a:r>
            <a:r>
              <a:rPr lang="en-US" sz="1400" dirty="0">
                <a:solidFill>
                  <a:schemeClr val="accent6"/>
                </a:solidFill>
              </a:rPr>
              <a:t>Pokémon</a:t>
            </a:r>
            <a:r>
              <a:rPr lang="" sz="1400" dirty="0">
                <a:solidFill>
                  <a:schemeClr val="accent6"/>
                </a:solidFill>
              </a:rPr>
              <a:t>.“ (2025)</a:t>
            </a:r>
            <a:endParaRPr lang="en-US" sz="1400" dirty="0">
              <a:solidFill>
                <a:schemeClr val="accent6"/>
              </a:solidFill>
            </a:endParaRPr>
          </a:p>
        </p:txBody>
      </p:sp>
    </p:spTree>
    <p:extLst>
      <p:ext uri="{BB962C8B-B14F-4D97-AF65-F5344CB8AC3E}">
        <p14:creationId xmlns:p14="http://schemas.microsoft.com/office/powerpoint/2010/main" val="1530111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2F14C-D8F8-3D52-B7C3-7ADB14725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22AC7-F23A-F08C-6A4B-0E87FB6C8628}"/>
              </a:ext>
            </a:extLst>
          </p:cNvPr>
          <p:cNvSpPr>
            <a:spLocks noGrp="1"/>
          </p:cNvSpPr>
          <p:nvPr>
            <p:ph type="title"/>
          </p:nvPr>
        </p:nvSpPr>
        <p:spPr/>
        <p:txBody>
          <a:bodyPr/>
          <a:lstStyle/>
          <a:p>
            <a:r>
              <a:rPr lang="en-US" noProof="0" dirty="0"/>
              <a:t>Preliminary</a:t>
            </a:r>
          </a:p>
        </p:txBody>
      </p:sp>
      <p:sp>
        <p:nvSpPr>
          <p:cNvPr id="3" name="Content Placeholder 2">
            <a:extLst>
              <a:ext uri="{FF2B5EF4-FFF2-40B4-BE49-F238E27FC236}">
                <a16:creationId xmlns:a16="http://schemas.microsoft.com/office/drawing/2014/main" id="{E152E15C-10DB-6A85-92F1-91BB18C522A2}"/>
              </a:ext>
            </a:extLst>
          </p:cNvPr>
          <p:cNvSpPr>
            <a:spLocks noGrp="1"/>
          </p:cNvSpPr>
          <p:nvPr>
            <p:ph idx="1"/>
          </p:nvPr>
        </p:nvSpPr>
        <p:spPr/>
        <p:txBody>
          <a:bodyPr/>
          <a:lstStyle/>
          <a:p>
            <a:r>
              <a:rPr lang="en-US" sz="2400" dirty="0"/>
              <a:t>Are agents capable of zero-shot transfer?</a:t>
            </a:r>
          </a:p>
          <a:p>
            <a:pPr lvl="1"/>
            <a:r>
              <a:rPr lang="en-US" sz="2000" i="1" dirty="0"/>
              <a:t>1000 episodes, 3 seeds, in-distribution data.</a:t>
            </a:r>
          </a:p>
        </p:txBody>
      </p:sp>
      <p:sp>
        <p:nvSpPr>
          <p:cNvPr id="4" name="Footer Placeholder 3">
            <a:extLst>
              <a:ext uri="{FF2B5EF4-FFF2-40B4-BE49-F238E27FC236}">
                <a16:creationId xmlns:a16="http://schemas.microsoft.com/office/drawing/2014/main" id="{A1342BEB-79F6-AEB5-EBF2-B0696A51306B}"/>
              </a:ext>
            </a:extLst>
          </p:cNvPr>
          <p:cNvSpPr>
            <a:spLocks noGrp="1"/>
          </p:cNvSpPr>
          <p:nvPr>
            <p:ph type="ftr" sz="quarter" idx="11"/>
          </p:nvPr>
        </p:nvSpPr>
        <p:spPr/>
        <p:txBody>
          <a:bodyPr/>
          <a:lstStyle/>
          <a:p>
            <a:r>
              <a:rPr lang="en-US" noProof="0" dirty="0"/>
              <a:t>Faculty of Science and Engineering</a:t>
            </a:r>
          </a:p>
          <a:p>
            <a:endParaRPr lang="en-US" noProof="0" dirty="0"/>
          </a:p>
        </p:txBody>
      </p:sp>
      <p:sp>
        <p:nvSpPr>
          <p:cNvPr id="5" name="Slide Number Placeholder 4">
            <a:extLst>
              <a:ext uri="{FF2B5EF4-FFF2-40B4-BE49-F238E27FC236}">
                <a16:creationId xmlns:a16="http://schemas.microsoft.com/office/drawing/2014/main" id="{0C2C04D0-805B-0613-2C78-FC4DE412C984}"/>
              </a:ext>
            </a:extLst>
          </p:cNvPr>
          <p:cNvSpPr>
            <a:spLocks noGrp="1"/>
          </p:cNvSpPr>
          <p:nvPr>
            <p:ph type="sldNum" sz="quarter" idx="12"/>
          </p:nvPr>
        </p:nvSpPr>
        <p:spPr/>
        <p:txBody>
          <a:bodyPr/>
          <a:lstStyle/>
          <a:p>
            <a:fld id="{09B7AD4A-C94A-7B42-9E17-606C7F366C4B}" type="slidenum">
              <a:rPr lang="en-US" noProof="0" smtClean="0"/>
              <a:t>21</a:t>
            </a:fld>
            <a:endParaRPr lang="en-US" noProof="0" dirty="0"/>
          </a:p>
        </p:txBody>
      </p:sp>
      <p:pic>
        <p:nvPicPr>
          <p:cNvPr id="8" name="Picture 7">
            <a:extLst>
              <a:ext uri="{FF2B5EF4-FFF2-40B4-BE49-F238E27FC236}">
                <a16:creationId xmlns:a16="http://schemas.microsoft.com/office/drawing/2014/main" id="{1FCD9D75-120E-FE3F-86F7-70D5B074C3FE}"/>
              </a:ext>
            </a:extLst>
          </p:cNvPr>
          <p:cNvPicPr>
            <a:picLocks noChangeAspect="1"/>
          </p:cNvPicPr>
          <p:nvPr/>
        </p:nvPicPr>
        <p:blipFill>
          <a:blip r:embed="rId3"/>
          <a:stretch>
            <a:fillRect/>
          </a:stretch>
        </p:blipFill>
        <p:spPr>
          <a:xfrm>
            <a:off x="917916" y="1749341"/>
            <a:ext cx="7308167" cy="2852810"/>
          </a:xfrm>
          <a:prstGeom prst="rect">
            <a:avLst/>
          </a:prstGeom>
        </p:spPr>
      </p:pic>
    </p:spTree>
    <p:extLst>
      <p:ext uri="{BB962C8B-B14F-4D97-AF65-F5344CB8AC3E}">
        <p14:creationId xmlns:p14="http://schemas.microsoft.com/office/powerpoint/2010/main" val="988537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7A533-E9D1-4D9F-ABBE-CC01D5B4A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E091C-4C39-714A-78D6-BA8EDEE3D2C8}"/>
              </a:ext>
            </a:extLst>
          </p:cNvPr>
          <p:cNvSpPr>
            <a:spLocks noGrp="1"/>
          </p:cNvSpPr>
          <p:nvPr>
            <p:ph type="title"/>
          </p:nvPr>
        </p:nvSpPr>
        <p:spPr/>
        <p:txBody>
          <a:bodyPr/>
          <a:lstStyle/>
          <a:p>
            <a:r>
              <a:rPr lang="en-US" dirty="0"/>
              <a:t>Combined Experiments</a:t>
            </a:r>
            <a:endParaRPr lang="nl-NL" dirty="0"/>
          </a:p>
        </p:txBody>
      </p:sp>
      <p:sp>
        <p:nvSpPr>
          <p:cNvPr id="4" name="Footer Placeholder 3">
            <a:extLst>
              <a:ext uri="{FF2B5EF4-FFF2-40B4-BE49-F238E27FC236}">
                <a16:creationId xmlns:a16="http://schemas.microsoft.com/office/drawing/2014/main" id="{398ABA92-B602-F084-D572-E721177465B1}"/>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4C5F5A00-0873-6316-5278-DB3ABB049D7B}"/>
              </a:ext>
            </a:extLst>
          </p:cNvPr>
          <p:cNvSpPr>
            <a:spLocks noGrp="1"/>
          </p:cNvSpPr>
          <p:nvPr>
            <p:ph type="sldNum" sz="quarter" idx="12"/>
          </p:nvPr>
        </p:nvSpPr>
        <p:spPr/>
        <p:txBody>
          <a:bodyPr/>
          <a:lstStyle/>
          <a:p>
            <a:fld id="{09B7AD4A-C94A-7B42-9E17-606C7F366C4B}" type="slidenum">
              <a:rPr lang="nl-NL" smtClean="0"/>
              <a:t>22</a:t>
            </a:fld>
            <a:endParaRPr lang="nl-NL"/>
          </a:p>
        </p:txBody>
      </p:sp>
      <p:pic>
        <p:nvPicPr>
          <p:cNvPr id="3" name="Picture 2">
            <a:extLst>
              <a:ext uri="{FF2B5EF4-FFF2-40B4-BE49-F238E27FC236}">
                <a16:creationId xmlns:a16="http://schemas.microsoft.com/office/drawing/2014/main" id="{B753F8C0-9A03-D5EC-7065-97F09150C2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8600" y="1122493"/>
            <a:ext cx="8326800" cy="3371338"/>
          </a:xfrm>
          <a:prstGeom prst="rect">
            <a:avLst/>
          </a:prstGeom>
        </p:spPr>
      </p:pic>
      <p:sp>
        <p:nvSpPr>
          <p:cNvPr id="9" name="TextBox 7">
            <a:extLst>
              <a:ext uri="{FF2B5EF4-FFF2-40B4-BE49-F238E27FC236}">
                <a16:creationId xmlns:a16="http://schemas.microsoft.com/office/drawing/2014/main" id="{773386CB-F945-BF1C-E712-BBD833981424}"/>
              </a:ext>
            </a:extLst>
          </p:cNvPr>
          <p:cNvSpPr txBox="1"/>
          <p:nvPr/>
        </p:nvSpPr>
        <p:spPr>
          <a:xfrm>
            <a:off x="3024250" y="4493589"/>
            <a:ext cx="2497992" cy="369332"/>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(1000 games, combined)</a:t>
            </a:r>
          </a:p>
        </p:txBody>
      </p:sp>
    </p:spTree>
    <p:extLst>
      <p:ext uri="{BB962C8B-B14F-4D97-AF65-F5344CB8AC3E}">
        <p14:creationId xmlns:p14="http://schemas.microsoft.com/office/powerpoint/2010/main" val="2024963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945B3-6C5B-ACFD-DB15-028AFF82C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30EAB-6017-41CC-8D3C-B3882D5182F5}"/>
              </a:ext>
            </a:extLst>
          </p:cNvPr>
          <p:cNvSpPr>
            <a:spLocks noGrp="1"/>
          </p:cNvSpPr>
          <p:nvPr>
            <p:ph type="title"/>
          </p:nvPr>
        </p:nvSpPr>
        <p:spPr/>
        <p:txBody>
          <a:bodyPr/>
          <a:lstStyle/>
          <a:p>
            <a:r>
              <a:rPr lang="en-US" dirty="0"/>
              <a:t>Cross-Eval Experiments</a:t>
            </a:r>
            <a:endParaRPr lang="nl-NL" dirty="0"/>
          </a:p>
        </p:txBody>
      </p:sp>
      <p:sp>
        <p:nvSpPr>
          <p:cNvPr id="4" name="Footer Placeholder 3">
            <a:extLst>
              <a:ext uri="{FF2B5EF4-FFF2-40B4-BE49-F238E27FC236}">
                <a16:creationId xmlns:a16="http://schemas.microsoft.com/office/drawing/2014/main" id="{76B5AA23-265F-D7F1-5F59-0DCE73F09691}"/>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E2B4E5B8-0AD3-E22B-C498-9764FC7C87BB}"/>
              </a:ext>
            </a:extLst>
          </p:cNvPr>
          <p:cNvSpPr>
            <a:spLocks noGrp="1"/>
          </p:cNvSpPr>
          <p:nvPr>
            <p:ph type="sldNum" sz="quarter" idx="12"/>
          </p:nvPr>
        </p:nvSpPr>
        <p:spPr/>
        <p:txBody>
          <a:bodyPr/>
          <a:lstStyle/>
          <a:p>
            <a:fld id="{09B7AD4A-C94A-7B42-9E17-606C7F366C4B}" type="slidenum">
              <a:rPr lang="nl-NL" smtClean="0"/>
              <a:t>23</a:t>
            </a:fld>
            <a:endParaRPr lang="nl-NL"/>
          </a:p>
        </p:txBody>
      </p:sp>
      <p:pic>
        <p:nvPicPr>
          <p:cNvPr id="7" name="Picture 6">
            <a:extLst>
              <a:ext uri="{FF2B5EF4-FFF2-40B4-BE49-F238E27FC236}">
                <a16:creationId xmlns:a16="http://schemas.microsoft.com/office/drawing/2014/main" id="{4192DD26-7EF5-912F-BDCD-583F09117DF8}"/>
              </a:ext>
            </a:extLst>
          </p:cNvPr>
          <p:cNvPicPr>
            <a:picLocks noChangeAspect="1"/>
          </p:cNvPicPr>
          <p:nvPr/>
        </p:nvPicPr>
        <p:blipFill>
          <a:blip r:embed="rId2"/>
          <a:stretch>
            <a:fillRect/>
          </a:stretch>
        </p:blipFill>
        <p:spPr>
          <a:xfrm>
            <a:off x="358726" y="1174559"/>
            <a:ext cx="8426548" cy="3087947"/>
          </a:xfrm>
          <a:prstGeom prst="rect">
            <a:avLst/>
          </a:prstGeom>
        </p:spPr>
      </p:pic>
      <p:sp>
        <p:nvSpPr>
          <p:cNvPr id="10" name="TextBox 7">
            <a:extLst>
              <a:ext uri="{FF2B5EF4-FFF2-40B4-BE49-F238E27FC236}">
                <a16:creationId xmlns:a16="http://schemas.microsoft.com/office/drawing/2014/main" id="{D2492D96-CD37-CAE1-7DE3-1BDA41C367EE}"/>
              </a:ext>
            </a:extLst>
          </p:cNvPr>
          <p:cNvSpPr txBox="1"/>
          <p:nvPr/>
        </p:nvSpPr>
        <p:spPr>
          <a:xfrm>
            <a:off x="2591022" y="4463473"/>
            <a:ext cx="3364447" cy="369332"/>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(1000 games, in-distribution data)</a:t>
            </a:r>
          </a:p>
        </p:txBody>
      </p:sp>
    </p:spTree>
    <p:extLst>
      <p:ext uri="{BB962C8B-B14F-4D97-AF65-F5344CB8AC3E}">
        <p14:creationId xmlns:p14="http://schemas.microsoft.com/office/powerpoint/2010/main" val="1309303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09E70-DAE6-7A4E-6341-F7CE33610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5423B-02EA-F0B3-F4FE-21CD017E1FDA}"/>
              </a:ext>
            </a:extLst>
          </p:cNvPr>
          <p:cNvSpPr>
            <a:spLocks noGrp="1"/>
          </p:cNvSpPr>
          <p:nvPr>
            <p:ph type="title"/>
          </p:nvPr>
        </p:nvSpPr>
        <p:spPr/>
        <p:txBody>
          <a:bodyPr/>
          <a:lstStyle/>
          <a:p>
            <a:r>
              <a:rPr lang="en-US" dirty="0"/>
              <a:t>Cross-Eval Experiments</a:t>
            </a:r>
            <a:endParaRPr lang="nl-NL" dirty="0"/>
          </a:p>
        </p:txBody>
      </p:sp>
      <p:sp>
        <p:nvSpPr>
          <p:cNvPr id="4" name="Footer Placeholder 3">
            <a:extLst>
              <a:ext uri="{FF2B5EF4-FFF2-40B4-BE49-F238E27FC236}">
                <a16:creationId xmlns:a16="http://schemas.microsoft.com/office/drawing/2014/main" id="{8CEA8DF7-78F2-0061-139F-AF1CC07F49AD}"/>
              </a:ext>
            </a:extLst>
          </p:cNvPr>
          <p:cNvSpPr>
            <a:spLocks noGrp="1"/>
          </p:cNvSpPr>
          <p:nvPr>
            <p:ph type="ftr" sz="quarter" idx="11"/>
          </p:nvPr>
        </p:nvSpPr>
        <p:spPr/>
        <p:txBody>
          <a:bodyPr/>
          <a:lstStyle/>
          <a:p>
            <a:r>
              <a:rPr lang="nl-NL"/>
              <a:t>Faculty of Science and Engineering</a:t>
            </a:r>
          </a:p>
          <a:p>
            <a:endParaRPr lang="nl-NL" dirty="0"/>
          </a:p>
        </p:txBody>
      </p:sp>
      <p:sp>
        <p:nvSpPr>
          <p:cNvPr id="5" name="Slide Number Placeholder 4">
            <a:extLst>
              <a:ext uri="{FF2B5EF4-FFF2-40B4-BE49-F238E27FC236}">
                <a16:creationId xmlns:a16="http://schemas.microsoft.com/office/drawing/2014/main" id="{7EA21648-A6DC-6821-F894-7F9BDDBA0A44}"/>
              </a:ext>
            </a:extLst>
          </p:cNvPr>
          <p:cNvSpPr>
            <a:spLocks noGrp="1"/>
          </p:cNvSpPr>
          <p:nvPr>
            <p:ph type="sldNum" sz="quarter" idx="12"/>
          </p:nvPr>
        </p:nvSpPr>
        <p:spPr/>
        <p:txBody>
          <a:bodyPr/>
          <a:lstStyle/>
          <a:p>
            <a:fld id="{09B7AD4A-C94A-7B42-9E17-606C7F366C4B}" type="slidenum">
              <a:rPr lang="nl-NL" smtClean="0"/>
              <a:t>24</a:t>
            </a:fld>
            <a:endParaRPr lang="nl-NL"/>
          </a:p>
        </p:txBody>
      </p:sp>
      <p:pic>
        <p:nvPicPr>
          <p:cNvPr id="7" name="Picture 6">
            <a:extLst>
              <a:ext uri="{FF2B5EF4-FFF2-40B4-BE49-F238E27FC236}">
                <a16:creationId xmlns:a16="http://schemas.microsoft.com/office/drawing/2014/main" id="{026F2EDD-2A51-E1FD-2F19-84C438788C78}"/>
              </a:ext>
            </a:extLst>
          </p:cNvPr>
          <p:cNvPicPr>
            <a:picLocks noChangeAspect="1"/>
          </p:cNvPicPr>
          <p:nvPr/>
        </p:nvPicPr>
        <p:blipFill>
          <a:blip r:embed="rId2"/>
          <a:srcRect/>
          <a:stretch/>
        </p:blipFill>
        <p:spPr>
          <a:xfrm>
            <a:off x="1909399" y="1174559"/>
            <a:ext cx="5325201" cy="3087947"/>
          </a:xfrm>
          <a:prstGeom prst="rect">
            <a:avLst/>
          </a:prstGeom>
        </p:spPr>
      </p:pic>
      <p:sp>
        <p:nvSpPr>
          <p:cNvPr id="10" name="TextBox 7">
            <a:extLst>
              <a:ext uri="{FF2B5EF4-FFF2-40B4-BE49-F238E27FC236}">
                <a16:creationId xmlns:a16="http://schemas.microsoft.com/office/drawing/2014/main" id="{7CED99E2-6762-90F1-A10F-74D9A91A4403}"/>
              </a:ext>
            </a:extLst>
          </p:cNvPr>
          <p:cNvSpPr txBox="1"/>
          <p:nvPr/>
        </p:nvSpPr>
        <p:spPr>
          <a:xfrm>
            <a:off x="2386640" y="4463473"/>
            <a:ext cx="3773212" cy="369332"/>
          </a:xfrm>
          <a:prstGeom prst="rect">
            <a:avLst/>
          </a:prstGeom>
          <a:noFill/>
        </p:spPr>
        <p:txBody>
          <a:bodyPr wrap="none" rtlCol="0">
            <a:spAutoFit/>
          </a:bodyPr>
          <a:ls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(1000 games, out-of-distribution data)</a:t>
            </a:r>
          </a:p>
        </p:txBody>
      </p:sp>
    </p:spTree>
    <p:extLst>
      <p:ext uri="{BB962C8B-B14F-4D97-AF65-F5344CB8AC3E}">
        <p14:creationId xmlns:p14="http://schemas.microsoft.com/office/powerpoint/2010/main" val="3565653945"/>
      </p:ext>
    </p:extLst>
  </p:cSld>
  <p:clrMapOvr>
    <a:masterClrMapping/>
  </p:clrMapOvr>
</p:sld>
</file>

<file path=ppt/theme/theme1.xml><?xml version="1.0" encoding="utf-8"?>
<a:theme xmlns:a="http://schemas.openxmlformats.org/drawingml/2006/main" name="Maastricht University">
  <a:themeElements>
    <a:clrScheme name="UM">
      <a:dk1>
        <a:srgbClr val="001C3D"/>
      </a:dk1>
      <a:lt1>
        <a:srgbClr val="FFFFFF"/>
      </a:lt1>
      <a:dk2>
        <a:srgbClr val="00A2DB"/>
      </a:dk2>
      <a:lt2>
        <a:srgbClr val="FFFFFF"/>
      </a:lt2>
      <a:accent1>
        <a:srgbClr val="E84E10"/>
      </a:accent1>
      <a:accent2>
        <a:srgbClr val="00A2DB"/>
      </a:accent2>
      <a:accent3>
        <a:srgbClr val="001C3D"/>
      </a:accent3>
      <a:accent4>
        <a:srgbClr val="F3A687"/>
      </a:accent4>
      <a:accent5>
        <a:srgbClr val="7FD0ED"/>
      </a:accent5>
      <a:accent6>
        <a:srgbClr val="7F8D9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1706</TotalTime>
  <Words>1329</Words>
  <Application>Microsoft Office PowerPoint</Application>
  <PresentationFormat>On-screen Show (16:9)</PresentationFormat>
  <Paragraphs>166</Paragraphs>
  <Slides>24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 Math</vt:lpstr>
      <vt:lpstr>Lucida Grande</vt:lpstr>
      <vt:lpstr>Maastricht University</vt:lpstr>
      <vt:lpstr>Continual Reinforcement Learning for Evolving Games: Learning Across Game Updates in Competitive Pokémon</vt:lpstr>
      <vt:lpstr>Introduction</vt:lpstr>
      <vt:lpstr>Introduction</vt:lpstr>
      <vt:lpstr>Preliminary</vt:lpstr>
      <vt:lpstr>Preliminary</vt:lpstr>
      <vt:lpstr>Methods</vt:lpstr>
      <vt:lpstr>Methods</vt:lpstr>
      <vt:lpstr>Methods</vt:lpstr>
      <vt:lpstr>Methods</vt:lpstr>
      <vt:lpstr>Methods – Progressive Architecture</vt:lpstr>
      <vt:lpstr>Methods – Progressive Architecture</vt:lpstr>
      <vt:lpstr>Methods – Tuned PPO</vt:lpstr>
      <vt:lpstr>Experiments – Stationary</vt:lpstr>
      <vt:lpstr>Experiments – Non-Stationary</vt:lpstr>
      <vt:lpstr>Experiments – Non-Stationary</vt:lpstr>
      <vt:lpstr>Conclusion</vt:lpstr>
      <vt:lpstr>Future Work</vt:lpstr>
      <vt:lpstr>Continual Reinforcement Learning for Evolving Games: Learning Across Game Updates in Competitive Pokémon</vt:lpstr>
      <vt:lpstr>Appendix</vt:lpstr>
      <vt:lpstr>VGC-Bench Hyperparameters</vt:lpstr>
      <vt:lpstr>Preliminary</vt:lpstr>
      <vt:lpstr>Combined Experiments</vt:lpstr>
      <vt:lpstr>Cross-Eval Experiments</vt:lpstr>
      <vt:lpstr>Cross-Eval Experiments</vt:lpstr>
    </vt:vector>
  </TitlesOfParts>
  <Company>Zuiderlicht 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Jochen Lennertz;thomas.vroom@maastrichtuniversity.nl</dc:creator>
  <cp:lastModifiedBy>Vroom, Thomas (DACS)</cp:lastModifiedBy>
  <cp:revision>121</cp:revision>
  <cp:lastPrinted>2016-01-22T13:02:05Z</cp:lastPrinted>
  <dcterms:created xsi:type="dcterms:W3CDTF">2016-01-20T13:07:02Z</dcterms:created>
  <dcterms:modified xsi:type="dcterms:W3CDTF">2026-10-23T15:26:06Z</dcterms:modified>
</cp:coreProperties>
</file>